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190" autoAdjust="0"/>
  </p:normalViewPr>
  <p:slideViewPr>
    <p:cSldViewPr snapToGrid="0" snapToObjects="1">
      <p:cViewPr varScale="1">
        <p:scale>
          <a:sx n="72" d="100"/>
          <a:sy n="72" d="100"/>
        </p:scale>
        <p:origin x="107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wtham Senthilkumar" userId="dddfd077e32bfe37" providerId="LiveId" clId="{136CC18D-9964-4A3F-A99C-D1FF4DB74254}"/>
    <pc:docChg chg="custSel modSld">
      <pc:chgData name="Gowtham Senthilkumar" userId="dddfd077e32bfe37" providerId="LiveId" clId="{136CC18D-9964-4A3F-A99C-D1FF4DB74254}" dt="2026-07-31T04:25:14.400" v="203" actId="20577"/>
      <pc:docMkLst>
        <pc:docMk/>
      </pc:docMkLst>
      <pc:sldChg chg="delSp modSp mod">
        <pc:chgData name="Gowtham Senthilkumar" userId="dddfd077e32bfe37" providerId="LiveId" clId="{136CC18D-9964-4A3F-A99C-D1FF4DB74254}" dt="2026-07-31T04:10:05.857" v="117" actId="20577"/>
        <pc:sldMkLst>
          <pc:docMk/>
          <pc:sldMk cId="0" sldId="256"/>
        </pc:sldMkLst>
        <pc:spChg chg="mod">
          <ac:chgData name="Gowtham Senthilkumar" userId="dddfd077e32bfe37" providerId="LiveId" clId="{136CC18D-9964-4A3F-A99C-D1FF4DB74254}" dt="2026-07-31T04:10:05.857" v="117" actId="20577"/>
          <ac:spMkLst>
            <pc:docMk/>
            <pc:sldMk cId="0" sldId="256"/>
            <ac:spMk id="8" creationId="{00000000-0000-0000-0000-000000000000}"/>
          </ac:spMkLst>
        </pc:spChg>
        <pc:spChg chg="mod">
          <ac:chgData name="Gowtham Senthilkumar" userId="dddfd077e32bfe37" providerId="LiveId" clId="{136CC18D-9964-4A3F-A99C-D1FF4DB74254}" dt="2026-07-31T04:09:59.820" v="115" actId="20577"/>
          <ac:spMkLst>
            <pc:docMk/>
            <pc:sldMk cId="0" sldId="256"/>
            <ac:spMk id="9" creationId="{00000000-0000-0000-0000-000000000000}"/>
          </ac:spMkLst>
        </pc:spChg>
        <pc:spChg chg="del mod">
          <ac:chgData name="Gowtham Senthilkumar" userId="dddfd077e32bfe37" providerId="LiveId" clId="{136CC18D-9964-4A3F-A99C-D1FF4DB74254}" dt="2026-07-31T04:09:50.323" v="95" actId="478"/>
          <ac:spMkLst>
            <pc:docMk/>
            <pc:sldMk cId="0" sldId="256"/>
            <ac:spMk id="10" creationId="{00000000-0000-0000-0000-000000000000}"/>
          </ac:spMkLst>
        </pc:spChg>
        <pc:spChg chg="mod">
          <ac:chgData name="Gowtham Senthilkumar" userId="dddfd077e32bfe37" providerId="LiveId" clId="{136CC18D-9964-4A3F-A99C-D1FF4DB74254}" dt="2026-07-31T04:09:41.004" v="74" actId="20577"/>
          <ac:spMkLst>
            <pc:docMk/>
            <pc:sldMk cId="0" sldId="256"/>
            <ac:spMk id="11" creationId="{00000000-0000-0000-0000-000000000000}"/>
          </ac:spMkLst>
        </pc:spChg>
        <pc:spChg chg="del">
          <ac:chgData name="Gowtham Senthilkumar" userId="dddfd077e32bfe37" providerId="LiveId" clId="{136CC18D-9964-4A3F-A99C-D1FF4DB74254}" dt="2026-07-31T04:09:28.807" v="56" actId="478"/>
          <ac:spMkLst>
            <pc:docMk/>
            <pc:sldMk cId="0" sldId="256"/>
            <ac:spMk id="12" creationId="{00000000-0000-0000-0000-000000000000}"/>
          </ac:spMkLst>
        </pc:spChg>
      </pc:sldChg>
      <pc:sldChg chg="delSp modSp mod">
        <pc:chgData name="Gowtham Senthilkumar" userId="dddfd077e32bfe37" providerId="LiveId" clId="{136CC18D-9964-4A3F-A99C-D1FF4DB74254}" dt="2026-07-31T04:10:46.959" v="129" actId="20577"/>
        <pc:sldMkLst>
          <pc:docMk/>
          <pc:sldMk cId="0" sldId="257"/>
        </pc:sldMkLst>
        <pc:spChg chg="del">
          <ac:chgData name="Gowtham Senthilkumar" userId="dddfd077e32bfe37" providerId="LiveId" clId="{136CC18D-9964-4A3F-A99C-D1FF4DB74254}" dt="2026-07-31T04:10:18.660" v="119" actId="478"/>
          <ac:spMkLst>
            <pc:docMk/>
            <pc:sldMk cId="0" sldId="257"/>
            <ac:spMk id="5" creationId="{00000000-0000-0000-0000-000000000000}"/>
          </ac:spMkLst>
        </pc:spChg>
        <pc:spChg chg="del">
          <ac:chgData name="Gowtham Senthilkumar" userId="dddfd077e32bfe37" providerId="LiveId" clId="{136CC18D-9964-4A3F-A99C-D1FF4DB74254}" dt="2026-07-31T04:10:16.755" v="118" actId="478"/>
          <ac:spMkLst>
            <pc:docMk/>
            <pc:sldMk cId="0" sldId="257"/>
            <ac:spMk id="6" creationId="{00000000-0000-0000-0000-000000000000}"/>
          </ac:spMkLst>
        </pc:spChg>
        <pc:spChg chg="del">
          <ac:chgData name="Gowtham Senthilkumar" userId="dddfd077e32bfe37" providerId="LiveId" clId="{136CC18D-9964-4A3F-A99C-D1FF4DB74254}" dt="2026-07-31T04:10:21.968" v="121" actId="478"/>
          <ac:spMkLst>
            <pc:docMk/>
            <pc:sldMk cId="0" sldId="257"/>
            <ac:spMk id="9" creationId="{00000000-0000-0000-0000-000000000000}"/>
          </ac:spMkLst>
        </pc:spChg>
        <pc:spChg chg="del">
          <ac:chgData name="Gowtham Senthilkumar" userId="dddfd077e32bfe37" providerId="LiveId" clId="{136CC18D-9964-4A3F-A99C-D1FF4DB74254}" dt="2026-07-31T04:10:20.713" v="120" actId="478"/>
          <ac:spMkLst>
            <pc:docMk/>
            <pc:sldMk cId="0" sldId="257"/>
            <ac:spMk id="10" creationId="{00000000-0000-0000-0000-000000000000}"/>
          </ac:spMkLst>
        </pc:spChg>
        <pc:spChg chg="mod">
          <ac:chgData name="Gowtham Senthilkumar" userId="dddfd077e32bfe37" providerId="LiveId" clId="{136CC18D-9964-4A3F-A99C-D1FF4DB74254}" dt="2026-07-31T04:10:36.556" v="125" actId="20577"/>
          <ac:spMkLst>
            <pc:docMk/>
            <pc:sldMk cId="0" sldId="257"/>
            <ac:spMk id="17" creationId="{00000000-0000-0000-0000-000000000000}"/>
          </ac:spMkLst>
        </pc:spChg>
        <pc:spChg chg="del">
          <ac:chgData name="Gowtham Senthilkumar" userId="dddfd077e32bfe37" providerId="LiveId" clId="{136CC18D-9964-4A3F-A99C-D1FF4DB74254}" dt="2026-07-31T04:10:28.360" v="123" actId="478"/>
          <ac:spMkLst>
            <pc:docMk/>
            <pc:sldMk cId="0" sldId="257"/>
            <ac:spMk id="23" creationId="{00000000-0000-0000-0000-000000000000}"/>
          </ac:spMkLst>
        </pc:spChg>
        <pc:spChg chg="del">
          <ac:chgData name="Gowtham Senthilkumar" userId="dddfd077e32bfe37" providerId="LiveId" clId="{136CC18D-9964-4A3F-A99C-D1FF4DB74254}" dt="2026-07-31T04:10:26.241" v="122" actId="478"/>
          <ac:spMkLst>
            <pc:docMk/>
            <pc:sldMk cId="0" sldId="257"/>
            <ac:spMk id="24" creationId="{00000000-0000-0000-0000-000000000000}"/>
          </ac:spMkLst>
        </pc:spChg>
        <pc:spChg chg="mod">
          <ac:chgData name="Gowtham Senthilkumar" userId="dddfd077e32bfe37" providerId="LiveId" clId="{136CC18D-9964-4A3F-A99C-D1FF4DB74254}" dt="2026-07-31T04:10:42.017" v="127" actId="20577"/>
          <ac:spMkLst>
            <pc:docMk/>
            <pc:sldMk cId="0" sldId="257"/>
            <ac:spMk id="27" creationId="{00000000-0000-0000-0000-000000000000}"/>
          </ac:spMkLst>
        </pc:spChg>
        <pc:spChg chg="mod">
          <ac:chgData name="Gowtham Senthilkumar" userId="dddfd077e32bfe37" providerId="LiveId" clId="{136CC18D-9964-4A3F-A99C-D1FF4DB74254}" dt="2026-07-31T04:10:46.959" v="129" actId="20577"/>
          <ac:spMkLst>
            <pc:docMk/>
            <pc:sldMk cId="0" sldId="257"/>
            <ac:spMk id="29" creationId="{00000000-0000-0000-0000-000000000000}"/>
          </ac:spMkLst>
        </pc:spChg>
      </pc:sldChg>
      <pc:sldChg chg="delSp mod">
        <pc:chgData name="Gowtham Senthilkumar" userId="dddfd077e32bfe37" providerId="LiveId" clId="{136CC18D-9964-4A3F-A99C-D1FF4DB74254}" dt="2026-07-31T04:11:03.102" v="131" actId="478"/>
        <pc:sldMkLst>
          <pc:docMk/>
          <pc:sldMk cId="0" sldId="258"/>
        </pc:sldMkLst>
        <pc:spChg chg="del">
          <ac:chgData name="Gowtham Senthilkumar" userId="dddfd077e32bfe37" providerId="LiveId" clId="{136CC18D-9964-4A3F-A99C-D1FF4DB74254}" dt="2026-07-31T04:11:03.102" v="131" actId="478"/>
          <ac:spMkLst>
            <pc:docMk/>
            <pc:sldMk cId="0" sldId="258"/>
            <ac:spMk id="5" creationId="{00000000-0000-0000-0000-000000000000}"/>
          </ac:spMkLst>
        </pc:spChg>
        <pc:spChg chg="del">
          <ac:chgData name="Gowtham Senthilkumar" userId="dddfd077e32bfe37" providerId="LiveId" clId="{136CC18D-9964-4A3F-A99C-D1FF4DB74254}" dt="2026-07-31T04:11:00.522" v="130" actId="478"/>
          <ac:spMkLst>
            <pc:docMk/>
            <pc:sldMk cId="0" sldId="258"/>
            <ac:spMk id="6" creationId="{00000000-0000-0000-0000-000000000000}"/>
          </ac:spMkLst>
        </pc:spChg>
      </pc:sldChg>
      <pc:sldChg chg="delSp modSp mod">
        <pc:chgData name="Gowtham Senthilkumar" userId="dddfd077e32bfe37" providerId="LiveId" clId="{136CC18D-9964-4A3F-A99C-D1FF4DB74254}" dt="2026-07-31T04:12:59.467" v="163" actId="20577"/>
        <pc:sldMkLst>
          <pc:docMk/>
          <pc:sldMk cId="0" sldId="259"/>
        </pc:sldMkLst>
        <pc:spChg chg="del">
          <ac:chgData name="Gowtham Senthilkumar" userId="dddfd077e32bfe37" providerId="LiveId" clId="{136CC18D-9964-4A3F-A99C-D1FF4DB74254}" dt="2026-07-31T04:11:40.612" v="133" actId="478"/>
          <ac:spMkLst>
            <pc:docMk/>
            <pc:sldMk cId="0" sldId="259"/>
            <ac:spMk id="5" creationId="{00000000-0000-0000-0000-000000000000}"/>
          </ac:spMkLst>
        </pc:spChg>
        <pc:spChg chg="del">
          <ac:chgData name="Gowtham Senthilkumar" userId="dddfd077e32bfe37" providerId="LiveId" clId="{136CC18D-9964-4A3F-A99C-D1FF4DB74254}" dt="2026-07-31T04:11:39.143" v="132" actId="478"/>
          <ac:spMkLst>
            <pc:docMk/>
            <pc:sldMk cId="0" sldId="259"/>
            <ac:spMk id="6" creationId="{00000000-0000-0000-0000-000000000000}"/>
          </ac:spMkLst>
        </pc:spChg>
        <pc:spChg chg="mod">
          <ac:chgData name="Gowtham Senthilkumar" userId="dddfd077e32bfe37" providerId="LiveId" clId="{136CC18D-9964-4A3F-A99C-D1FF4DB74254}" dt="2026-07-31T04:11:47.647" v="134" actId="20577"/>
          <ac:spMkLst>
            <pc:docMk/>
            <pc:sldMk cId="0" sldId="259"/>
            <ac:spMk id="32" creationId="{00000000-0000-0000-0000-000000000000}"/>
          </ac:spMkLst>
        </pc:spChg>
        <pc:spChg chg="mod">
          <ac:chgData name="Gowtham Senthilkumar" userId="dddfd077e32bfe37" providerId="LiveId" clId="{136CC18D-9964-4A3F-A99C-D1FF4DB74254}" dt="2026-07-31T04:12:52.083" v="161" actId="20577"/>
          <ac:spMkLst>
            <pc:docMk/>
            <pc:sldMk cId="0" sldId="259"/>
            <ac:spMk id="46" creationId="{00000000-0000-0000-0000-000000000000}"/>
          </ac:spMkLst>
        </pc:spChg>
        <pc:spChg chg="mod">
          <ac:chgData name="Gowtham Senthilkumar" userId="dddfd077e32bfe37" providerId="LiveId" clId="{136CC18D-9964-4A3F-A99C-D1FF4DB74254}" dt="2026-07-31T04:12:59.467" v="163" actId="20577"/>
          <ac:spMkLst>
            <pc:docMk/>
            <pc:sldMk cId="0" sldId="259"/>
            <ac:spMk id="47" creationId="{00000000-0000-0000-0000-000000000000}"/>
          </ac:spMkLst>
        </pc:spChg>
      </pc:sldChg>
      <pc:sldChg chg="delSp mod">
        <pc:chgData name="Gowtham Senthilkumar" userId="dddfd077e32bfe37" providerId="LiveId" clId="{136CC18D-9964-4A3F-A99C-D1FF4DB74254}" dt="2026-07-31T04:13:16.074" v="165" actId="478"/>
        <pc:sldMkLst>
          <pc:docMk/>
          <pc:sldMk cId="0" sldId="260"/>
        </pc:sldMkLst>
        <pc:spChg chg="del">
          <ac:chgData name="Gowtham Senthilkumar" userId="dddfd077e32bfe37" providerId="LiveId" clId="{136CC18D-9964-4A3F-A99C-D1FF4DB74254}" dt="2026-07-31T04:13:16.074" v="165" actId="478"/>
          <ac:spMkLst>
            <pc:docMk/>
            <pc:sldMk cId="0" sldId="260"/>
            <ac:spMk id="5" creationId="{00000000-0000-0000-0000-000000000000}"/>
          </ac:spMkLst>
        </pc:spChg>
        <pc:spChg chg="del">
          <ac:chgData name="Gowtham Senthilkumar" userId="dddfd077e32bfe37" providerId="LiveId" clId="{136CC18D-9964-4A3F-A99C-D1FF4DB74254}" dt="2026-07-31T04:13:14.539" v="164" actId="478"/>
          <ac:spMkLst>
            <pc:docMk/>
            <pc:sldMk cId="0" sldId="260"/>
            <ac:spMk id="6" creationId="{00000000-0000-0000-0000-000000000000}"/>
          </ac:spMkLst>
        </pc:spChg>
      </pc:sldChg>
      <pc:sldChg chg="delSp mod">
        <pc:chgData name="Gowtham Senthilkumar" userId="dddfd077e32bfe37" providerId="LiveId" clId="{136CC18D-9964-4A3F-A99C-D1FF4DB74254}" dt="2026-07-31T04:13:37.667" v="167" actId="478"/>
        <pc:sldMkLst>
          <pc:docMk/>
          <pc:sldMk cId="0" sldId="261"/>
        </pc:sldMkLst>
        <pc:spChg chg="del">
          <ac:chgData name="Gowtham Senthilkumar" userId="dddfd077e32bfe37" providerId="LiveId" clId="{136CC18D-9964-4A3F-A99C-D1FF4DB74254}" dt="2026-07-31T04:13:37.667" v="167" actId="478"/>
          <ac:spMkLst>
            <pc:docMk/>
            <pc:sldMk cId="0" sldId="261"/>
            <ac:spMk id="5" creationId="{00000000-0000-0000-0000-000000000000}"/>
          </ac:spMkLst>
        </pc:spChg>
        <pc:spChg chg="del">
          <ac:chgData name="Gowtham Senthilkumar" userId="dddfd077e32bfe37" providerId="LiveId" clId="{136CC18D-9964-4A3F-A99C-D1FF4DB74254}" dt="2026-07-31T04:13:36.017" v="166" actId="478"/>
          <ac:spMkLst>
            <pc:docMk/>
            <pc:sldMk cId="0" sldId="261"/>
            <ac:spMk id="6" creationId="{00000000-0000-0000-0000-000000000000}"/>
          </ac:spMkLst>
        </pc:spChg>
      </pc:sldChg>
      <pc:sldChg chg="delSp modSp mod">
        <pc:chgData name="Gowtham Senthilkumar" userId="dddfd077e32bfe37" providerId="LiveId" clId="{136CC18D-9964-4A3F-A99C-D1FF4DB74254}" dt="2026-07-31T04:14:04.661" v="171" actId="478"/>
        <pc:sldMkLst>
          <pc:docMk/>
          <pc:sldMk cId="0" sldId="262"/>
        </pc:sldMkLst>
        <pc:spChg chg="del">
          <ac:chgData name="Gowtham Senthilkumar" userId="dddfd077e32bfe37" providerId="LiveId" clId="{136CC18D-9964-4A3F-A99C-D1FF4DB74254}" dt="2026-07-31T04:14:04.661" v="171" actId="478"/>
          <ac:spMkLst>
            <pc:docMk/>
            <pc:sldMk cId="0" sldId="262"/>
            <ac:spMk id="5" creationId="{00000000-0000-0000-0000-000000000000}"/>
          </ac:spMkLst>
        </pc:spChg>
        <pc:spChg chg="del mod">
          <ac:chgData name="Gowtham Senthilkumar" userId="dddfd077e32bfe37" providerId="LiveId" clId="{136CC18D-9964-4A3F-A99C-D1FF4DB74254}" dt="2026-07-31T04:14:02.878" v="170" actId="478"/>
          <ac:spMkLst>
            <pc:docMk/>
            <pc:sldMk cId="0" sldId="262"/>
            <ac:spMk id="6" creationId="{00000000-0000-0000-0000-000000000000}"/>
          </ac:spMkLst>
        </pc:spChg>
      </pc:sldChg>
      <pc:sldChg chg="delSp mod">
        <pc:chgData name="Gowtham Senthilkumar" userId="dddfd077e32bfe37" providerId="LiveId" clId="{136CC18D-9964-4A3F-A99C-D1FF4DB74254}" dt="2026-07-31T04:14:16.862" v="173" actId="478"/>
        <pc:sldMkLst>
          <pc:docMk/>
          <pc:sldMk cId="0" sldId="263"/>
        </pc:sldMkLst>
        <pc:spChg chg="del">
          <ac:chgData name="Gowtham Senthilkumar" userId="dddfd077e32bfe37" providerId="LiveId" clId="{136CC18D-9964-4A3F-A99C-D1FF4DB74254}" dt="2026-07-31T04:14:16.862" v="173" actId="478"/>
          <ac:spMkLst>
            <pc:docMk/>
            <pc:sldMk cId="0" sldId="263"/>
            <ac:spMk id="5" creationId="{00000000-0000-0000-0000-000000000000}"/>
          </ac:spMkLst>
        </pc:spChg>
        <pc:spChg chg="del">
          <ac:chgData name="Gowtham Senthilkumar" userId="dddfd077e32bfe37" providerId="LiveId" clId="{136CC18D-9964-4A3F-A99C-D1FF4DB74254}" dt="2026-07-31T04:14:15.404" v="172" actId="478"/>
          <ac:spMkLst>
            <pc:docMk/>
            <pc:sldMk cId="0" sldId="263"/>
            <ac:spMk id="6" creationId="{00000000-0000-0000-0000-000000000000}"/>
          </ac:spMkLst>
        </pc:spChg>
      </pc:sldChg>
      <pc:sldChg chg="delSp modSp mod">
        <pc:chgData name="Gowtham Senthilkumar" userId="dddfd077e32bfe37" providerId="LiveId" clId="{136CC18D-9964-4A3F-A99C-D1FF4DB74254}" dt="2026-07-31T04:15:04.626" v="182" actId="478"/>
        <pc:sldMkLst>
          <pc:docMk/>
          <pc:sldMk cId="0" sldId="264"/>
        </pc:sldMkLst>
        <pc:spChg chg="del">
          <ac:chgData name="Gowtham Senthilkumar" userId="dddfd077e32bfe37" providerId="LiveId" clId="{136CC18D-9964-4A3F-A99C-D1FF4DB74254}" dt="2026-07-31T04:14:35.810" v="175" actId="478"/>
          <ac:spMkLst>
            <pc:docMk/>
            <pc:sldMk cId="0" sldId="264"/>
            <ac:spMk id="5" creationId="{00000000-0000-0000-0000-000000000000}"/>
          </ac:spMkLst>
        </pc:spChg>
        <pc:spChg chg="del">
          <ac:chgData name="Gowtham Senthilkumar" userId="dddfd077e32bfe37" providerId="LiveId" clId="{136CC18D-9964-4A3F-A99C-D1FF4DB74254}" dt="2026-07-31T04:14:34.168" v="174" actId="478"/>
          <ac:spMkLst>
            <pc:docMk/>
            <pc:sldMk cId="0" sldId="264"/>
            <ac:spMk id="6" creationId="{00000000-0000-0000-0000-000000000000}"/>
          </ac:spMkLst>
        </pc:spChg>
        <pc:spChg chg="del mod">
          <ac:chgData name="Gowtham Senthilkumar" userId="dddfd077e32bfe37" providerId="LiveId" clId="{136CC18D-9964-4A3F-A99C-D1FF4DB74254}" dt="2026-07-31T04:15:04.626" v="182" actId="478"/>
          <ac:spMkLst>
            <pc:docMk/>
            <pc:sldMk cId="0" sldId="264"/>
            <ac:spMk id="18" creationId="{00000000-0000-0000-0000-000000000000}"/>
          </ac:spMkLst>
        </pc:spChg>
        <pc:spChg chg="del">
          <ac:chgData name="Gowtham Senthilkumar" userId="dddfd077e32bfe37" providerId="LiveId" clId="{136CC18D-9964-4A3F-A99C-D1FF4DB74254}" dt="2026-07-31T04:14:41.713" v="177" actId="478"/>
          <ac:spMkLst>
            <pc:docMk/>
            <pc:sldMk cId="0" sldId="264"/>
            <ac:spMk id="19" creationId="{00000000-0000-0000-0000-000000000000}"/>
          </ac:spMkLst>
        </pc:spChg>
        <pc:spChg chg="del">
          <ac:chgData name="Gowtham Senthilkumar" userId="dddfd077e32bfe37" providerId="LiveId" clId="{136CC18D-9964-4A3F-A99C-D1FF4DB74254}" dt="2026-07-31T04:14:39.559" v="176" actId="478"/>
          <ac:spMkLst>
            <pc:docMk/>
            <pc:sldMk cId="0" sldId="264"/>
            <ac:spMk id="20" creationId="{00000000-0000-0000-0000-000000000000}"/>
          </ac:spMkLst>
        </pc:spChg>
        <pc:spChg chg="del">
          <ac:chgData name="Gowtham Senthilkumar" userId="dddfd077e32bfe37" providerId="LiveId" clId="{136CC18D-9964-4A3F-A99C-D1FF4DB74254}" dt="2026-07-31T04:14:45.776" v="178" actId="478"/>
          <ac:spMkLst>
            <pc:docMk/>
            <pc:sldMk cId="0" sldId="264"/>
            <ac:spMk id="21" creationId="{00000000-0000-0000-0000-000000000000}"/>
          </ac:spMkLst>
        </pc:spChg>
        <pc:spChg chg="del">
          <ac:chgData name="Gowtham Senthilkumar" userId="dddfd077e32bfe37" providerId="LiveId" clId="{136CC18D-9964-4A3F-A99C-D1FF4DB74254}" dt="2026-07-31T04:15:03.095" v="181" actId="478"/>
          <ac:spMkLst>
            <pc:docMk/>
            <pc:sldMk cId="0" sldId="264"/>
            <ac:spMk id="22" creationId="{00000000-0000-0000-0000-000000000000}"/>
          </ac:spMkLst>
        </pc:spChg>
      </pc:sldChg>
      <pc:sldChg chg="delSp mod">
        <pc:chgData name="Gowtham Senthilkumar" userId="dddfd077e32bfe37" providerId="LiveId" clId="{136CC18D-9964-4A3F-A99C-D1FF4DB74254}" dt="2026-07-31T04:15:11.720" v="184" actId="478"/>
        <pc:sldMkLst>
          <pc:docMk/>
          <pc:sldMk cId="0" sldId="265"/>
        </pc:sldMkLst>
        <pc:spChg chg="del">
          <ac:chgData name="Gowtham Senthilkumar" userId="dddfd077e32bfe37" providerId="LiveId" clId="{136CC18D-9964-4A3F-A99C-D1FF4DB74254}" dt="2026-07-31T04:15:11.720" v="184" actId="478"/>
          <ac:spMkLst>
            <pc:docMk/>
            <pc:sldMk cId="0" sldId="265"/>
            <ac:spMk id="5" creationId="{00000000-0000-0000-0000-000000000000}"/>
          </ac:spMkLst>
        </pc:spChg>
        <pc:spChg chg="del">
          <ac:chgData name="Gowtham Senthilkumar" userId="dddfd077e32bfe37" providerId="LiveId" clId="{136CC18D-9964-4A3F-A99C-D1FF4DB74254}" dt="2026-07-31T04:15:10.642" v="183" actId="478"/>
          <ac:spMkLst>
            <pc:docMk/>
            <pc:sldMk cId="0" sldId="265"/>
            <ac:spMk id="6" creationId="{00000000-0000-0000-0000-000000000000}"/>
          </ac:spMkLst>
        </pc:spChg>
      </pc:sldChg>
      <pc:sldChg chg="delSp modSp mod">
        <pc:chgData name="Gowtham Senthilkumar" userId="dddfd077e32bfe37" providerId="LiveId" clId="{136CC18D-9964-4A3F-A99C-D1FF4DB74254}" dt="2026-07-31T04:15:20.144" v="188" actId="478"/>
        <pc:sldMkLst>
          <pc:docMk/>
          <pc:sldMk cId="0" sldId="266"/>
        </pc:sldMkLst>
        <pc:spChg chg="del">
          <ac:chgData name="Gowtham Senthilkumar" userId="dddfd077e32bfe37" providerId="LiveId" clId="{136CC18D-9964-4A3F-A99C-D1FF4DB74254}" dt="2026-07-31T04:15:20.144" v="188" actId="478"/>
          <ac:spMkLst>
            <pc:docMk/>
            <pc:sldMk cId="0" sldId="266"/>
            <ac:spMk id="5" creationId="{00000000-0000-0000-0000-000000000000}"/>
          </ac:spMkLst>
        </pc:spChg>
        <pc:spChg chg="del mod">
          <ac:chgData name="Gowtham Senthilkumar" userId="dddfd077e32bfe37" providerId="LiveId" clId="{136CC18D-9964-4A3F-A99C-D1FF4DB74254}" dt="2026-07-31T04:15:18.848" v="187" actId="478"/>
          <ac:spMkLst>
            <pc:docMk/>
            <pc:sldMk cId="0" sldId="266"/>
            <ac:spMk id="6" creationId="{00000000-0000-0000-0000-000000000000}"/>
          </ac:spMkLst>
        </pc:spChg>
      </pc:sldChg>
      <pc:sldChg chg="delSp mod">
        <pc:chgData name="Gowtham Senthilkumar" userId="dddfd077e32bfe37" providerId="LiveId" clId="{136CC18D-9964-4A3F-A99C-D1FF4DB74254}" dt="2026-07-31T04:15:36.101" v="190" actId="478"/>
        <pc:sldMkLst>
          <pc:docMk/>
          <pc:sldMk cId="0" sldId="267"/>
        </pc:sldMkLst>
        <pc:spChg chg="del">
          <ac:chgData name="Gowtham Senthilkumar" userId="dddfd077e32bfe37" providerId="LiveId" clId="{136CC18D-9964-4A3F-A99C-D1FF4DB74254}" dt="2026-07-31T04:15:36.101" v="190" actId="478"/>
          <ac:spMkLst>
            <pc:docMk/>
            <pc:sldMk cId="0" sldId="267"/>
            <ac:spMk id="5" creationId="{00000000-0000-0000-0000-000000000000}"/>
          </ac:spMkLst>
        </pc:spChg>
        <pc:spChg chg="del">
          <ac:chgData name="Gowtham Senthilkumar" userId="dddfd077e32bfe37" providerId="LiveId" clId="{136CC18D-9964-4A3F-A99C-D1FF4DB74254}" dt="2026-07-31T04:15:34.437" v="189" actId="478"/>
          <ac:spMkLst>
            <pc:docMk/>
            <pc:sldMk cId="0" sldId="267"/>
            <ac:spMk id="6" creationId="{00000000-0000-0000-0000-000000000000}"/>
          </ac:spMkLst>
        </pc:spChg>
      </pc:sldChg>
      <pc:sldChg chg="delSp mod">
        <pc:chgData name="Gowtham Senthilkumar" userId="dddfd077e32bfe37" providerId="LiveId" clId="{136CC18D-9964-4A3F-A99C-D1FF4DB74254}" dt="2026-07-31T04:15:47.562" v="192" actId="478"/>
        <pc:sldMkLst>
          <pc:docMk/>
          <pc:sldMk cId="0" sldId="268"/>
        </pc:sldMkLst>
        <pc:spChg chg="del">
          <ac:chgData name="Gowtham Senthilkumar" userId="dddfd077e32bfe37" providerId="LiveId" clId="{136CC18D-9964-4A3F-A99C-D1FF4DB74254}" dt="2026-07-31T04:15:47.562" v="192" actId="478"/>
          <ac:spMkLst>
            <pc:docMk/>
            <pc:sldMk cId="0" sldId="268"/>
            <ac:spMk id="5" creationId="{00000000-0000-0000-0000-000000000000}"/>
          </ac:spMkLst>
        </pc:spChg>
        <pc:spChg chg="del">
          <ac:chgData name="Gowtham Senthilkumar" userId="dddfd077e32bfe37" providerId="LiveId" clId="{136CC18D-9964-4A3F-A99C-D1FF4DB74254}" dt="2026-07-31T04:15:45.733" v="191" actId="478"/>
          <ac:spMkLst>
            <pc:docMk/>
            <pc:sldMk cId="0" sldId="268"/>
            <ac:spMk id="6" creationId="{00000000-0000-0000-0000-000000000000}"/>
          </ac:spMkLst>
        </pc:spChg>
      </pc:sldChg>
      <pc:sldChg chg="delSp modSp mod">
        <pc:chgData name="Gowtham Senthilkumar" userId="dddfd077e32bfe37" providerId="LiveId" clId="{136CC18D-9964-4A3F-A99C-D1FF4DB74254}" dt="2026-07-31T04:25:14.400" v="203" actId="20577"/>
        <pc:sldMkLst>
          <pc:docMk/>
          <pc:sldMk cId="0" sldId="269"/>
        </pc:sldMkLst>
        <pc:spChg chg="del">
          <ac:chgData name="Gowtham Senthilkumar" userId="dddfd077e32bfe37" providerId="LiveId" clId="{136CC18D-9964-4A3F-A99C-D1FF4DB74254}" dt="2026-07-31T04:15:54.548" v="194" actId="478"/>
          <ac:spMkLst>
            <pc:docMk/>
            <pc:sldMk cId="0" sldId="269"/>
            <ac:spMk id="5" creationId="{00000000-0000-0000-0000-000000000000}"/>
          </ac:spMkLst>
        </pc:spChg>
        <pc:spChg chg="del">
          <ac:chgData name="Gowtham Senthilkumar" userId="dddfd077e32bfe37" providerId="LiveId" clId="{136CC18D-9964-4A3F-A99C-D1FF4DB74254}" dt="2026-07-31T04:15:53.193" v="193" actId="478"/>
          <ac:spMkLst>
            <pc:docMk/>
            <pc:sldMk cId="0" sldId="269"/>
            <ac:spMk id="6" creationId="{00000000-0000-0000-0000-000000000000}"/>
          </ac:spMkLst>
        </pc:spChg>
        <pc:spChg chg="mod">
          <ac:chgData name="Gowtham Senthilkumar" userId="dddfd077e32bfe37" providerId="LiveId" clId="{136CC18D-9964-4A3F-A99C-D1FF4DB74254}" dt="2026-07-31T04:25:14.400" v="203" actId="20577"/>
          <ac:spMkLst>
            <pc:docMk/>
            <pc:sldMk cId="0" sldId="269"/>
            <ac:spMk id="7" creationId="{00000000-0000-0000-0000-000000000000}"/>
          </ac:spMkLst>
        </pc:spChg>
      </pc:sldChg>
      <pc:sldChg chg="delSp modSp mod">
        <pc:chgData name="Gowtham Senthilkumar" userId="dddfd077e32bfe37" providerId="LiveId" clId="{136CC18D-9964-4A3F-A99C-D1FF4DB74254}" dt="2026-07-31T04:16:24.376" v="199" actId="20577"/>
        <pc:sldMkLst>
          <pc:docMk/>
          <pc:sldMk cId="0" sldId="270"/>
        </pc:sldMkLst>
        <pc:spChg chg="del">
          <ac:chgData name="Gowtham Senthilkumar" userId="dddfd077e32bfe37" providerId="LiveId" clId="{136CC18D-9964-4A3F-A99C-D1FF4DB74254}" dt="2026-07-31T04:16:17.027" v="196" actId="478"/>
          <ac:spMkLst>
            <pc:docMk/>
            <pc:sldMk cId="0" sldId="270"/>
            <ac:spMk id="5" creationId="{00000000-0000-0000-0000-000000000000}"/>
          </ac:spMkLst>
        </pc:spChg>
        <pc:spChg chg="del">
          <ac:chgData name="Gowtham Senthilkumar" userId="dddfd077e32bfe37" providerId="LiveId" clId="{136CC18D-9964-4A3F-A99C-D1FF4DB74254}" dt="2026-07-31T04:16:15.040" v="195" actId="478"/>
          <ac:spMkLst>
            <pc:docMk/>
            <pc:sldMk cId="0" sldId="270"/>
            <ac:spMk id="6" creationId="{00000000-0000-0000-0000-000000000000}"/>
          </ac:spMkLst>
        </pc:spChg>
        <pc:spChg chg="mod">
          <ac:chgData name="Gowtham Senthilkumar" userId="dddfd077e32bfe37" providerId="LiveId" clId="{136CC18D-9964-4A3F-A99C-D1FF4DB74254}" dt="2026-07-31T04:16:24.376" v="199" actId="20577"/>
          <ac:spMkLst>
            <pc:docMk/>
            <pc:sldMk cId="0" sldId="270"/>
            <ac:spMk id="11" creationId="{00000000-0000-0000-0000-000000000000}"/>
          </ac:spMkLst>
        </pc:spChg>
      </pc:sldChg>
      <pc:sldChg chg="modSp mod">
        <pc:chgData name="Gowtham Senthilkumar" userId="dddfd077e32bfe37" providerId="LiveId" clId="{136CC18D-9964-4A3F-A99C-D1FF4DB74254}" dt="2026-07-31T04:16:32.947" v="201" actId="20577"/>
        <pc:sldMkLst>
          <pc:docMk/>
          <pc:sldMk cId="0" sldId="271"/>
        </pc:sldMkLst>
        <pc:spChg chg="mod">
          <ac:chgData name="Gowtham Senthilkumar" userId="dddfd077e32bfe37" providerId="LiveId" clId="{136CC18D-9964-4A3F-A99C-D1FF4DB74254}" dt="2026-07-31T04:16:32.947" v="201" actId="20577"/>
          <ac:spMkLst>
            <pc:docMk/>
            <pc:sldMk cId="0" sldId="271"/>
            <ac:spMk id="2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300" b="1">
                <a:solidFill>
                  <a:srgbClr val="23262B"/>
                </a:solidFill>
              </a:rPr>
              <a:t>Weekly working-hours demand</a:t>
            </a:r>
          </a:p>
        </c:rich>
      </c:tx>
      <c:overlay val="0"/>
    </c:title>
    <c:autoTitleDeleted val="0"/>
    <c:plotArea>
      <c:layout/>
      <c:lineChart>
        <c:grouping val="standard"/>
        <c:varyColors val="0"/>
        <c:ser>
          <c:idx val="0"/>
          <c:order val="0"/>
          <c:tx>
            <c:strRef>
              <c:f>Sheet1!$B$1</c:f>
              <c:strCache>
                <c:ptCount val="1"/>
                <c:pt idx="0">
                  <c:v>Actual</c:v>
                </c:pt>
              </c:strCache>
            </c:strRef>
          </c:tx>
          <c:spPr>
            <a:ln w="38100">
              <a:solidFill>
                <a:srgbClr val="B8940C"/>
              </a:solidFill>
            </a:ln>
          </c:spPr>
          <c:marker>
            <c:symbol val="none"/>
          </c:marker>
          <c:cat>
            <c:strRef>
              <c:f>Sheet1!$A$2:$A$9</c:f>
              <c:strCache>
                <c:ptCount val="8"/>
                <c:pt idx="0">
                  <c:v>W1</c:v>
                </c:pt>
                <c:pt idx="1">
                  <c:v>W2</c:v>
                </c:pt>
                <c:pt idx="2">
                  <c:v>W3</c:v>
                </c:pt>
                <c:pt idx="3">
                  <c:v>W4</c:v>
                </c:pt>
                <c:pt idx="4">
                  <c:v>W5</c:v>
                </c:pt>
                <c:pt idx="5">
                  <c:v>W6</c:v>
                </c:pt>
                <c:pt idx="6">
                  <c:v>W7</c:v>
                </c:pt>
                <c:pt idx="7">
                  <c:v>W8</c:v>
                </c:pt>
              </c:strCache>
            </c:strRef>
          </c:cat>
          <c:val>
            <c:numRef>
              <c:f>Sheet1!$B$2:$B$9</c:f>
              <c:numCache>
                <c:formatCode>General</c:formatCode>
                <c:ptCount val="8"/>
                <c:pt idx="0">
                  <c:v>210</c:v>
                </c:pt>
                <c:pt idx="1">
                  <c:v>235</c:v>
                </c:pt>
                <c:pt idx="2">
                  <c:v>225</c:v>
                </c:pt>
                <c:pt idx="3">
                  <c:v>260</c:v>
                </c:pt>
              </c:numCache>
            </c:numRef>
          </c:val>
          <c:smooth val="1"/>
          <c:extLst>
            <c:ext xmlns:c16="http://schemas.microsoft.com/office/drawing/2014/chart" uri="{C3380CC4-5D6E-409C-BE32-E72D297353CC}">
              <c16:uniqueId val="{00000000-72E4-4EB3-A415-C65B86B1B37A}"/>
            </c:ext>
          </c:extLst>
        </c:ser>
        <c:ser>
          <c:idx val="1"/>
          <c:order val="1"/>
          <c:tx>
            <c:strRef>
              <c:f>Sheet1!$C$1</c:f>
              <c:strCache>
                <c:ptCount val="1"/>
                <c:pt idx="0">
                  <c:v>Forecast</c:v>
                </c:pt>
              </c:strCache>
            </c:strRef>
          </c:tx>
          <c:spPr>
            <a:ln w="38100">
              <a:solidFill>
                <a:srgbClr val="2563EB"/>
              </a:solidFill>
            </a:ln>
          </c:spPr>
          <c:marker>
            <c:symbol val="none"/>
          </c:marker>
          <c:cat>
            <c:strRef>
              <c:f>Sheet1!$A$2:$A$9</c:f>
              <c:strCache>
                <c:ptCount val="8"/>
                <c:pt idx="0">
                  <c:v>W1</c:v>
                </c:pt>
                <c:pt idx="1">
                  <c:v>W2</c:v>
                </c:pt>
                <c:pt idx="2">
                  <c:v>W3</c:v>
                </c:pt>
                <c:pt idx="3">
                  <c:v>W4</c:v>
                </c:pt>
                <c:pt idx="4">
                  <c:v>W5</c:v>
                </c:pt>
                <c:pt idx="5">
                  <c:v>W6</c:v>
                </c:pt>
                <c:pt idx="6">
                  <c:v>W7</c:v>
                </c:pt>
                <c:pt idx="7">
                  <c:v>W8</c:v>
                </c:pt>
              </c:strCache>
            </c:strRef>
          </c:cat>
          <c:val>
            <c:numRef>
              <c:f>Sheet1!$C$2:$C$9</c:f>
              <c:numCache>
                <c:formatCode>General</c:formatCode>
                <c:ptCount val="8"/>
                <c:pt idx="3">
                  <c:v>260</c:v>
                </c:pt>
                <c:pt idx="4">
                  <c:v>275</c:v>
                </c:pt>
                <c:pt idx="5">
                  <c:v>255</c:v>
                </c:pt>
                <c:pt idx="6">
                  <c:v>285</c:v>
                </c:pt>
                <c:pt idx="7">
                  <c:v>270</c:v>
                </c:pt>
              </c:numCache>
            </c:numRef>
          </c:val>
          <c:smooth val="1"/>
          <c:extLst>
            <c:ext xmlns:c16="http://schemas.microsoft.com/office/drawing/2014/chart" uri="{C3380CC4-5D6E-409C-BE32-E72D297353CC}">
              <c16:uniqueId val="{00000001-72E4-4EB3-A415-C65B86B1B37A}"/>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E3E5E9"/>
            </a:solidFill>
          </a:ln>
        </c:spPr>
        <c:txPr>
          <a:bodyPr/>
          <a:lstStyle/>
          <a:p>
            <a:pPr>
              <a:defRPr sz="1000">
                <a:solidFill>
                  <a:srgbClr val="8A8E96"/>
                </a:solidFill>
              </a:defRPr>
            </a:pPr>
            <a:endParaRPr lang="en-US"/>
          </a:p>
        </c:txPr>
        <c:crossAx val="2140495176"/>
        <c:crosses val="autoZero"/>
        <c:auto val="1"/>
        <c:lblAlgn val="ctr"/>
        <c:lblOffset val="100"/>
        <c:noMultiLvlLbl val="0"/>
      </c:catAx>
      <c:valAx>
        <c:axId val="2140495176"/>
        <c:scaling>
          <c:orientation val="minMax"/>
          <c:max val="320"/>
          <c:min val="150"/>
        </c:scaling>
        <c:delete val="0"/>
        <c:axPos val="l"/>
        <c:majorGridlines>
          <c:spPr>
            <a:ln w="9525">
              <a:solidFill>
                <a:srgbClr val="E3E5E9"/>
              </a:solidFill>
            </a:ln>
          </c:spPr>
        </c:majorGridlines>
        <c:numFmt formatCode="General" sourceLinked="1"/>
        <c:majorTickMark val="out"/>
        <c:minorTickMark val="none"/>
        <c:tickLblPos val="nextTo"/>
        <c:spPr>
          <a:ln>
            <a:solidFill>
              <a:srgbClr val="E3E5E9"/>
            </a:solidFill>
          </a:ln>
        </c:spPr>
        <c:txPr>
          <a:bodyPr/>
          <a:lstStyle/>
          <a:p>
            <a:pPr>
              <a:defRPr sz="1000">
                <a:solidFill>
                  <a:srgbClr val="8A8E96"/>
                </a:solidFill>
              </a:defRPr>
            </a:pPr>
            <a:endParaRPr lang="en-US"/>
          </a:p>
        </c:txPr>
        <c:crossAx val="2118791784"/>
        <c:crosses val="autoZero"/>
        <c:crossBetween val="between"/>
      </c:valAx>
    </c:plotArea>
    <c:legend>
      <c:legendPos val="b"/>
      <c:overlay val="0"/>
      <c:txPr>
        <a:bodyPr/>
        <a:lstStyle/>
        <a:p>
          <a:pPr>
            <a:defRPr sz="1100">
              <a:solidFill>
                <a:srgbClr val="5B5F66"/>
              </a:solidFil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7820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1 - 0:00 to 1:00]</a:t>
            </a:r>
          </a:p>
          <a:p>
            <a:r>
              <a:t>Good morning everyone. We're presenting the Smart Rental Tracking System, built for Caterpillar's equipment-rental operations.</a:t>
            </a:r>
          </a:p>
          <a:p>
            <a:r>
              <a:t>The problem in one line: rental fleets are hard to see, hard to predict, and usually fixed only after they break. Our solution puts tracking, demand forecasting, anomaly detection and predictive maintenance into one Streamlit dashboard, fully in Python.</a:t>
            </a:r>
          </a:p>
          <a:p>
            <a:r>
              <a:t>I'll walk you through the problem, architecture and the day-to-day operations pages. Then [Speaker 2] takes over for the machine-learning and intelligence modules. Let's dive 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1 - 1:00 to 2:00]</a:t>
            </a:r>
          </a:p>
          <a:p>
            <a:r>
              <a:t>Here's the roadmap. I'll cover the foundation - the problem, our architecture, and the four operations pages our depot staff use every day.</a:t>
            </a:r>
          </a:p>
          <a:p>
            <a:r>
              <a:t>Then [Speaker 2] takes the second half: the machine-learning modules - forecasting, anomaly detection, scheduling, predictive maintenance - plus the natural-language assistant, PDF reporting, and the business impact.</a:t>
            </a:r>
          </a:p>
          <a:p>
            <a:r>
              <a:t>The hand-off happens right after the Alerts page. Roughly ten minutes each.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1 - 2:00 to 3:30]</a:t>
            </a:r>
          </a:p>
          <a:p>
            <a:r>
              <a:t>Start with the pain. Four problems every rental operator faces.</a:t>
            </a:r>
          </a:p>
          <a:p>
            <a:r>
              <a:t>One - no live visibility. On any given morning you don't know where each machine is or which rentals are overdue.</a:t>
            </a:r>
          </a:p>
          <a:p>
            <a:r>
              <a:t>Two - repairs are reactive. Maintenance happens after a failure, which means unplanned downtime and higher cost.</a:t>
            </a:r>
          </a:p>
          <a:p>
            <a:r>
              <a:t>Three - demand is guesswork. Sites are over-supplied here, short there, and nobody can see next week.</a:t>
            </a:r>
          </a:p>
          <a:p>
            <a:r>
              <a:t>Four - misuse is hidden. Engines idling for hours, abnormal fuel burn - invisible until someone audits manually.</a:t>
            </a:r>
          </a:p>
          <a:p>
            <a:r>
              <a:t>Every module we built targets one of these four.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1 - 3:30 to 5:00]</a:t>
            </a:r>
          </a:p>
          <a:p>
            <a:r>
              <a:t>Here is the whole system on one slide - ten pages in the sidebar.</a:t>
            </a:r>
          </a:p>
          <a:p>
            <a:r>
              <a:t>The first four, top row, are day-to-day operations: the live dashboard, check-in/check-out, usage logging, and alerts.</a:t>
            </a:r>
          </a:p>
          <a:p>
            <a:r>
              <a:t>The next six are the intelligence layer: demand forecasting, anomaly detection, smart scheduling, predictive maintenance, the Ask-Fleet-AI assistant, and one-click PDF reporting.</a:t>
            </a:r>
          </a:p>
          <a:p>
            <a:r>
              <a:t>Everything is one Python codebase, one Streamlit app, one SQLite database. I'll take pages one to four; [Speaker 2] takes the intelligence half.</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1 - 5:00 to 6:30]</a:t>
            </a:r>
          </a:p>
          <a:p>
            <a:r>
              <a:t>Architecture, left to right, four stages.</a:t>
            </a:r>
          </a:p>
          <a:p>
            <a:r>
              <a:t>Source: all fleet data - equipment, rentals, usage logs, operators - lives in a SQLite database.</a:t>
            </a:r>
          </a:p>
          <a:p>
            <a:r>
              <a:t>Feature pipeline: we aggregate rentals into a weekly panel per site and machine type, then engineer lag features, rolling statistics and seasonal signals.</a:t>
            </a:r>
          </a:p>
          <a:p>
            <a:r>
              <a:t>Models: a single global LightGBM plus per-series ARIMA for forecasting, and an IsolationForest for anomalies. All walk-forward validated, so the numbers are out-of-sample, not fitted.</a:t>
            </a:r>
          </a:p>
          <a:p>
            <a:r>
              <a:t>App: everything surfaces in Streamlit - live tables, alerts, exportable PDF reports.</a:t>
            </a:r>
          </a:p>
          <a:p>
            <a:r>
              <a:t>The strip at the bottom is the stack - 100% Python, a deliberate constraint. Trained models are saved to disk, so the app loads instantly and only retrains when data changes.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1 - 6:30 to 8:00]</a:t>
            </a:r>
          </a:p>
          <a:p>
            <a:r>
              <a:t>Page one - the dashboard, the home screen. Two filters at the top: equipment type and site.</a:t>
            </a:r>
          </a:p>
          <a:p>
            <a:r>
              <a:t>Below them, summary cards for the whole fleet, color-coded into five states: available in green, active rentals in blue, overdue in red, data errors in amber, and suspicious - machines the anomaly model flagged - in purple.</a:t>
            </a:r>
          </a:p>
          <a:p>
            <a:r>
              <a:t>Those numbers are illustrative. The point is a single glance answers 'what is my fleet doing right now'. Under the cards is a per-equipment list to drill into any single machine. This is where a depot manager starts the day.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1 - 8:00 to 9:00]</a:t>
            </a:r>
          </a:p>
          <a:p>
            <a:r>
              <a:t>Page two - check-in and check-out, the transaction layer that keeps every other page honest.</a:t>
            </a:r>
          </a:p>
          <a:p>
            <a:r>
              <a:t>Check-in, left: pick the equipment, operator and site. The app estimates rental days automatically and, on submit, flips the machine to Active Rental.</a:t>
            </a:r>
          </a:p>
          <a:p>
            <a:r>
              <a:t>Check-out, right: select the open rental, log the engine hours and idle hours per day - those two numbers feed both usage analytics and the maintenance model - and submit. The machine returns to Available.</a:t>
            </a:r>
          </a:p>
          <a:p>
            <a:r>
              <a:t>Simple by design: clean data in means trustworthy forecasts and alerts out.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1 - 9:00 to 10:00]</a:t>
            </a:r>
          </a:p>
          <a:p>
            <a:r>
              <a:t>Page three - usage logging, four analytical views built from the hours captured at check-out.</a:t>
            </a:r>
          </a:p>
          <a:p>
            <a:r>
              <a:t>Usage per site shows which locations work their equipment hardest. The detailed log is the raw record of every completed rental. Downtime analysis compares idle against engine hours - that ratio is a direct efficiency signal. Fuel consumption per machine surfaces the outliers that often point to misuse or a mechanical issue.</a:t>
            </a:r>
          </a:p>
          <a:p>
            <a:r>
              <a:t>These views are also the feature source for the ML modules my colleague covers next.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1 - 10:00 to 10:45]</a:t>
            </a:r>
          </a:p>
          <a:p>
            <a:r>
              <a:t>Page four closes the operations half - alerts and reminders. The app scans active rentals, detects anything overdue, and presents them as alert cards ranked by severity, with a filter so staff focus on the most urgent first. No more manually scanning a spreadsheet for late returns.</a:t>
            </a:r>
          </a:p>
          <a:p>
            <a:r>
              <a:t>That's the operational backbone: track, transact, log, alert. On top of this clean data we built the intelligence layer - and for that I'll hand over to [Speaker 2].</a:t>
            </a:r>
          </a:p>
          <a:p>
            <a:r>
              <a:t>[HAND-OFF] Pause, step aside, let Speaker 2 take the clicker.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2 - 10:45 to 12:30]</a:t>
            </a:r>
          </a:p>
          <a:p>
            <a:r>
              <a:t>Thanks. I'll pick up with the module that turns history into foresight - demand forecasting.</a:t>
            </a:r>
          </a:p>
          <a:p>
            <a:r>
              <a:t>The goal: predict weekly working-hours demand eight weeks ahead, per site and machine type, so the fleet can be positioned before demand arrives rather than after.</a:t>
            </a:r>
          </a:p>
          <a:p>
            <a:r>
              <a:t>We run two models. LightGBM is a single global gradient-boosted model that learns across every site-type series at once, using the lag and seasonal features. ARIMA is classical time-series, fitted per individual series. We keep both because they fail differently - LightGBM when patterns are shared, ARIMA when a series has its own rhythm.</a:t>
            </a:r>
          </a:p>
          <a:p>
            <a:r>
              <a:t>The honest part is validation: four-fold walk-forward, always training on the past and testing on the future, benchmarked against a seasonal-naive baseline, so we only claim a win when the model genuinely beats 'same as last season'. The chart shows actual history in yellow and the forward forecast in blue.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2 - 12:30 to 13:45]</a:t>
            </a:r>
          </a:p>
          <a:p>
            <a:r>
              <a:t>Forecasting tells us what's coming; anomaly detection tells us what's wrong right now.</a:t>
            </a:r>
          </a:p>
          <a:p>
            <a:r>
              <a:t>We use an IsolationForest - unsupervised, which matters because we don't have a labelled dataset of 'misused machines'. It learns what normal looks like across features like the engine-to-idle ratio, fuel burn per hour, and rental duration, then isolates the points that don't fit. Contamination is set around fifteen percent as the review threshold.</a:t>
            </a:r>
          </a:p>
          <a:p>
            <a:r>
              <a:t>Anything it flags shows up as 'Suspicious' - the purple state - on the main dashboard, so operations sees it without opening this page. On the right, an illustrative view: EX-204 flagged, a couple of normals, one borderline to review. It turns a manual audit into an automatic one.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2 - 13:45 to 15:00]</a:t>
            </a:r>
          </a:p>
          <a:p>
            <a:r>
              <a:t>Smart scheduling answers a people question: who should operate which machine.</a:t>
            </a:r>
          </a:p>
          <a:p>
            <a:r>
              <a:t>Every operator gets a performance score from their history, weighted four ways - thirty percent from rentals completed, twenty from total days of experience, twenty-five from average utilization, twenty-five from on-time returns. That produces the leaderboard on the right, and 'Get AI Recommendation' matches the best-scoring available operator to a given equipment and site. Operators who haven't worked a specific machine or site are still scored, just discounted, so new pairings are possible but experienced hands rank first.</a:t>
            </a:r>
          </a:p>
          <a:p>
            <a:r>
              <a:t>The outcome: assignments driven by data instead of gut feel, which lifts utilization and lowers misuse.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2 - 15:00 to 16:30]</a:t>
            </a:r>
          </a:p>
          <a:p>
            <a:r>
              <a:t>Predictive maintenance is where all the usage data pays off in avoided downtime.</a:t>
            </a:r>
          </a:p>
          <a:p>
            <a:r>
              <a:t>Instead of a fixed service interval, we compute effective engine hours for each machine - real engine hours, penalised for heavy idling and emission wear, because an hour idling isn't the same as an hour of light work. That effective figure drives a five-level risk score, from Good up to Critical, shown across the bottom.</a:t>
            </a:r>
          </a:p>
          <a:p>
            <a:r>
              <a:t>The page then does four things with it: raises maintenance alerts for machines nearing their limit, quantifies the extra wear from idling, lays them on a service timeline, and projects the maintenance cost. There's also a reference schedule. Net effect: you service the right machine just before it would have failed - planned downtime instead of unplanned.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2 - 16:30 to 17:45]</a:t>
            </a:r>
          </a:p>
          <a:p>
            <a:r>
              <a:t>Everything so far assumes you know which page to open. Ask Fleet AI removes even that.</a:t>
            </a:r>
          </a:p>
          <a:p>
            <a:r>
              <a:t>You type a question in plain English - 'how many excavators were idle at site S004 last week' - and the system parses four things: intent, equipment type, site, and time range. It recognises eight intents - utilization, overdue, availability, revenue, maintenance, operator and site questions - and the four machine types. Then it queries the same database and answers directly, as you see on the right.</a:t>
            </a:r>
          </a:p>
          <a:p>
            <a:r>
              <a:t>It's rule-based natural-language parsing, not a large language model, so it's fast, fully offline, and completely explainable - you can always see exactly how it read your question. It makes the whole system usable by someone who's never seen the dashboard.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2 - 17:45 to 18:30]</a:t>
            </a:r>
          </a:p>
          <a:p>
            <a:r>
              <a:t>The last page closes the loop for management. One click generates a branded PDF - the 'Fleet Health and Anomaly Executive Report' - built with FPDF, with a Caterpillar header and footer, a fleet-health summary, and the anomaly and maintenance findings pulled straight from the live data.</a:t>
            </a:r>
          </a:p>
          <a:p>
            <a:r>
              <a:t>So the same system operations uses hour-to-hour also produces the executive artefact for a Monday review meeting, with zero manual copy-paste.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2 - 18:30 to 20:00]</a:t>
            </a:r>
          </a:p>
          <a:p>
            <a:r>
              <a:t>To bring it together. We set out to fix four problems - no visibility, reactive repairs, demand guesswork, and hidden misuse - and every one now has a home in the system.</a:t>
            </a:r>
          </a:p>
          <a:p>
            <a:r>
              <a:t>Ten integrated pages, three machine-learning techniques - gradient boosting, classical time-series, and unsupervised anomaly detection - eight weeks of demand foresight, all in one dashboard, entirely in Python.</a:t>
            </a:r>
          </a:p>
          <a:p>
            <a:r>
              <a:t>The headline shift is from reactive to predictive: less unplanned downtime, smarter allocation of machines and operators, and decisions backed by data instead of instinct.</a:t>
            </a:r>
          </a:p>
          <a:p>
            <a:r>
              <a:t>Next steps: live telemetry ingestion and role-based access for multi-depot rollout. Thank you - we'd love your questions. [Both presenters return to the front for Q&amp;A.]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326880" y="-2011680"/>
            <a:ext cx="5029200" cy="5029200"/>
          </a:xfrm>
          <a:prstGeom prst="ellipse">
            <a:avLst/>
          </a:prstGeom>
          <a:solidFill>
            <a:srgbClr val="2C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Isosceles Triangle 3"/>
          <p:cNvSpPr/>
          <p:nvPr/>
        </p:nvSpPr>
        <p:spPr>
          <a:xfrm>
            <a:off x="566928" y="566928"/>
            <a:ext cx="310896" cy="256032"/>
          </a:xfrm>
          <a:prstGeom prst="triangl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512064"/>
            <a:ext cx="5486400" cy="365760"/>
          </a:xfrm>
          <a:prstGeom prst="rect">
            <a:avLst/>
          </a:prstGeom>
          <a:noFill/>
        </p:spPr>
        <p:txBody>
          <a:bodyPr wrap="square" lIns="0" tIns="0" rIns="0" bIns="0" anchor="t">
            <a:spAutoFit/>
          </a:bodyPr>
          <a:lstStyle/>
          <a:p>
            <a:pPr algn="l"/>
            <a:r>
              <a:rPr sz="1400" b="1" i="0">
                <a:solidFill>
                  <a:srgbClr val="FFFFFF"/>
                </a:solidFill>
                <a:latin typeface="Calibri"/>
              </a:rPr>
              <a:t>CATERPILLAR</a:t>
            </a:r>
          </a:p>
        </p:txBody>
      </p:sp>
      <p:sp>
        <p:nvSpPr>
          <p:cNvPr id="6" name="TextBox 5"/>
          <p:cNvSpPr txBox="1"/>
          <p:nvPr/>
        </p:nvSpPr>
        <p:spPr>
          <a:xfrm>
            <a:off x="640080" y="2148840"/>
            <a:ext cx="7315200" cy="365760"/>
          </a:xfrm>
          <a:prstGeom prst="rect">
            <a:avLst/>
          </a:prstGeom>
          <a:noFill/>
        </p:spPr>
        <p:txBody>
          <a:bodyPr wrap="square" lIns="0" tIns="0" rIns="0" bIns="0" anchor="t">
            <a:spAutoFit/>
          </a:bodyPr>
          <a:lstStyle/>
          <a:p>
            <a:pPr algn="l"/>
            <a:r>
              <a:rPr sz="1400" b="1" i="0">
                <a:solidFill>
                  <a:srgbClr val="FFCD11"/>
                </a:solidFill>
                <a:latin typeface="Calibri"/>
              </a:rPr>
              <a:t>HACKATHON PROJECT</a:t>
            </a:r>
          </a:p>
        </p:txBody>
      </p:sp>
      <p:sp>
        <p:nvSpPr>
          <p:cNvPr id="7" name="TextBox 6"/>
          <p:cNvSpPr txBox="1"/>
          <p:nvPr/>
        </p:nvSpPr>
        <p:spPr>
          <a:xfrm>
            <a:off x="566928" y="2514600"/>
            <a:ext cx="10972800" cy="1463040"/>
          </a:xfrm>
          <a:prstGeom prst="rect">
            <a:avLst/>
          </a:prstGeom>
          <a:noFill/>
        </p:spPr>
        <p:txBody>
          <a:bodyPr wrap="square" lIns="0" tIns="0" rIns="0" bIns="0" anchor="t">
            <a:spAutoFit/>
          </a:bodyPr>
          <a:lstStyle/>
          <a:p>
            <a:pPr algn="l"/>
            <a:r>
              <a:rPr sz="5200" b="1" i="0">
                <a:solidFill>
                  <a:srgbClr val="FFFFFF"/>
                </a:solidFill>
                <a:latin typeface="Century Schoolbook"/>
              </a:rPr>
              <a:t>Smart Rental Tracking System</a:t>
            </a:r>
          </a:p>
        </p:txBody>
      </p:sp>
      <p:sp>
        <p:nvSpPr>
          <p:cNvPr id="8" name="TextBox 7"/>
          <p:cNvSpPr txBox="1"/>
          <p:nvPr/>
        </p:nvSpPr>
        <p:spPr>
          <a:xfrm>
            <a:off x="640080" y="4023360"/>
            <a:ext cx="8686800" cy="276999"/>
          </a:xfrm>
          <a:prstGeom prst="rect">
            <a:avLst/>
          </a:prstGeom>
          <a:noFill/>
        </p:spPr>
        <p:txBody>
          <a:bodyPr wrap="square" lIns="0" tIns="0" rIns="0" bIns="0" anchor="t">
            <a:spAutoFit/>
          </a:bodyPr>
          <a:lstStyle/>
          <a:p>
            <a:pPr algn="l"/>
            <a:r>
              <a:rPr sz="1800" b="0" i="0" dirty="0">
                <a:solidFill>
                  <a:srgbClr val="C7CBD1"/>
                </a:solidFill>
                <a:latin typeface="Calibri"/>
              </a:rPr>
              <a:t>Track, forecast and maintain Caterpillar's rental fleet from a single AI-powered dashboard.</a:t>
            </a:r>
          </a:p>
        </p:txBody>
      </p:sp>
      <p:sp>
        <p:nvSpPr>
          <p:cNvPr id="9" name="Rounded Rectangle 8"/>
          <p:cNvSpPr/>
          <p:nvPr/>
        </p:nvSpPr>
        <p:spPr>
          <a:xfrm>
            <a:off x="640080" y="5029200"/>
            <a:ext cx="3108960" cy="685800"/>
          </a:xfrm>
          <a:prstGeom prst="roundRect">
            <a:avLst>
              <a:gd name="adj" fmla="val 12000"/>
            </a:avLst>
          </a:prstGeom>
          <a:solidFill>
            <a:srgbClr val="2C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err="1"/>
              <a:t>Ahalyanjuna</a:t>
            </a:r>
            <a:r>
              <a:rPr lang="en-IN" dirty="0"/>
              <a:t> S</a:t>
            </a:r>
          </a:p>
          <a:p>
            <a:pPr algn="ctr"/>
            <a:r>
              <a:rPr lang="en-IN" dirty="0"/>
              <a:t>22PD02</a:t>
            </a:r>
            <a:endParaRPr dirty="0"/>
          </a:p>
        </p:txBody>
      </p:sp>
      <p:sp>
        <p:nvSpPr>
          <p:cNvPr id="11" name="Rounded Rectangle 10"/>
          <p:cNvSpPr/>
          <p:nvPr/>
        </p:nvSpPr>
        <p:spPr>
          <a:xfrm>
            <a:off x="3931920" y="5029200"/>
            <a:ext cx="3108960" cy="685800"/>
          </a:xfrm>
          <a:prstGeom prst="roundRect">
            <a:avLst>
              <a:gd name="adj" fmla="val 12000"/>
            </a:avLst>
          </a:prstGeom>
          <a:solidFill>
            <a:srgbClr val="2C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Gowtham S</a:t>
            </a:r>
          </a:p>
          <a:p>
            <a:pPr algn="ctr"/>
            <a:r>
              <a:rPr lang="en-IN" dirty="0"/>
              <a:t>22PD13</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AGENDA</a:t>
            </a:r>
          </a:p>
        </p:txBody>
      </p:sp>
      <p:sp>
        <p:nvSpPr>
          <p:cNvPr id="7" name="TextBox 6"/>
          <p:cNvSpPr txBox="1"/>
          <p:nvPr/>
        </p:nvSpPr>
        <p:spPr>
          <a:xfrm>
            <a:off x="566928" y="960120"/>
            <a:ext cx="10058400" cy="914400"/>
          </a:xfrm>
          <a:prstGeom prst="rect">
            <a:avLst/>
          </a:prstGeom>
          <a:noFill/>
        </p:spPr>
        <p:txBody>
          <a:bodyPr wrap="square" lIns="0" tIns="0" rIns="0" bIns="0" anchor="t">
            <a:spAutoFit/>
          </a:bodyPr>
          <a:lstStyle/>
          <a:p>
            <a:pPr algn="l"/>
            <a:r>
              <a:rPr sz="3400" b="1" i="0">
                <a:solidFill>
                  <a:srgbClr val="23262B"/>
                </a:solidFill>
                <a:latin typeface="Century Schoolbook"/>
              </a:rPr>
              <a:t>How we'll walk you through it</a:t>
            </a:r>
          </a:p>
        </p:txBody>
      </p:sp>
      <p:sp>
        <p:nvSpPr>
          <p:cNvPr id="8" name="Rounded Rectangle 7"/>
          <p:cNvSpPr/>
          <p:nvPr/>
        </p:nvSpPr>
        <p:spPr>
          <a:xfrm>
            <a:off x="640080" y="2148840"/>
            <a:ext cx="5303520" cy="3977639"/>
          </a:xfrm>
          <a:prstGeom prst="roundRect">
            <a:avLst>
              <a:gd name="adj" fmla="val 6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971800"/>
            <a:ext cx="4754880" cy="457200"/>
          </a:xfrm>
          <a:prstGeom prst="rect">
            <a:avLst/>
          </a:prstGeom>
          <a:noFill/>
        </p:spPr>
        <p:txBody>
          <a:bodyPr wrap="square" lIns="0" tIns="0" rIns="0" bIns="0" anchor="t">
            <a:spAutoFit/>
          </a:bodyPr>
          <a:lstStyle/>
          <a:p>
            <a:pPr algn="l"/>
            <a:r>
              <a:rPr sz="1900" b="1" i="0">
                <a:solidFill>
                  <a:srgbClr val="23262B"/>
                </a:solidFill>
                <a:latin typeface="Century Schoolbook"/>
              </a:rPr>
              <a:t>Foundation &amp; Operations</a:t>
            </a:r>
          </a:p>
        </p:txBody>
      </p:sp>
      <p:sp>
        <p:nvSpPr>
          <p:cNvPr id="12" name="Oval 11"/>
          <p:cNvSpPr/>
          <p:nvPr/>
        </p:nvSpPr>
        <p:spPr>
          <a:xfrm>
            <a:off x="960119" y="3611880"/>
            <a:ext cx="146304" cy="14630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34440" y="3493008"/>
            <a:ext cx="4572000" cy="365760"/>
          </a:xfrm>
          <a:prstGeom prst="rect">
            <a:avLst/>
          </a:prstGeom>
          <a:noFill/>
        </p:spPr>
        <p:txBody>
          <a:bodyPr wrap="square" lIns="0" tIns="0" rIns="0" bIns="0" anchor="ctr">
            <a:spAutoFit/>
          </a:bodyPr>
          <a:lstStyle/>
          <a:p>
            <a:pPr algn="l"/>
            <a:r>
              <a:rPr sz="1400" b="0" i="0">
                <a:solidFill>
                  <a:srgbClr val="23262B"/>
                </a:solidFill>
                <a:latin typeface="Calibri"/>
              </a:rPr>
              <a:t>Problem &amp; solution overview</a:t>
            </a:r>
          </a:p>
        </p:txBody>
      </p:sp>
      <p:sp>
        <p:nvSpPr>
          <p:cNvPr id="14" name="Oval 13"/>
          <p:cNvSpPr/>
          <p:nvPr/>
        </p:nvSpPr>
        <p:spPr>
          <a:xfrm>
            <a:off x="960119" y="4087368"/>
            <a:ext cx="146304" cy="14630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3968496"/>
            <a:ext cx="4572000" cy="365760"/>
          </a:xfrm>
          <a:prstGeom prst="rect">
            <a:avLst/>
          </a:prstGeom>
          <a:noFill/>
        </p:spPr>
        <p:txBody>
          <a:bodyPr wrap="square" lIns="0" tIns="0" rIns="0" bIns="0" anchor="ctr">
            <a:spAutoFit/>
          </a:bodyPr>
          <a:lstStyle/>
          <a:p>
            <a:pPr algn="l"/>
            <a:r>
              <a:rPr sz="1400" b="0" i="0">
                <a:solidFill>
                  <a:srgbClr val="23262B"/>
                </a:solidFill>
                <a:latin typeface="Calibri"/>
              </a:rPr>
              <a:t>System architecture &amp; tech stack</a:t>
            </a:r>
          </a:p>
        </p:txBody>
      </p:sp>
      <p:sp>
        <p:nvSpPr>
          <p:cNvPr id="16" name="Oval 15"/>
          <p:cNvSpPr/>
          <p:nvPr/>
        </p:nvSpPr>
        <p:spPr>
          <a:xfrm>
            <a:off x="960119" y="4562856"/>
            <a:ext cx="146304" cy="14630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4440" y="4519141"/>
            <a:ext cx="4572000" cy="215444"/>
          </a:xfrm>
          <a:prstGeom prst="rect">
            <a:avLst/>
          </a:prstGeom>
          <a:noFill/>
        </p:spPr>
        <p:txBody>
          <a:bodyPr wrap="square" lIns="0" tIns="0" rIns="0" bIns="0" anchor="ctr">
            <a:spAutoFit/>
          </a:bodyPr>
          <a:lstStyle/>
          <a:p>
            <a:pPr algn="l"/>
            <a:r>
              <a:rPr sz="1400" b="0" i="0" dirty="0">
                <a:solidFill>
                  <a:srgbClr val="23262B"/>
                </a:solidFill>
                <a:latin typeface="Calibri"/>
              </a:rPr>
              <a:t>Dashboard </a:t>
            </a:r>
            <a:r>
              <a:rPr lang="en-IN" sz="1400" b="0" i="0" dirty="0">
                <a:solidFill>
                  <a:srgbClr val="23262B"/>
                </a:solidFill>
                <a:latin typeface="Calibri"/>
              </a:rPr>
              <a:t>-</a:t>
            </a:r>
            <a:r>
              <a:rPr sz="1400" b="0" i="0" dirty="0">
                <a:solidFill>
                  <a:srgbClr val="23262B"/>
                </a:solidFill>
                <a:latin typeface="Calibri"/>
              </a:rPr>
              <a:t> live fleet status</a:t>
            </a:r>
          </a:p>
        </p:txBody>
      </p:sp>
      <p:sp>
        <p:nvSpPr>
          <p:cNvPr id="18" name="Oval 17"/>
          <p:cNvSpPr/>
          <p:nvPr/>
        </p:nvSpPr>
        <p:spPr>
          <a:xfrm>
            <a:off x="960119" y="5038344"/>
            <a:ext cx="146304" cy="14630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34440" y="4919472"/>
            <a:ext cx="4572000" cy="365760"/>
          </a:xfrm>
          <a:prstGeom prst="rect">
            <a:avLst/>
          </a:prstGeom>
          <a:noFill/>
        </p:spPr>
        <p:txBody>
          <a:bodyPr wrap="square" lIns="0" tIns="0" rIns="0" bIns="0" anchor="ctr">
            <a:spAutoFit/>
          </a:bodyPr>
          <a:lstStyle/>
          <a:p>
            <a:pPr algn="l"/>
            <a:r>
              <a:rPr sz="1400" b="0" i="0">
                <a:solidFill>
                  <a:srgbClr val="23262B"/>
                </a:solidFill>
                <a:latin typeface="Calibri"/>
              </a:rPr>
              <a:t>Check In / Out &amp; Usage Logging</a:t>
            </a:r>
          </a:p>
        </p:txBody>
      </p:sp>
      <p:sp>
        <p:nvSpPr>
          <p:cNvPr id="20" name="Oval 19"/>
          <p:cNvSpPr/>
          <p:nvPr/>
        </p:nvSpPr>
        <p:spPr>
          <a:xfrm>
            <a:off x="960119" y="5513832"/>
            <a:ext cx="146304" cy="14630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4440" y="5394960"/>
            <a:ext cx="4572000" cy="365760"/>
          </a:xfrm>
          <a:prstGeom prst="rect">
            <a:avLst/>
          </a:prstGeom>
          <a:noFill/>
        </p:spPr>
        <p:txBody>
          <a:bodyPr wrap="square" lIns="0" tIns="0" rIns="0" bIns="0" anchor="ctr">
            <a:spAutoFit/>
          </a:bodyPr>
          <a:lstStyle/>
          <a:p>
            <a:pPr algn="l"/>
            <a:r>
              <a:rPr sz="1400" b="0" i="0">
                <a:solidFill>
                  <a:srgbClr val="23262B"/>
                </a:solidFill>
                <a:latin typeface="Calibri"/>
              </a:rPr>
              <a:t>Alerts &amp; Reminders</a:t>
            </a:r>
          </a:p>
        </p:txBody>
      </p:sp>
      <p:sp>
        <p:nvSpPr>
          <p:cNvPr id="22" name="Rounded Rectangle 21"/>
          <p:cNvSpPr/>
          <p:nvPr/>
        </p:nvSpPr>
        <p:spPr>
          <a:xfrm>
            <a:off x="6263640" y="2148840"/>
            <a:ext cx="5303520" cy="3977639"/>
          </a:xfrm>
          <a:prstGeom prst="roundRect">
            <a:avLst>
              <a:gd name="adj" fmla="val 6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37959" y="2971800"/>
            <a:ext cx="4754880" cy="457200"/>
          </a:xfrm>
          <a:prstGeom prst="rect">
            <a:avLst/>
          </a:prstGeom>
          <a:noFill/>
        </p:spPr>
        <p:txBody>
          <a:bodyPr wrap="square" lIns="0" tIns="0" rIns="0" bIns="0" anchor="t">
            <a:spAutoFit/>
          </a:bodyPr>
          <a:lstStyle/>
          <a:p>
            <a:pPr algn="l"/>
            <a:r>
              <a:rPr sz="1900" b="1" i="0">
                <a:solidFill>
                  <a:srgbClr val="23262B"/>
                </a:solidFill>
                <a:latin typeface="Century Schoolbook"/>
              </a:rPr>
              <a:t>Intelligence &amp; Impact</a:t>
            </a:r>
          </a:p>
        </p:txBody>
      </p:sp>
      <p:sp>
        <p:nvSpPr>
          <p:cNvPr id="26" name="Oval 25"/>
          <p:cNvSpPr/>
          <p:nvPr/>
        </p:nvSpPr>
        <p:spPr>
          <a:xfrm>
            <a:off x="6583679" y="3611880"/>
            <a:ext cx="146304" cy="14630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0" y="3568166"/>
            <a:ext cx="4572000" cy="215444"/>
          </a:xfrm>
          <a:prstGeom prst="rect">
            <a:avLst/>
          </a:prstGeom>
          <a:noFill/>
        </p:spPr>
        <p:txBody>
          <a:bodyPr wrap="square" lIns="0" tIns="0" rIns="0" bIns="0" anchor="ctr">
            <a:spAutoFit/>
          </a:bodyPr>
          <a:lstStyle/>
          <a:p>
            <a:pPr algn="l"/>
            <a:r>
              <a:rPr sz="1400" b="0" i="0" dirty="0">
                <a:solidFill>
                  <a:srgbClr val="23262B"/>
                </a:solidFill>
                <a:latin typeface="Calibri"/>
              </a:rPr>
              <a:t>Demand Forecasting </a:t>
            </a:r>
            <a:r>
              <a:rPr lang="en-IN" sz="1400" b="0" i="0" dirty="0">
                <a:solidFill>
                  <a:srgbClr val="23262B"/>
                </a:solidFill>
                <a:latin typeface="Calibri"/>
              </a:rPr>
              <a:t>-</a:t>
            </a:r>
            <a:r>
              <a:rPr sz="1400" b="0" i="0" dirty="0">
                <a:solidFill>
                  <a:srgbClr val="23262B"/>
                </a:solidFill>
                <a:latin typeface="Calibri"/>
              </a:rPr>
              <a:t> </a:t>
            </a:r>
            <a:r>
              <a:rPr sz="1400" b="0" i="0" dirty="0" err="1">
                <a:solidFill>
                  <a:srgbClr val="23262B"/>
                </a:solidFill>
                <a:latin typeface="Calibri"/>
              </a:rPr>
              <a:t>LightGBM</a:t>
            </a:r>
            <a:r>
              <a:rPr sz="1400" b="0" i="0" dirty="0">
                <a:solidFill>
                  <a:srgbClr val="23262B"/>
                </a:solidFill>
                <a:latin typeface="Calibri"/>
              </a:rPr>
              <a:t> &amp; ARIMA</a:t>
            </a:r>
          </a:p>
        </p:txBody>
      </p:sp>
      <p:sp>
        <p:nvSpPr>
          <p:cNvPr id="28" name="Oval 27"/>
          <p:cNvSpPr/>
          <p:nvPr/>
        </p:nvSpPr>
        <p:spPr>
          <a:xfrm>
            <a:off x="6583679" y="4087368"/>
            <a:ext cx="146304" cy="14630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0" y="4043654"/>
            <a:ext cx="4572000" cy="215444"/>
          </a:xfrm>
          <a:prstGeom prst="rect">
            <a:avLst/>
          </a:prstGeom>
          <a:noFill/>
        </p:spPr>
        <p:txBody>
          <a:bodyPr wrap="square" lIns="0" tIns="0" rIns="0" bIns="0" anchor="ctr">
            <a:spAutoFit/>
          </a:bodyPr>
          <a:lstStyle/>
          <a:p>
            <a:pPr algn="l"/>
            <a:r>
              <a:rPr sz="1400" b="0" i="0" dirty="0">
                <a:solidFill>
                  <a:srgbClr val="23262B"/>
                </a:solidFill>
                <a:latin typeface="Calibri"/>
              </a:rPr>
              <a:t>Anomaly Detection </a:t>
            </a:r>
            <a:r>
              <a:rPr lang="en-IN" sz="1400" b="0" i="0" dirty="0">
                <a:solidFill>
                  <a:srgbClr val="23262B"/>
                </a:solidFill>
                <a:latin typeface="Calibri"/>
              </a:rPr>
              <a:t>-</a:t>
            </a:r>
            <a:r>
              <a:rPr sz="1400" b="0" i="0" dirty="0">
                <a:solidFill>
                  <a:srgbClr val="23262B"/>
                </a:solidFill>
                <a:latin typeface="Calibri"/>
              </a:rPr>
              <a:t> </a:t>
            </a:r>
            <a:r>
              <a:rPr sz="1400" b="0" i="0" dirty="0" err="1">
                <a:solidFill>
                  <a:srgbClr val="23262B"/>
                </a:solidFill>
                <a:latin typeface="Calibri"/>
              </a:rPr>
              <a:t>IsolationForest</a:t>
            </a:r>
            <a:endParaRPr sz="1400" b="0" i="0" dirty="0">
              <a:solidFill>
                <a:srgbClr val="23262B"/>
              </a:solidFill>
              <a:latin typeface="Calibri"/>
            </a:endParaRPr>
          </a:p>
        </p:txBody>
      </p:sp>
      <p:sp>
        <p:nvSpPr>
          <p:cNvPr id="30" name="Oval 29"/>
          <p:cNvSpPr/>
          <p:nvPr/>
        </p:nvSpPr>
        <p:spPr>
          <a:xfrm>
            <a:off x="6583679" y="4562856"/>
            <a:ext cx="146304" cy="14630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0" y="4443983"/>
            <a:ext cx="4572000" cy="365760"/>
          </a:xfrm>
          <a:prstGeom prst="rect">
            <a:avLst/>
          </a:prstGeom>
          <a:noFill/>
        </p:spPr>
        <p:txBody>
          <a:bodyPr wrap="square" lIns="0" tIns="0" rIns="0" bIns="0" anchor="ctr">
            <a:spAutoFit/>
          </a:bodyPr>
          <a:lstStyle/>
          <a:p>
            <a:pPr algn="l"/>
            <a:r>
              <a:rPr sz="1400" b="0" i="0">
                <a:solidFill>
                  <a:srgbClr val="23262B"/>
                </a:solidFill>
                <a:latin typeface="Calibri"/>
              </a:rPr>
              <a:t>Smart Scheduling &amp; Predictive Maintenance</a:t>
            </a:r>
          </a:p>
        </p:txBody>
      </p:sp>
      <p:sp>
        <p:nvSpPr>
          <p:cNvPr id="32" name="Oval 31"/>
          <p:cNvSpPr/>
          <p:nvPr/>
        </p:nvSpPr>
        <p:spPr>
          <a:xfrm>
            <a:off x="6583679" y="5038344"/>
            <a:ext cx="146304" cy="14630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58000" y="4919472"/>
            <a:ext cx="4572000" cy="365760"/>
          </a:xfrm>
          <a:prstGeom prst="rect">
            <a:avLst/>
          </a:prstGeom>
          <a:noFill/>
        </p:spPr>
        <p:txBody>
          <a:bodyPr wrap="square" lIns="0" tIns="0" rIns="0" bIns="0" anchor="ctr">
            <a:spAutoFit/>
          </a:bodyPr>
          <a:lstStyle/>
          <a:p>
            <a:pPr algn="l"/>
            <a:r>
              <a:rPr sz="1400" b="0" i="0">
                <a:solidFill>
                  <a:srgbClr val="23262B"/>
                </a:solidFill>
                <a:latin typeface="Calibri"/>
              </a:rPr>
              <a:t>Ask Fleet AI &amp; Report Export</a:t>
            </a:r>
          </a:p>
        </p:txBody>
      </p:sp>
      <p:sp>
        <p:nvSpPr>
          <p:cNvPr id="34" name="Oval 33"/>
          <p:cNvSpPr/>
          <p:nvPr/>
        </p:nvSpPr>
        <p:spPr>
          <a:xfrm>
            <a:off x="6583679" y="5513832"/>
            <a:ext cx="146304" cy="14630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0" y="5394960"/>
            <a:ext cx="4572000" cy="365760"/>
          </a:xfrm>
          <a:prstGeom prst="rect">
            <a:avLst/>
          </a:prstGeom>
          <a:noFill/>
        </p:spPr>
        <p:txBody>
          <a:bodyPr wrap="square" lIns="0" tIns="0" rIns="0" bIns="0" anchor="ctr">
            <a:spAutoFit/>
          </a:bodyPr>
          <a:lstStyle/>
          <a:p>
            <a:pPr algn="l"/>
            <a:r>
              <a:rPr sz="1400" b="0" i="0">
                <a:solidFill>
                  <a:srgbClr val="23262B"/>
                </a:solidFill>
                <a:latin typeface="Calibri"/>
              </a:rPr>
              <a:t>Impact &amp; next steps</a:t>
            </a:r>
          </a:p>
        </p:txBody>
      </p:sp>
      <p:sp>
        <p:nvSpPr>
          <p:cNvPr id="36" name="TextBox 35"/>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02</a:t>
            </a:r>
          </a:p>
        </p:txBody>
      </p:sp>
      <p:sp>
        <p:nvSpPr>
          <p:cNvPr id="37" name="TextBox 36"/>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THE PROBLEM</a:t>
            </a:r>
          </a:p>
        </p:txBody>
      </p:sp>
      <p:sp>
        <p:nvSpPr>
          <p:cNvPr id="7" name="TextBox 6"/>
          <p:cNvSpPr txBox="1"/>
          <p:nvPr/>
        </p:nvSpPr>
        <p:spPr>
          <a:xfrm>
            <a:off x="566928" y="960120"/>
            <a:ext cx="10058400" cy="914400"/>
          </a:xfrm>
          <a:prstGeom prst="rect">
            <a:avLst/>
          </a:prstGeom>
          <a:noFill/>
        </p:spPr>
        <p:txBody>
          <a:bodyPr wrap="square" lIns="0" tIns="0" rIns="0" bIns="0" anchor="t">
            <a:spAutoFit/>
          </a:bodyPr>
          <a:lstStyle/>
          <a:p>
            <a:pPr algn="l"/>
            <a:r>
              <a:rPr sz="3400" b="1" i="0">
                <a:solidFill>
                  <a:srgbClr val="23262B"/>
                </a:solidFill>
                <a:latin typeface="Century Schoolbook"/>
              </a:rPr>
              <a:t>Rental fleets run blind</a:t>
            </a:r>
          </a:p>
        </p:txBody>
      </p:sp>
      <p:sp>
        <p:nvSpPr>
          <p:cNvPr id="8" name="Rounded Rectangle 7"/>
          <p:cNvSpPr/>
          <p:nvPr/>
        </p:nvSpPr>
        <p:spPr>
          <a:xfrm>
            <a:off x="640080" y="2286000"/>
            <a:ext cx="2578608" cy="356616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60119" y="2606040"/>
            <a:ext cx="777240" cy="77724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19" y="2606040"/>
            <a:ext cx="777240" cy="777240"/>
          </a:xfrm>
          <a:prstGeom prst="rect">
            <a:avLst/>
          </a:prstGeom>
          <a:noFill/>
        </p:spPr>
        <p:txBody>
          <a:bodyPr wrap="square" lIns="0" tIns="0" rIns="0" bIns="0" anchor="ctr">
            <a:spAutoFit/>
          </a:bodyPr>
          <a:lstStyle/>
          <a:p>
            <a:pPr algn="ctr"/>
            <a:r>
              <a:rPr sz="2600" b="0" i="0">
                <a:solidFill>
                  <a:srgbClr val="23262B"/>
                </a:solidFill>
                <a:latin typeface="Calibri"/>
              </a:rPr>
              <a:t>📍</a:t>
            </a:r>
          </a:p>
        </p:txBody>
      </p:sp>
      <p:sp>
        <p:nvSpPr>
          <p:cNvPr id="11" name="TextBox 10"/>
          <p:cNvSpPr txBox="1"/>
          <p:nvPr/>
        </p:nvSpPr>
        <p:spPr>
          <a:xfrm>
            <a:off x="914400" y="3611880"/>
            <a:ext cx="2103120" cy="640080"/>
          </a:xfrm>
          <a:prstGeom prst="rect">
            <a:avLst/>
          </a:prstGeom>
          <a:noFill/>
        </p:spPr>
        <p:txBody>
          <a:bodyPr wrap="square" lIns="0" tIns="0" rIns="0" bIns="0" anchor="t">
            <a:spAutoFit/>
          </a:bodyPr>
          <a:lstStyle/>
          <a:p>
            <a:pPr algn="l"/>
            <a:r>
              <a:rPr sz="1600" b="1" i="0">
                <a:solidFill>
                  <a:srgbClr val="23262B"/>
                </a:solidFill>
                <a:latin typeface="Century Schoolbook"/>
              </a:rPr>
              <a:t>No live visibility</a:t>
            </a:r>
          </a:p>
        </p:txBody>
      </p:sp>
      <p:sp>
        <p:nvSpPr>
          <p:cNvPr id="12" name="TextBox 11"/>
          <p:cNvSpPr txBox="1"/>
          <p:nvPr/>
        </p:nvSpPr>
        <p:spPr>
          <a:xfrm>
            <a:off x="914400" y="4297680"/>
            <a:ext cx="2103120" cy="1280160"/>
          </a:xfrm>
          <a:prstGeom prst="rect">
            <a:avLst/>
          </a:prstGeom>
          <a:noFill/>
        </p:spPr>
        <p:txBody>
          <a:bodyPr wrap="square" lIns="0" tIns="0" rIns="0" bIns="0" anchor="t">
            <a:spAutoFit/>
          </a:bodyPr>
          <a:lstStyle/>
          <a:p>
            <a:pPr algn="l"/>
            <a:r>
              <a:rPr sz="1300" b="0" i="0">
                <a:solidFill>
                  <a:srgbClr val="5B5F66"/>
                </a:solidFill>
                <a:latin typeface="Calibri"/>
              </a:rPr>
              <a:t>Where is each machine — and is it overdue right now?</a:t>
            </a:r>
          </a:p>
        </p:txBody>
      </p:sp>
      <p:sp>
        <p:nvSpPr>
          <p:cNvPr id="13" name="Rounded Rectangle 12"/>
          <p:cNvSpPr/>
          <p:nvPr/>
        </p:nvSpPr>
        <p:spPr>
          <a:xfrm>
            <a:off x="3438144" y="2286000"/>
            <a:ext cx="2578608" cy="356616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758183" y="2606040"/>
            <a:ext cx="777240" cy="77724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58183" y="2606040"/>
            <a:ext cx="777240" cy="777240"/>
          </a:xfrm>
          <a:prstGeom prst="rect">
            <a:avLst/>
          </a:prstGeom>
          <a:noFill/>
        </p:spPr>
        <p:txBody>
          <a:bodyPr wrap="square" lIns="0" tIns="0" rIns="0" bIns="0" anchor="ctr">
            <a:spAutoFit/>
          </a:bodyPr>
          <a:lstStyle/>
          <a:p>
            <a:pPr algn="ctr"/>
            <a:r>
              <a:rPr sz="2600" b="0" i="0">
                <a:solidFill>
                  <a:srgbClr val="23262B"/>
                </a:solidFill>
                <a:latin typeface="Calibri"/>
              </a:rPr>
              <a:t>🛠</a:t>
            </a:r>
          </a:p>
        </p:txBody>
      </p:sp>
      <p:sp>
        <p:nvSpPr>
          <p:cNvPr id="16" name="TextBox 15"/>
          <p:cNvSpPr txBox="1"/>
          <p:nvPr/>
        </p:nvSpPr>
        <p:spPr>
          <a:xfrm>
            <a:off x="3712463" y="3611880"/>
            <a:ext cx="2103120" cy="640080"/>
          </a:xfrm>
          <a:prstGeom prst="rect">
            <a:avLst/>
          </a:prstGeom>
          <a:noFill/>
        </p:spPr>
        <p:txBody>
          <a:bodyPr wrap="square" lIns="0" tIns="0" rIns="0" bIns="0" anchor="t">
            <a:spAutoFit/>
          </a:bodyPr>
          <a:lstStyle/>
          <a:p>
            <a:pPr algn="l"/>
            <a:r>
              <a:rPr sz="1600" b="1" i="0">
                <a:solidFill>
                  <a:srgbClr val="23262B"/>
                </a:solidFill>
                <a:latin typeface="Century Schoolbook"/>
              </a:rPr>
              <a:t>Reactive repairs</a:t>
            </a:r>
          </a:p>
        </p:txBody>
      </p:sp>
      <p:sp>
        <p:nvSpPr>
          <p:cNvPr id="17" name="TextBox 16"/>
          <p:cNvSpPr txBox="1"/>
          <p:nvPr/>
        </p:nvSpPr>
        <p:spPr>
          <a:xfrm>
            <a:off x="3712463" y="4297680"/>
            <a:ext cx="2103120" cy="1280160"/>
          </a:xfrm>
          <a:prstGeom prst="rect">
            <a:avLst/>
          </a:prstGeom>
          <a:noFill/>
        </p:spPr>
        <p:txBody>
          <a:bodyPr wrap="square" lIns="0" tIns="0" rIns="0" bIns="0" anchor="t">
            <a:spAutoFit/>
          </a:bodyPr>
          <a:lstStyle/>
          <a:p>
            <a:pPr algn="l"/>
            <a:r>
              <a:rPr sz="1300" b="0" i="0">
                <a:solidFill>
                  <a:srgbClr val="5B5F66"/>
                </a:solidFill>
                <a:latin typeface="Calibri"/>
              </a:rPr>
              <a:t>Breakdowns are handled after they happen, not before.</a:t>
            </a:r>
          </a:p>
        </p:txBody>
      </p:sp>
      <p:sp>
        <p:nvSpPr>
          <p:cNvPr id="18" name="Rounded Rectangle 17"/>
          <p:cNvSpPr/>
          <p:nvPr/>
        </p:nvSpPr>
        <p:spPr>
          <a:xfrm>
            <a:off x="6236208" y="2286000"/>
            <a:ext cx="2578608" cy="356616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556248" y="2606040"/>
            <a:ext cx="777240" cy="77724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56248" y="2606040"/>
            <a:ext cx="777240" cy="777240"/>
          </a:xfrm>
          <a:prstGeom prst="rect">
            <a:avLst/>
          </a:prstGeom>
          <a:noFill/>
        </p:spPr>
        <p:txBody>
          <a:bodyPr wrap="square" lIns="0" tIns="0" rIns="0" bIns="0" anchor="ctr">
            <a:spAutoFit/>
          </a:bodyPr>
          <a:lstStyle/>
          <a:p>
            <a:pPr algn="ctr"/>
            <a:r>
              <a:rPr sz="2600" b="0" i="0">
                <a:solidFill>
                  <a:srgbClr val="23262B"/>
                </a:solidFill>
                <a:latin typeface="Calibri"/>
              </a:rPr>
              <a:t>📉</a:t>
            </a:r>
          </a:p>
        </p:txBody>
      </p:sp>
      <p:sp>
        <p:nvSpPr>
          <p:cNvPr id="21" name="TextBox 20"/>
          <p:cNvSpPr txBox="1"/>
          <p:nvPr/>
        </p:nvSpPr>
        <p:spPr>
          <a:xfrm>
            <a:off x="6510528" y="3611880"/>
            <a:ext cx="2103120" cy="640080"/>
          </a:xfrm>
          <a:prstGeom prst="rect">
            <a:avLst/>
          </a:prstGeom>
          <a:noFill/>
        </p:spPr>
        <p:txBody>
          <a:bodyPr wrap="square" lIns="0" tIns="0" rIns="0" bIns="0" anchor="t">
            <a:spAutoFit/>
          </a:bodyPr>
          <a:lstStyle/>
          <a:p>
            <a:pPr algn="l"/>
            <a:r>
              <a:rPr sz="1600" b="1" i="0">
                <a:solidFill>
                  <a:srgbClr val="23262B"/>
                </a:solidFill>
                <a:latin typeface="Century Schoolbook"/>
              </a:rPr>
              <a:t>Demand guesswork</a:t>
            </a:r>
          </a:p>
        </p:txBody>
      </p:sp>
      <p:sp>
        <p:nvSpPr>
          <p:cNvPr id="22" name="TextBox 21"/>
          <p:cNvSpPr txBox="1"/>
          <p:nvPr/>
        </p:nvSpPr>
        <p:spPr>
          <a:xfrm>
            <a:off x="6510528" y="4297680"/>
            <a:ext cx="2103120" cy="1280160"/>
          </a:xfrm>
          <a:prstGeom prst="rect">
            <a:avLst/>
          </a:prstGeom>
          <a:noFill/>
        </p:spPr>
        <p:txBody>
          <a:bodyPr wrap="square" lIns="0" tIns="0" rIns="0" bIns="0" anchor="t">
            <a:spAutoFit/>
          </a:bodyPr>
          <a:lstStyle/>
          <a:p>
            <a:pPr algn="l"/>
            <a:r>
              <a:rPr sz="1300" b="0" i="0">
                <a:solidFill>
                  <a:srgbClr val="5B5F66"/>
                </a:solidFill>
                <a:latin typeface="Calibri"/>
              </a:rPr>
              <a:t>Over- and under-supply at every site, every week.</a:t>
            </a:r>
          </a:p>
        </p:txBody>
      </p:sp>
      <p:sp>
        <p:nvSpPr>
          <p:cNvPr id="23" name="Rounded Rectangle 22"/>
          <p:cNvSpPr/>
          <p:nvPr/>
        </p:nvSpPr>
        <p:spPr>
          <a:xfrm>
            <a:off x="9034272" y="2286000"/>
            <a:ext cx="2578608" cy="356616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54311" y="2606040"/>
            <a:ext cx="777240" cy="77724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54311" y="2606040"/>
            <a:ext cx="777240" cy="777240"/>
          </a:xfrm>
          <a:prstGeom prst="rect">
            <a:avLst/>
          </a:prstGeom>
          <a:noFill/>
        </p:spPr>
        <p:txBody>
          <a:bodyPr wrap="square" lIns="0" tIns="0" rIns="0" bIns="0" anchor="ctr">
            <a:spAutoFit/>
          </a:bodyPr>
          <a:lstStyle/>
          <a:p>
            <a:pPr algn="ctr"/>
            <a:r>
              <a:rPr sz="2600" b="0" i="0">
                <a:solidFill>
                  <a:srgbClr val="23262B"/>
                </a:solidFill>
                <a:latin typeface="Calibri"/>
              </a:rPr>
              <a:t>🕵</a:t>
            </a:r>
          </a:p>
        </p:txBody>
      </p:sp>
      <p:sp>
        <p:nvSpPr>
          <p:cNvPr id="26" name="TextBox 25"/>
          <p:cNvSpPr txBox="1"/>
          <p:nvPr/>
        </p:nvSpPr>
        <p:spPr>
          <a:xfrm>
            <a:off x="9308592" y="3611880"/>
            <a:ext cx="2103120" cy="640080"/>
          </a:xfrm>
          <a:prstGeom prst="rect">
            <a:avLst/>
          </a:prstGeom>
          <a:noFill/>
        </p:spPr>
        <p:txBody>
          <a:bodyPr wrap="square" lIns="0" tIns="0" rIns="0" bIns="0" anchor="t">
            <a:spAutoFit/>
          </a:bodyPr>
          <a:lstStyle/>
          <a:p>
            <a:pPr algn="l"/>
            <a:r>
              <a:rPr sz="1600" b="1" i="0">
                <a:solidFill>
                  <a:srgbClr val="23262B"/>
                </a:solidFill>
                <a:latin typeface="Century Schoolbook"/>
              </a:rPr>
              <a:t>Hidden misuse</a:t>
            </a:r>
          </a:p>
        </p:txBody>
      </p:sp>
      <p:sp>
        <p:nvSpPr>
          <p:cNvPr id="27" name="TextBox 26"/>
          <p:cNvSpPr txBox="1"/>
          <p:nvPr/>
        </p:nvSpPr>
        <p:spPr>
          <a:xfrm>
            <a:off x="9308592" y="4297680"/>
            <a:ext cx="2103120" cy="1280160"/>
          </a:xfrm>
          <a:prstGeom prst="rect">
            <a:avLst/>
          </a:prstGeom>
          <a:noFill/>
        </p:spPr>
        <p:txBody>
          <a:bodyPr wrap="square" lIns="0" tIns="0" rIns="0" bIns="0" anchor="t">
            <a:spAutoFit/>
          </a:bodyPr>
          <a:lstStyle/>
          <a:p>
            <a:pPr algn="l"/>
            <a:r>
              <a:rPr sz="1300" b="0" i="0">
                <a:solidFill>
                  <a:srgbClr val="5B5F66"/>
                </a:solidFill>
                <a:latin typeface="Calibri"/>
              </a:rPr>
              <a:t>Idle burn and abnormal usage go unnoticed.</a:t>
            </a:r>
          </a:p>
        </p:txBody>
      </p:sp>
      <p:sp>
        <p:nvSpPr>
          <p:cNvPr id="28" name="TextBox 27"/>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03</a:t>
            </a:r>
          </a:p>
        </p:txBody>
      </p:sp>
      <p:sp>
        <p:nvSpPr>
          <p:cNvPr id="29" name="TextBox 28"/>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THE SOLUTION</a:t>
            </a:r>
          </a:p>
        </p:txBody>
      </p:sp>
      <p:sp>
        <p:nvSpPr>
          <p:cNvPr id="7" name="TextBox 6"/>
          <p:cNvSpPr txBox="1"/>
          <p:nvPr/>
        </p:nvSpPr>
        <p:spPr>
          <a:xfrm>
            <a:off x="566928" y="960120"/>
            <a:ext cx="10058400" cy="914400"/>
          </a:xfrm>
          <a:prstGeom prst="rect">
            <a:avLst/>
          </a:prstGeom>
          <a:noFill/>
        </p:spPr>
        <p:txBody>
          <a:bodyPr wrap="square" lIns="0" tIns="0" rIns="0" bIns="0" anchor="t">
            <a:spAutoFit/>
          </a:bodyPr>
          <a:lstStyle/>
          <a:p>
            <a:pPr algn="l"/>
            <a:r>
              <a:rPr sz="3400" b="1" i="0">
                <a:solidFill>
                  <a:srgbClr val="23262B"/>
                </a:solidFill>
                <a:latin typeface="Century Schoolbook"/>
              </a:rPr>
              <a:t>One dashboard, ten pages</a:t>
            </a:r>
          </a:p>
        </p:txBody>
      </p:sp>
      <p:sp>
        <p:nvSpPr>
          <p:cNvPr id="8" name="Rounded Rectangle 7"/>
          <p:cNvSpPr/>
          <p:nvPr/>
        </p:nvSpPr>
        <p:spPr>
          <a:xfrm>
            <a:off x="640080" y="2286000"/>
            <a:ext cx="2084831"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41247" y="2505456"/>
            <a:ext cx="420624" cy="42062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2505456"/>
            <a:ext cx="420624" cy="420624"/>
          </a:xfrm>
          <a:prstGeom prst="rect">
            <a:avLst/>
          </a:prstGeom>
          <a:noFill/>
        </p:spPr>
        <p:txBody>
          <a:bodyPr wrap="square" lIns="0" tIns="0" rIns="0" bIns="0" anchor="ctr">
            <a:spAutoFit/>
          </a:bodyPr>
          <a:lstStyle/>
          <a:p>
            <a:pPr algn="ctr"/>
            <a:r>
              <a:rPr sz="1500" b="1" i="0">
                <a:solidFill>
                  <a:srgbClr val="23262B"/>
                </a:solidFill>
                <a:latin typeface="Century Schoolbook"/>
              </a:rPr>
              <a:t>1</a:t>
            </a:r>
          </a:p>
        </p:txBody>
      </p:sp>
      <p:sp>
        <p:nvSpPr>
          <p:cNvPr id="11" name="TextBox 10"/>
          <p:cNvSpPr txBox="1"/>
          <p:nvPr/>
        </p:nvSpPr>
        <p:spPr>
          <a:xfrm>
            <a:off x="804671" y="2999232"/>
            <a:ext cx="1828800" cy="365760"/>
          </a:xfrm>
          <a:prstGeom prst="rect">
            <a:avLst/>
          </a:prstGeom>
          <a:noFill/>
        </p:spPr>
        <p:txBody>
          <a:bodyPr wrap="square" lIns="0" tIns="0" rIns="0" bIns="0" anchor="t">
            <a:spAutoFit/>
          </a:bodyPr>
          <a:lstStyle/>
          <a:p>
            <a:pPr algn="l"/>
            <a:r>
              <a:rPr sz="1350" b="1" i="0">
                <a:solidFill>
                  <a:srgbClr val="23262B"/>
                </a:solidFill>
                <a:latin typeface="Century Schoolbook"/>
              </a:rPr>
              <a:t>Dashboard</a:t>
            </a:r>
          </a:p>
        </p:txBody>
      </p:sp>
      <p:sp>
        <p:nvSpPr>
          <p:cNvPr id="12" name="TextBox 11"/>
          <p:cNvSpPr txBox="1"/>
          <p:nvPr/>
        </p:nvSpPr>
        <p:spPr>
          <a:xfrm>
            <a:off x="804671" y="3328415"/>
            <a:ext cx="1828800" cy="411480"/>
          </a:xfrm>
          <a:prstGeom prst="rect">
            <a:avLst/>
          </a:prstGeom>
          <a:noFill/>
        </p:spPr>
        <p:txBody>
          <a:bodyPr wrap="square" lIns="0" tIns="0" rIns="0" bIns="0" anchor="t">
            <a:spAutoFit/>
          </a:bodyPr>
          <a:lstStyle/>
          <a:p>
            <a:pPr algn="l"/>
            <a:r>
              <a:rPr sz="1100" b="0" i="0">
                <a:solidFill>
                  <a:srgbClr val="8A8E96"/>
                </a:solidFill>
                <a:latin typeface="Calibri"/>
              </a:rPr>
              <a:t>Live fleet status</a:t>
            </a:r>
          </a:p>
        </p:txBody>
      </p:sp>
      <p:sp>
        <p:nvSpPr>
          <p:cNvPr id="13" name="Rounded Rectangle 12"/>
          <p:cNvSpPr/>
          <p:nvPr/>
        </p:nvSpPr>
        <p:spPr>
          <a:xfrm>
            <a:off x="2889504" y="2286000"/>
            <a:ext cx="2084831"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090672" y="2505456"/>
            <a:ext cx="420624" cy="42062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90672" y="2505456"/>
            <a:ext cx="420624" cy="420624"/>
          </a:xfrm>
          <a:prstGeom prst="rect">
            <a:avLst/>
          </a:prstGeom>
          <a:noFill/>
        </p:spPr>
        <p:txBody>
          <a:bodyPr wrap="square" lIns="0" tIns="0" rIns="0" bIns="0" anchor="ctr">
            <a:spAutoFit/>
          </a:bodyPr>
          <a:lstStyle/>
          <a:p>
            <a:pPr algn="ctr"/>
            <a:r>
              <a:rPr sz="1500" b="1" i="0">
                <a:solidFill>
                  <a:srgbClr val="23262B"/>
                </a:solidFill>
                <a:latin typeface="Century Schoolbook"/>
              </a:rPr>
              <a:t>2</a:t>
            </a:r>
          </a:p>
        </p:txBody>
      </p:sp>
      <p:sp>
        <p:nvSpPr>
          <p:cNvPr id="16" name="TextBox 15"/>
          <p:cNvSpPr txBox="1"/>
          <p:nvPr/>
        </p:nvSpPr>
        <p:spPr>
          <a:xfrm>
            <a:off x="3054096" y="2999232"/>
            <a:ext cx="1828800" cy="365760"/>
          </a:xfrm>
          <a:prstGeom prst="rect">
            <a:avLst/>
          </a:prstGeom>
          <a:noFill/>
        </p:spPr>
        <p:txBody>
          <a:bodyPr wrap="square" lIns="0" tIns="0" rIns="0" bIns="0" anchor="t">
            <a:spAutoFit/>
          </a:bodyPr>
          <a:lstStyle/>
          <a:p>
            <a:pPr algn="l"/>
            <a:r>
              <a:rPr sz="1350" b="1" i="0">
                <a:solidFill>
                  <a:srgbClr val="23262B"/>
                </a:solidFill>
                <a:latin typeface="Century Schoolbook"/>
              </a:rPr>
              <a:t>Check In / Out</a:t>
            </a:r>
          </a:p>
        </p:txBody>
      </p:sp>
      <p:sp>
        <p:nvSpPr>
          <p:cNvPr id="17" name="TextBox 16"/>
          <p:cNvSpPr txBox="1"/>
          <p:nvPr/>
        </p:nvSpPr>
        <p:spPr>
          <a:xfrm>
            <a:off x="3054096" y="3328415"/>
            <a:ext cx="1828800" cy="411480"/>
          </a:xfrm>
          <a:prstGeom prst="rect">
            <a:avLst/>
          </a:prstGeom>
          <a:noFill/>
        </p:spPr>
        <p:txBody>
          <a:bodyPr wrap="square" lIns="0" tIns="0" rIns="0" bIns="0" anchor="t">
            <a:spAutoFit/>
          </a:bodyPr>
          <a:lstStyle/>
          <a:p>
            <a:pPr algn="l"/>
            <a:r>
              <a:rPr sz="1100" b="0" i="0">
                <a:solidFill>
                  <a:srgbClr val="8A8E96"/>
                </a:solidFill>
                <a:latin typeface="Calibri"/>
              </a:rPr>
              <a:t>One-tap rentals</a:t>
            </a:r>
          </a:p>
        </p:txBody>
      </p:sp>
      <p:sp>
        <p:nvSpPr>
          <p:cNvPr id="18" name="Rounded Rectangle 17"/>
          <p:cNvSpPr/>
          <p:nvPr/>
        </p:nvSpPr>
        <p:spPr>
          <a:xfrm>
            <a:off x="5138928" y="2286000"/>
            <a:ext cx="2084831"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340096" y="2505456"/>
            <a:ext cx="420624" cy="42062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40096" y="2505456"/>
            <a:ext cx="420624" cy="420624"/>
          </a:xfrm>
          <a:prstGeom prst="rect">
            <a:avLst/>
          </a:prstGeom>
          <a:noFill/>
        </p:spPr>
        <p:txBody>
          <a:bodyPr wrap="square" lIns="0" tIns="0" rIns="0" bIns="0" anchor="ctr">
            <a:spAutoFit/>
          </a:bodyPr>
          <a:lstStyle/>
          <a:p>
            <a:pPr algn="ctr"/>
            <a:r>
              <a:rPr sz="1500" b="1" i="0">
                <a:solidFill>
                  <a:srgbClr val="23262B"/>
                </a:solidFill>
                <a:latin typeface="Century Schoolbook"/>
              </a:rPr>
              <a:t>3</a:t>
            </a:r>
          </a:p>
        </p:txBody>
      </p:sp>
      <p:sp>
        <p:nvSpPr>
          <p:cNvPr id="21" name="TextBox 20"/>
          <p:cNvSpPr txBox="1"/>
          <p:nvPr/>
        </p:nvSpPr>
        <p:spPr>
          <a:xfrm>
            <a:off x="5303520" y="2999232"/>
            <a:ext cx="1828800" cy="365760"/>
          </a:xfrm>
          <a:prstGeom prst="rect">
            <a:avLst/>
          </a:prstGeom>
          <a:noFill/>
        </p:spPr>
        <p:txBody>
          <a:bodyPr wrap="square" lIns="0" tIns="0" rIns="0" bIns="0" anchor="t">
            <a:spAutoFit/>
          </a:bodyPr>
          <a:lstStyle/>
          <a:p>
            <a:pPr algn="l"/>
            <a:r>
              <a:rPr sz="1350" b="1" i="0">
                <a:solidFill>
                  <a:srgbClr val="23262B"/>
                </a:solidFill>
                <a:latin typeface="Century Schoolbook"/>
              </a:rPr>
              <a:t>Usage Logging</a:t>
            </a:r>
          </a:p>
        </p:txBody>
      </p:sp>
      <p:sp>
        <p:nvSpPr>
          <p:cNvPr id="22" name="TextBox 21"/>
          <p:cNvSpPr txBox="1"/>
          <p:nvPr/>
        </p:nvSpPr>
        <p:spPr>
          <a:xfrm>
            <a:off x="5303520" y="3328415"/>
            <a:ext cx="1828800" cy="411480"/>
          </a:xfrm>
          <a:prstGeom prst="rect">
            <a:avLst/>
          </a:prstGeom>
          <a:noFill/>
        </p:spPr>
        <p:txBody>
          <a:bodyPr wrap="square" lIns="0" tIns="0" rIns="0" bIns="0" anchor="t">
            <a:spAutoFit/>
          </a:bodyPr>
          <a:lstStyle/>
          <a:p>
            <a:pPr algn="l"/>
            <a:r>
              <a:rPr sz="1100" b="0" i="0">
                <a:solidFill>
                  <a:srgbClr val="8A8E96"/>
                </a:solidFill>
                <a:latin typeface="Calibri"/>
              </a:rPr>
              <a:t>Engine · idle · fuel</a:t>
            </a:r>
          </a:p>
        </p:txBody>
      </p:sp>
      <p:sp>
        <p:nvSpPr>
          <p:cNvPr id="23" name="Rounded Rectangle 22"/>
          <p:cNvSpPr/>
          <p:nvPr/>
        </p:nvSpPr>
        <p:spPr>
          <a:xfrm>
            <a:off x="7388352" y="2286000"/>
            <a:ext cx="2084831"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589520" y="2505456"/>
            <a:ext cx="420624" cy="42062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89520" y="2505456"/>
            <a:ext cx="420624" cy="420624"/>
          </a:xfrm>
          <a:prstGeom prst="rect">
            <a:avLst/>
          </a:prstGeom>
          <a:noFill/>
        </p:spPr>
        <p:txBody>
          <a:bodyPr wrap="square" lIns="0" tIns="0" rIns="0" bIns="0" anchor="ctr">
            <a:spAutoFit/>
          </a:bodyPr>
          <a:lstStyle/>
          <a:p>
            <a:pPr algn="ctr"/>
            <a:r>
              <a:rPr sz="1500" b="1" i="0">
                <a:solidFill>
                  <a:srgbClr val="23262B"/>
                </a:solidFill>
                <a:latin typeface="Century Schoolbook"/>
              </a:rPr>
              <a:t>4</a:t>
            </a:r>
          </a:p>
        </p:txBody>
      </p:sp>
      <p:sp>
        <p:nvSpPr>
          <p:cNvPr id="26" name="TextBox 25"/>
          <p:cNvSpPr txBox="1"/>
          <p:nvPr/>
        </p:nvSpPr>
        <p:spPr>
          <a:xfrm>
            <a:off x="7552944" y="2999232"/>
            <a:ext cx="1828800" cy="365760"/>
          </a:xfrm>
          <a:prstGeom prst="rect">
            <a:avLst/>
          </a:prstGeom>
          <a:noFill/>
        </p:spPr>
        <p:txBody>
          <a:bodyPr wrap="square" lIns="0" tIns="0" rIns="0" bIns="0" anchor="t">
            <a:spAutoFit/>
          </a:bodyPr>
          <a:lstStyle/>
          <a:p>
            <a:pPr algn="l"/>
            <a:r>
              <a:rPr sz="1350" b="1" i="0">
                <a:solidFill>
                  <a:srgbClr val="23262B"/>
                </a:solidFill>
                <a:latin typeface="Century Schoolbook"/>
              </a:rPr>
              <a:t>Alerts</a:t>
            </a:r>
          </a:p>
        </p:txBody>
      </p:sp>
      <p:sp>
        <p:nvSpPr>
          <p:cNvPr id="27" name="TextBox 26"/>
          <p:cNvSpPr txBox="1"/>
          <p:nvPr/>
        </p:nvSpPr>
        <p:spPr>
          <a:xfrm>
            <a:off x="7552944" y="3328415"/>
            <a:ext cx="1828800" cy="411480"/>
          </a:xfrm>
          <a:prstGeom prst="rect">
            <a:avLst/>
          </a:prstGeom>
          <a:noFill/>
        </p:spPr>
        <p:txBody>
          <a:bodyPr wrap="square" lIns="0" tIns="0" rIns="0" bIns="0" anchor="t">
            <a:spAutoFit/>
          </a:bodyPr>
          <a:lstStyle/>
          <a:p>
            <a:pPr algn="l"/>
            <a:r>
              <a:rPr sz="1100" b="0" i="0">
                <a:solidFill>
                  <a:srgbClr val="8A8E96"/>
                </a:solidFill>
                <a:latin typeface="Calibri"/>
              </a:rPr>
              <a:t>Overdue reminders</a:t>
            </a:r>
          </a:p>
        </p:txBody>
      </p:sp>
      <p:sp>
        <p:nvSpPr>
          <p:cNvPr id="28" name="Rounded Rectangle 27"/>
          <p:cNvSpPr/>
          <p:nvPr/>
        </p:nvSpPr>
        <p:spPr>
          <a:xfrm>
            <a:off x="9637776" y="2286000"/>
            <a:ext cx="2084831"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838944" y="2505456"/>
            <a:ext cx="420624" cy="42062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38944" y="2505456"/>
            <a:ext cx="420624" cy="420624"/>
          </a:xfrm>
          <a:prstGeom prst="rect">
            <a:avLst/>
          </a:prstGeom>
          <a:noFill/>
        </p:spPr>
        <p:txBody>
          <a:bodyPr wrap="square" lIns="0" tIns="0" rIns="0" bIns="0" anchor="ctr">
            <a:spAutoFit/>
          </a:bodyPr>
          <a:lstStyle/>
          <a:p>
            <a:pPr algn="ctr"/>
            <a:r>
              <a:rPr sz="1500" b="1" i="0">
                <a:solidFill>
                  <a:srgbClr val="23262B"/>
                </a:solidFill>
                <a:latin typeface="Century Schoolbook"/>
              </a:rPr>
              <a:t>5</a:t>
            </a:r>
          </a:p>
        </p:txBody>
      </p:sp>
      <p:sp>
        <p:nvSpPr>
          <p:cNvPr id="31" name="TextBox 30"/>
          <p:cNvSpPr txBox="1"/>
          <p:nvPr/>
        </p:nvSpPr>
        <p:spPr>
          <a:xfrm>
            <a:off x="9802367" y="2999232"/>
            <a:ext cx="1828800" cy="365760"/>
          </a:xfrm>
          <a:prstGeom prst="rect">
            <a:avLst/>
          </a:prstGeom>
          <a:noFill/>
        </p:spPr>
        <p:txBody>
          <a:bodyPr wrap="square" lIns="0" tIns="0" rIns="0" bIns="0" anchor="t">
            <a:spAutoFit/>
          </a:bodyPr>
          <a:lstStyle/>
          <a:p>
            <a:pPr algn="l"/>
            <a:r>
              <a:rPr sz="1350" b="1" i="0">
                <a:solidFill>
                  <a:srgbClr val="23262B"/>
                </a:solidFill>
                <a:latin typeface="Century Schoolbook"/>
              </a:rPr>
              <a:t>Demand Forecasting</a:t>
            </a:r>
          </a:p>
        </p:txBody>
      </p:sp>
      <p:sp>
        <p:nvSpPr>
          <p:cNvPr id="32" name="TextBox 31"/>
          <p:cNvSpPr txBox="1"/>
          <p:nvPr/>
        </p:nvSpPr>
        <p:spPr>
          <a:xfrm>
            <a:off x="9802367" y="3328415"/>
            <a:ext cx="1828800" cy="338554"/>
          </a:xfrm>
          <a:prstGeom prst="rect">
            <a:avLst/>
          </a:prstGeom>
          <a:noFill/>
        </p:spPr>
        <p:txBody>
          <a:bodyPr wrap="square" lIns="0" tIns="0" rIns="0" bIns="0" anchor="t">
            <a:spAutoFit/>
          </a:bodyPr>
          <a:lstStyle/>
          <a:p>
            <a:pPr algn="l"/>
            <a:endParaRPr lang="en-IN" sz="1100" b="0" i="0" dirty="0">
              <a:solidFill>
                <a:srgbClr val="8A8E96"/>
              </a:solidFill>
              <a:latin typeface="Calibri"/>
            </a:endParaRPr>
          </a:p>
          <a:p>
            <a:pPr algn="l"/>
            <a:r>
              <a:rPr sz="1100" b="0" i="0" dirty="0" err="1">
                <a:solidFill>
                  <a:srgbClr val="8A8E96"/>
                </a:solidFill>
                <a:latin typeface="Calibri"/>
              </a:rPr>
              <a:t>LightGBM</a:t>
            </a:r>
            <a:r>
              <a:rPr sz="1100" b="0" i="0" dirty="0">
                <a:solidFill>
                  <a:srgbClr val="8A8E96"/>
                </a:solidFill>
                <a:latin typeface="Calibri"/>
              </a:rPr>
              <a:t> + ARIMA</a:t>
            </a:r>
          </a:p>
        </p:txBody>
      </p:sp>
      <p:sp>
        <p:nvSpPr>
          <p:cNvPr id="33" name="Rounded Rectangle 32"/>
          <p:cNvSpPr/>
          <p:nvPr/>
        </p:nvSpPr>
        <p:spPr>
          <a:xfrm>
            <a:off x="640080" y="4069080"/>
            <a:ext cx="2084831"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41247" y="4288536"/>
            <a:ext cx="420624" cy="42062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1247" y="4288536"/>
            <a:ext cx="420624" cy="420624"/>
          </a:xfrm>
          <a:prstGeom prst="rect">
            <a:avLst/>
          </a:prstGeom>
          <a:noFill/>
        </p:spPr>
        <p:txBody>
          <a:bodyPr wrap="square" lIns="0" tIns="0" rIns="0" bIns="0" anchor="ctr">
            <a:spAutoFit/>
          </a:bodyPr>
          <a:lstStyle/>
          <a:p>
            <a:pPr algn="ctr"/>
            <a:r>
              <a:rPr sz="1500" b="1" i="0">
                <a:solidFill>
                  <a:srgbClr val="23262B"/>
                </a:solidFill>
                <a:latin typeface="Century Schoolbook"/>
              </a:rPr>
              <a:t>6</a:t>
            </a:r>
          </a:p>
        </p:txBody>
      </p:sp>
      <p:sp>
        <p:nvSpPr>
          <p:cNvPr id="36" name="TextBox 35"/>
          <p:cNvSpPr txBox="1"/>
          <p:nvPr/>
        </p:nvSpPr>
        <p:spPr>
          <a:xfrm>
            <a:off x="804671" y="4782312"/>
            <a:ext cx="1828800" cy="365760"/>
          </a:xfrm>
          <a:prstGeom prst="rect">
            <a:avLst/>
          </a:prstGeom>
          <a:noFill/>
        </p:spPr>
        <p:txBody>
          <a:bodyPr wrap="square" lIns="0" tIns="0" rIns="0" bIns="0" anchor="t">
            <a:spAutoFit/>
          </a:bodyPr>
          <a:lstStyle/>
          <a:p>
            <a:pPr algn="l"/>
            <a:r>
              <a:rPr sz="1350" b="1" i="0">
                <a:solidFill>
                  <a:srgbClr val="23262B"/>
                </a:solidFill>
                <a:latin typeface="Century Schoolbook"/>
              </a:rPr>
              <a:t>Anomaly Detection</a:t>
            </a:r>
          </a:p>
        </p:txBody>
      </p:sp>
      <p:sp>
        <p:nvSpPr>
          <p:cNvPr id="37" name="TextBox 36"/>
          <p:cNvSpPr txBox="1"/>
          <p:nvPr/>
        </p:nvSpPr>
        <p:spPr>
          <a:xfrm>
            <a:off x="804671" y="5111496"/>
            <a:ext cx="1828800" cy="411480"/>
          </a:xfrm>
          <a:prstGeom prst="rect">
            <a:avLst/>
          </a:prstGeom>
          <a:noFill/>
        </p:spPr>
        <p:txBody>
          <a:bodyPr wrap="square" lIns="0" tIns="0" rIns="0" bIns="0" anchor="t">
            <a:spAutoFit/>
          </a:bodyPr>
          <a:lstStyle/>
          <a:p>
            <a:pPr algn="l"/>
            <a:r>
              <a:rPr sz="1100" b="0" i="0">
                <a:solidFill>
                  <a:srgbClr val="8A8E96"/>
                </a:solidFill>
                <a:latin typeface="Calibri"/>
              </a:rPr>
              <a:t>IsolationForest</a:t>
            </a:r>
          </a:p>
        </p:txBody>
      </p:sp>
      <p:sp>
        <p:nvSpPr>
          <p:cNvPr id="38" name="Rounded Rectangle 37"/>
          <p:cNvSpPr/>
          <p:nvPr/>
        </p:nvSpPr>
        <p:spPr>
          <a:xfrm>
            <a:off x="2889504" y="4069080"/>
            <a:ext cx="2084831"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090672" y="4288536"/>
            <a:ext cx="420624" cy="42062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090672" y="4288536"/>
            <a:ext cx="420624" cy="420624"/>
          </a:xfrm>
          <a:prstGeom prst="rect">
            <a:avLst/>
          </a:prstGeom>
          <a:noFill/>
        </p:spPr>
        <p:txBody>
          <a:bodyPr wrap="square" lIns="0" tIns="0" rIns="0" bIns="0" anchor="ctr">
            <a:spAutoFit/>
          </a:bodyPr>
          <a:lstStyle/>
          <a:p>
            <a:pPr algn="ctr"/>
            <a:r>
              <a:rPr sz="1500" b="1" i="0">
                <a:solidFill>
                  <a:srgbClr val="23262B"/>
                </a:solidFill>
                <a:latin typeface="Century Schoolbook"/>
              </a:rPr>
              <a:t>7</a:t>
            </a:r>
          </a:p>
        </p:txBody>
      </p:sp>
      <p:sp>
        <p:nvSpPr>
          <p:cNvPr id="41" name="TextBox 40"/>
          <p:cNvSpPr txBox="1"/>
          <p:nvPr/>
        </p:nvSpPr>
        <p:spPr>
          <a:xfrm>
            <a:off x="3054096" y="4782312"/>
            <a:ext cx="1828800" cy="365760"/>
          </a:xfrm>
          <a:prstGeom prst="rect">
            <a:avLst/>
          </a:prstGeom>
          <a:noFill/>
        </p:spPr>
        <p:txBody>
          <a:bodyPr wrap="square" lIns="0" tIns="0" rIns="0" bIns="0" anchor="t">
            <a:spAutoFit/>
          </a:bodyPr>
          <a:lstStyle/>
          <a:p>
            <a:pPr algn="l"/>
            <a:r>
              <a:rPr sz="1350" b="1" i="0">
                <a:solidFill>
                  <a:srgbClr val="23262B"/>
                </a:solidFill>
                <a:latin typeface="Century Schoolbook"/>
              </a:rPr>
              <a:t>Smart Scheduling</a:t>
            </a:r>
          </a:p>
        </p:txBody>
      </p:sp>
      <p:sp>
        <p:nvSpPr>
          <p:cNvPr id="42" name="TextBox 41"/>
          <p:cNvSpPr txBox="1"/>
          <p:nvPr/>
        </p:nvSpPr>
        <p:spPr>
          <a:xfrm>
            <a:off x="3054096" y="5111496"/>
            <a:ext cx="1828800" cy="411480"/>
          </a:xfrm>
          <a:prstGeom prst="rect">
            <a:avLst/>
          </a:prstGeom>
          <a:noFill/>
        </p:spPr>
        <p:txBody>
          <a:bodyPr wrap="square" lIns="0" tIns="0" rIns="0" bIns="0" anchor="t">
            <a:spAutoFit/>
          </a:bodyPr>
          <a:lstStyle/>
          <a:p>
            <a:pPr algn="l"/>
            <a:r>
              <a:rPr sz="1100" b="0" i="0">
                <a:solidFill>
                  <a:srgbClr val="8A8E96"/>
                </a:solidFill>
                <a:latin typeface="Calibri"/>
              </a:rPr>
              <a:t>Best-operator match</a:t>
            </a:r>
          </a:p>
        </p:txBody>
      </p:sp>
      <p:sp>
        <p:nvSpPr>
          <p:cNvPr id="43" name="Rounded Rectangle 42"/>
          <p:cNvSpPr/>
          <p:nvPr/>
        </p:nvSpPr>
        <p:spPr>
          <a:xfrm>
            <a:off x="5138928" y="4069080"/>
            <a:ext cx="2084831"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340096" y="4288536"/>
            <a:ext cx="420624" cy="42062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40096" y="4288536"/>
            <a:ext cx="420624" cy="420624"/>
          </a:xfrm>
          <a:prstGeom prst="rect">
            <a:avLst/>
          </a:prstGeom>
          <a:noFill/>
        </p:spPr>
        <p:txBody>
          <a:bodyPr wrap="square" lIns="0" tIns="0" rIns="0" bIns="0" anchor="ctr">
            <a:spAutoFit/>
          </a:bodyPr>
          <a:lstStyle/>
          <a:p>
            <a:pPr algn="ctr"/>
            <a:r>
              <a:rPr sz="1500" b="1" i="0">
                <a:solidFill>
                  <a:srgbClr val="23262B"/>
                </a:solidFill>
                <a:latin typeface="Century Schoolbook"/>
              </a:rPr>
              <a:t>8</a:t>
            </a:r>
          </a:p>
        </p:txBody>
      </p:sp>
      <p:sp>
        <p:nvSpPr>
          <p:cNvPr id="46" name="TextBox 45"/>
          <p:cNvSpPr txBox="1"/>
          <p:nvPr/>
        </p:nvSpPr>
        <p:spPr>
          <a:xfrm>
            <a:off x="5303520" y="4782312"/>
            <a:ext cx="1828800" cy="623248"/>
          </a:xfrm>
          <a:prstGeom prst="rect">
            <a:avLst/>
          </a:prstGeom>
          <a:noFill/>
        </p:spPr>
        <p:txBody>
          <a:bodyPr wrap="square" lIns="0" tIns="0" rIns="0" bIns="0" anchor="t">
            <a:spAutoFit/>
          </a:bodyPr>
          <a:lstStyle/>
          <a:p>
            <a:pPr algn="l"/>
            <a:r>
              <a:rPr sz="1350" b="1" i="0" dirty="0">
                <a:solidFill>
                  <a:srgbClr val="23262B"/>
                </a:solidFill>
                <a:latin typeface="Century Schoolbook"/>
              </a:rPr>
              <a:t>Predictive </a:t>
            </a:r>
            <a:r>
              <a:rPr sz="1350" b="1" i="0" dirty="0" err="1">
                <a:solidFill>
                  <a:srgbClr val="23262B"/>
                </a:solidFill>
                <a:latin typeface="Century Schoolbook"/>
              </a:rPr>
              <a:t>Maint</a:t>
            </a:r>
            <a:r>
              <a:rPr lang="en-IN" sz="1350" b="1" i="0" dirty="0" err="1">
                <a:solidFill>
                  <a:srgbClr val="23262B"/>
                </a:solidFill>
                <a:latin typeface="Century Schoolbook"/>
              </a:rPr>
              <a:t>enance</a:t>
            </a:r>
            <a:r>
              <a:rPr lang="en-IN" sz="1350" b="1" i="0" dirty="0">
                <a:solidFill>
                  <a:srgbClr val="23262B"/>
                </a:solidFill>
                <a:latin typeface="Century Schoolbook"/>
              </a:rPr>
              <a:t> &amp; Asset Utilization</a:t>
            </a:r>
            <a:endParaRPr sz="1350" b="1" i="0" dirty="0">
              <a:solidFill>
                <a:srgbClr val="23262B"/>
              </a:solidFill>
              <a:latin typeface="Century Schoolbook"/>
            </a:endParaRPr>
          </a:p>
        </p:txBody>
      </p:sp>
      <p:sp>
        <p:nvSpPr>
          <p:cNvPr id="47" name="TextBox 46"/>
          <p:cNvSpPr txBox="1"/>
          <p:nvPr/>
        </p:nvSpPr>
        <p:spPr>
          <a:xfrm>
            <a:off x="5303520" y="5111496"/>
            <a:ext cx="1828800" cy="507831"/>
          </a:xfrm>
          <a:prstGeom prst="rect">
            <a:avLst/>
          </a:prstGeom>
          <a:noFill/>
        </p:spPr>
        <p:txBody>
          <a:bodyPr wrap="square" lIns="0" tIns="0" rIns="0" bIns="0" anchor="t">
            <a:spAutoFit/>
          </a:bodyPr>
          <a:lstStyle/>
          <a:p>
            <a:pPr algn="l"/>
            <a:endParaRPr lang="en-IN" sz="1100" b="0" i="0" dirty="0">
              <a:solidFill>
                <a:srgbClr val="8A8E96"/>
              </a:solidFill>
              <a:latin typeface="Calibri"/>
            </a:endParaRPr>
          </a:p>
          <a:p>
            <a:pPr algn="l"/>
            <a:endParaRPr lang="en-IN" sz="1100" dirty="0">
              <a:solidFill>
                <a:srgbClr val="8A8E96"/>
              </a:solidFill>
              <a:latin typeface="Calibri"/>
            </a:endParaRPr>
          </a:p>
          <a:p>
            <a:pPr algn="l"/>
            <a:r>
              <a:rPr sz="1100" b="0" i="0" dirty="0">
                <a:solidFill>
                  <a:srgbClr val="8A8E96"/>
                </a:solidFill>
                <a:latin typeface="Calibri"/>
              </a:rPr>
              <a:t>Risk &amp; cost</a:t>
            </a:r>
          </a:p>
        </p:txBody>
      </p:sp>
      <p:sp>
        <p:nvSpPr>
          <p:cNvPr id="48" name="Rounded Rectangle 47"/>
          <p:cNvSpPr/>
          <p:nvPr/>
        </p:nvSpPr>
        <p:spPr>
          <a:xfrm>
            <a:off x="7388352" y="4069080"/>
            <a:ext cx="2084831"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589520" y="4288536"/>
            <a:ext cx="420624" cy="42062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589520" y="4288536"/>
            <a:ext cx="420624" cy="420624"/>
          </a:xfrm>
          <a:prstGeom prst="rect">
            <a:avLst/>
          </a:prstGeom>
          <a:noFill/>
        </p:spPr>
        <p:txBody>
          <a:bodyPr wrap="square" lIns="0" tIns="0" rIns="0" bIns="0" anchor="ctr">
            <a:spAutoFit/>
          </a:bodyPr>
          <a:lstStyle/>
          <a:p>
            <a:pPr algn="ctr"/>
            <a:r>
              <a:rPr sz="1500" b="1" i="0">
                <a:solidFill>
                  <a:srgbClr val="23262B"/>
                </a:solidFill>
                <a:latin typeface="Century Schoolbook"/>
              </a:rPr>
              <a:t>9</a:t>
            </a:r>
          </a:p>
        </p:txBody>
      </p:sp>
      <p:sp>
        <p:nvSpPr>
          <p:cNvPr id="51" name="TextBox 50"/>
          <p:cNvSpPr txBox="1"/>
          <p:nvPr/>
        </p:nvSpPr>
        <p:spPr>
          <a:xfrm>
            <a:off x="7552944" y="4782312"/>
            <a:ext cx="1828800" cy="365760"/>
          </a:xfrm>
          <a:prstGeom prst="rect">
            <a:avLst/>
          </a:prstGeom>
          <a:noFill/>
        </p:spPr>
        <p:txBody>
          <a:bodyPr wrap="square" lIns="0" tIns="0" rIns="0" bIns="0" anchor="t">
            <a:spAutoFit/>
          </a:bodyPr>
          <a:lstStyle/>
          <a:p>
            <a:pPr algn="l"/>
            <a:r>
              <a:rPr sz="1350" b="1" i="0">
                <a:solidFill>
                  <a:srgbClr val="23262B"/>
                </a:solidFill>
                <a:latin typeface="Century Schoolbook"/>
              </a:rPr>
              <a:t>Ask Fleet AI</a:t>
            </a:r>
          </a:p>
        </p:txBody>
      </p:sp>
      <p:sp>
        <p:nvSpPr>
          <p:cNvPr id="52" name="TextBox 51"/>
          <p:cNvSpPr txBox="1"/>
          <p:nvPr/>
        </p:nvSpPr>
        <p:spPr>
          <a:xfrm>
            <a:off x="7552944" y="5111496"/>
            <a:ext cx="1828800" cy="411480"/>
          </a:xfrm>
          <a:prstGeom prst="rect">
            <a:avLst/>
          </a:prstGeom>
          <a:noFill/>
        </p:spPr>
        <p:txBody>
          <a:bodyPr wrap="square" lIns="0" tIns="0" rIns="0" bIns="0" anchor="t">
            <a:spAutoFit/>
          </a:bodyPr>
          <a:lstStyle/>
          <a:p>
            <a:pPr algn="l"/>
            <a:r>
              <a:rPr sz="1100" b="0" i="0">
                <a:solidFill>
                  <a:srgbClr val="8A8E96"/>
                </a:solidFill>
                <a:latin typeface="Calibri"/>
              </a:rPr>
              <a:t>Natural-language Q&amp;A</a:t>
            </a:r>
          </a:p>
        </p:txBody>
      </p:sp>
      <p:sp>
        <p:nvSpPr>
          <p:cNvPr id="53" name="Rounded Rectangle 52"/>
          <p:cNvSpPr/>
          <p:nvPr/>
        </p:nvSpPr>
        <p:spPr>
          <a:xfrm>
            <a:off x="9637776" y="4069080"/>
            <a:ext cx="2084831"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838944" y="4288536"/>
            <a:ext cx="420624" cy="420624"/>
          </a:xfrm>
          <a:prstGeom prst="ellips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838944" y="4288536"/>
            <a:ext cx="420624" cy="420624"/>
          </a:xfrm>
          <a:prstGeom prst="rect">
            <a:avLst/>
          </a:prstGeom>
          <a:noFill/>
        </p:spPr>
        <p:txBody>
          <a:bodyPr wrap="square" lIns="0" tIns="0" rIns="0" bIns="0" anchor="ctr">
            <a:spAutoFit/>
          </a:bodyPr>
          <a:lstStyle/>
          <a:p>
            <a:pPr algn="ctr"/>
            <a:r>
              <a:rPr sz="1500" b="1" i="0">
                <a:solidFill>
                  <a:srgbClr val="23262B"/>
                </a:solidFill>
                <a:latin typeface="Century Schoolbook"/>
              </a:rPr>
              <a:t>10</a:t>
            </a:r>
          </a:p>
        </p:txBody>
      </p:sp>
      <p:sp>
        <p:nvSpPr>
          <p:cNvPr id="56" name="TextBox 55"/>
          <p:cNvSpPr txBox="1"/>
          <p:nvPr/>
        </p:nvSpPr>
        <p:spPr>
          <a:xfrm>
            <a:off x="9802367" y="4782312"/>
            <a:ext cx="1828800" cy="365760"/>
          </a:xfrm>
          <a:prstGeom prst="rect">
            <a:avLst/>
          </a:prstGeom>
          <a:noFill/>
        </p:spPr>
        <p:txBody>
          <a:bodyPr wrap="square" lIns="0" tIns="0" rIns="0" bIns="0" anchor="t">
            <a:spAutoFit/>
          </a:bodyPr>
          <a:lstStyle/>
          <a:p>
            <a:pPr algn="l"/>
            <a:r>
              <a:rPr sz="1350" b="1" i="0">
                <a:solidFill>
                  <a:srgbClr val="23262B"/>
                </a:solidFill>
                <a:latin typeface="Century Schoolbook"/>
              </a:rPr>
              <a:t>Report Export</a:t>
            </a:r>
          </a:p>
        </p:txBody>
      </p:sp>
      <p:sp>
        <p:nvSpPr>
          <p:cNvPr id="57" name="TextBox 56"/>
          <p:cNvSpPr txBox="1"/>
          <p:nvPr/>
        </p:nvSpPr>
        <p:spPr>
          <a:xfrm>
            <a:off x="9802367" y="5111496"/>
            <a:ext cx="1828800" cy="411480"/>
          </a:xfrm>
          <a:prstGeom prst="rect">
            <a:avLst/>
          </a:prstGeom>
          <a:noFill/>
        </p:spPr>
        <p:txBody>
          <a:bodyPr wrap="square" lIns="0" tIns="0" rIns="0" bIns="0" anchor="t">
            <a:spAutoFit/>
          </a:bodyPr>
          <a:lstStyle/>
          <a:p>
            <a:pPr algn="l"/>
            <a:r>
              <a:rPr sz="1100" b="0" i="0">
                <a:solidFill>
                  <a:srgbClr val="8A8E96"/>
                </a:solidFill>
                <a:latin typeface="Calibri"/>
              </a:rPr>
              <a:t>Executive PDF</a:t>
            </a:r>
          </a:p>
        </p:txBody>
      </p:sp>
      <p:sp>
        <p:nvSpPr>
          <p:cNvPr id="58" name="TextBox 57"/>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04</a:t>
            </a:r>
          </a:p>
        </p:txBody>
      </p:sp>
      <p:sp>
        <p:nvSpPr>
          <p:cNvPr id="59" name="TextBox 58"/>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HOW IT WORKS</a:t>
            </a:r>
          </a:p>
        </p:txBody>
      </p:sp>
      <p:sp>
        <p:nvSpPr>
          <p:cNvPr id="7" name="TextBox 6"/>
          <p:cNvSpPr txBox="1"/>
          <p:nvPr/>
        </p:nvSpPr>
        <p:spPr>
          <a:xfrm>
            <a:off x="566928" y="960120"/>
            <a:ext cx="10058400" cy="914400"/>
          </a:xfrm>
          <a:prstGeom prst="rect">
            <a:avLst/>
          </a:prstGeom>
          <a:noFill/>
        </p:spPr>
        <p:txBody>
          <a:bodyPr wrap="square" lIns="0" tIns="0" rIns="0" bIns="0" anchor="t">
            <a:spAutoFit/>
          </a:bodyPr>
          <a:lstStyle/>
          <a:p>
            <a:pPr algn="l"/>
            <a:r>
              <a:rPr sz="3400" b="1" i="0">
                <a:solidFill>
                  <a:srgbClr val="23262B"/>
                </a:solidFill>
                <a:latin typeface="Century Schoolbook"/>
              </a:rPr>
              <a:t>Data → intelligence → action</a:t>
            </a:r>
          </a:p>
        </p:txBody>
      </p:sp>
      <p:sp>
        <p:nvSpPr>
          <p:cNvPr id="8" name="Rounded Rectangle 7"/>
          <p:cNvSpPr/>
          <p:nvPr/>
        </p:nvSpPr>
        <p:spPr>
          <a:xfrm>
            <a:off x="640080" y="2286000"/>
            <a:ext cx="2377440" cy="25146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542032"/>
            <a:ext cx="1828800" cy="274320"/>
          </a:xfrm>
          <a:prstGeom prst="rect">
            <a:avLst/>
          </a:prstGeom>
          <a:noFill/>
        </p:spPr>
        <p:txBody>
          <a:bodyPr wrap="square" lIns="0" tIns="0" rIns="0" bIns="0" anchor="t">
            <a:spAutoFit/>
          </a:bodyPr>
          <a:lstStyle/>
          <a:p>
            <a:pPr algn="l"/>
            <a:r>
              <a:rPr sz="1050" b="1" i="0">
                <a:solidFill>
                  <a:srgbClr val="B8940C"/>
                </a:solidFill>
                <a:latin typeface="Calibri"/>
              </a:rPr>
              <a:t>SOURCE</a:t>
            </a:r>
          </a:p>
        </p:txBody>
      </p:sp>
      <p:sp>
        <p:nvSpPr>
          <p:cNvPr id="10" name="TextBox 9"/>
          <p:cNvSpPr txBox="1"/>
          <p:nvPr/>
        </p:nvSpPr>
        <p:spPr>
          <a:xfrm>
            <a:off x="896112" y="2761488"/>
            <a:ext cx="1828800" cy="640080"/>
          </a:xfrm>
          <a:prstGeom prst="rect">
            <a:avLst/>
          </a:prstGeom>
          <a:noFill/>
        </p:spPr>
        <p:txBody>
          <a:bodyPr wrap="square" lIns="0" tIns="0" rIns="0" bIns="0" anchor="t">
            <a:spAutoFit/>
          </a:bodyPr>
          <a:lstStyle/>
          <a:p>
            <a:pPr algn="l"/>
            <a:r>
              <a:rPr sz="3000" b="1" i="0">
                <a:solidFill>
                  <a:srgbClr val="E7E9ED"/>
                </a:solidFill>
                <a:latin typeface="Century Schoolbook"/>
              </a:rPr>
              <a:t>01</a:t>
            </a:r>
          </a:p>
        </p:txBody>
      </p:sp>
      <p:sp>
        <p:nvSpPr>
          <p:cNvPr id="11" name="TextBox 10"/>
          <p:cNvSpPr txBox="1"/>
          <p:nvPr/>
        </p:nvSpPr>
        <p:spPr>
          <a:xfrm>
            <a:off x="896112" y="3429000"/>
            <a:ext cx="1920240" cy="457200"/>
          </a:xfrm>
          <a:prstGeom prst="rect">
            <a:avLst/>
          </a:prstGeom>
          <a:noFill/>
        </p:spPr>
        <p:txBody>
          <a:bodyPr wrap="square" lIns="0" tIns="0" rIns="0" bIns="0" anchor="t">
            <a:spAutoFit/>
          </a:bodyPr>
          <a:lstStyle/>
          <a:p>
            <a:pPr algn="l"/>
            <a:r>
              <a:rPr sz="1600" b="1" i="0">
                <a:solidFill>
                  <a:srgbClr val="23262B"/>
                </a:solidFill>
                <a:latin typeface="Century Schoolbook"/>
              </a:rPr>
              <a:t>Rental Data</a:t>
            </a:r>
          </a:p>
        </p:txBody>
      </p:sp>
      <p:sp>
        <p:nvSpPr>
          <p:cNvPr id="12" name="TextBox 11"/>
          <p:cNvSpPr txBox="1"/>
          <p:nvPr/>
        </p:nvSpPr>
        <p:spPr>
          <a:xfrm>
            <a:off x="896112" y="3886200"/>
            <a:ext cx="1920240" cy="822960"/>
          </a:xfrm>
          <a:prstGeom prst="rect">
            <a:avLst/>
          </a:prstGeom>
          <a:noFill/>
        </p:spPr>
        <p:txBody>
          <a:bodyPr wrap="square" lIns="0" tIns="0" rIns="0" bIns="0" anchor="t">
            <a:spAutoFit/>
          </a:bodyPr>
          <a:lstStyle/>
          <a:p>
            <a:pPr algn="l"/>
            <a:r>
              <a:rPr sz="1200" b="0" i="0">
                <a:solidFill>
                  <a:srgbClr val="5B5F66"/>
                </a:solidFill>
                <a:latin typeface="Calibri"/>
              </a:rPr>
              <a:t>Equipment, rentals, usage &amp; operators in SQLite.</a:t>
            </a:r>
          </a:p>
        </p:txBody>
      </p:sp>
      <p:sp>
        <p:nvSpPr>
          <p:cNvPr id="13" name="TextBox 12"/>
          <p:cNvSpPr txBox="1"/>
          <p:nvPr/>
        </p:nvSpPr>
        <p:spPr>
          <a:xfrm>
            <a:off x="3090672" y="3200400"/>
            <a:ext cx="365760" cy="548640"/>
          </a:xfrm>
          <a:prstGeom prst="rect">
            <a:avLst/>
          </a:prstGeom>
          <a:noFill/>
        </p:spPr>
        <p:txBody>
          <a:bodyPr wrap="square" lIns="0" tIns="0" rIns="0" bIns="0" anchor="ctr">
            <a:spAutoFit/>
          </a:bodyPr>
          <a:lstStyle/>
          <a:p>
            <a:pPr algn="ctr"/>
            <a:r>
              <a:rPr sz="1600" b="1" i="0">
                <a:solidFill>
                  <a:srgbClr val="FFCD11"/>
                </a:solidFill>
                <a:latin typeface="Calibri"/>
              </a:rPr>
              <a:t>▶</a:t>
            </a:r>
          </a:p>
        </p:txBody>
      </p:sp>
      <p:sp>
        <p:nvSpPr>
          <p:cNvPr id="14" name="Rounded Rectangle 13"/>
          <p:cNvSpPr/>
          <p:nvPr/>
        </p:nvSpPr>
        <p:spPr>
          <a:xfrm>
            <a:off x="3401568" y="2286000"/>
            <a:ext cx="2377440" cy="25146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0" y="2542032"/>
            <a:ext cx="1828800" cy="274320"/>
          </a:xfrm>
          <a:prstGeom prst="rect">
            <a:avLst/>
          </a:prstGeom>
          <a:noFill/>
        </p:spPr>
        <p:txBody>
          <a:bodyPr wrap="square" lIns="0" tIns="0" rIns="0" bIns="0" anchor="t">
            <a:spAutoFit/>
          </a:bodyPr>
          <a:lstStyle/>
          <a:p>
            <a:pPr algn="l"/>
            <a:r>
              <a:rPr sz="1050" b="1" i="0">
                <a:solidFill>
                  <a:srgbClr val="B8940C"/>
                </a:solidFill>
                <a:latin typeface="Calibri"/>
              </a:rPr>
              <a:t>ENGINE</a:t>
            </a:r>
          </a:p>
        </p:txBody>
      </p:sp>
      <p:sp>
        <p:nvSpPr>
          <p:cNvPr id="16" name="TextBox 15"/>
          <p:cNvSpPr txBox="1"/>
          <p:nvPr/>
        </p:nvSpPr>
        <p:spPr>
          <a:xfrm>
            <a:off x="3657600" y="2761488"/>
            <a:ext cx="1828800" cy="640080"/>
          </a:xfrm>
          <a:prstGeom prst="rect">
            <a:avLst/>
          </a:prstGeom>
          <a:noFill/>
        </p:spPr>
        <p:txBody>
          <a:bodyPr wrap="square" lIns="0" tIns="0" rIns="0" bIns="0" anchor="t">
            <a:spAutoFit/>
          </a:bodyPr>
          <a:lstStyle/>
          <a:p>
            <a:pPr algn="l"/>
            <a:r>
              <a:rPr sz="3000" b="1" i="0">
                <a:solidFill>
                  <a:srgbClr val="E7E9ED"/>
                </a:solidFill>
                <a:latin typeface="Century Schoolbook"/>
              </a:rPr>
              <a:t>02</a:t>
            </a:r>
          </a:p>
        </p:txBody>
      </p:sp>
      <p:sp>
        <p:nvSpPr>
          <p:cNvPr id="17" name="TextBox 16"/>
          <p:cNvSpPr txBox="1"/>
          <p:nvPr/>
        </p:nvSpPr>
        <p:spPr>
          <a:xfrm>
            <a:off x="3657600" y="3429000"/>
            <a:ext cx="1920240" cy="457200"/>
          </a:xfrm>
          <a:prstGeom prst="rect">
            <a:avLst/>
          </a:prstGeom>
          <a:noFill/>
        </p:spPr>
        <p:txBody>
          <a:bodyPr wrap="square" lIns="0" tIns="0" rIns="0" bIns="0" anchor="t">
            <a:spAutoFit/>
          </a:bodyPr>
          <a:lstStyle/>
          <a:p>
            <a:pPr algn="l"/>
            <a:r>
              <a:rPr sz="1600" b="1" i="0">
                <a:solidFill>
                  <a:srgbClr val="23262B"/>
                </a:solidFill>
                <a:latin typeface="Century Schoolbook"/>
              </a:rPr>
              <a:t>Feature Pipeline</a:t>
            </a:r>
          </a:p>
        </p:txBody>
      </p:sp>
      <p:sp>
        <p:nvSpPr>
          <p:cNvPr id="18" name="TextBox 17"/>
          <p:cNvSpPr txBox="1"/>
          <p:nvPr/>
        </p:nvSpPr>
        <p:spPr>
          <a:xfrm>
            <a:off x="3657600" y="3886200"/>
            <a:ext cx="1920240" cy="822960"/>
          </a:xfrm>
          <a:prstGeom prst="rect">
            <a:avLst/>
          </a:prstGeom>
          <a:noFill/>
        </p:spPr>
        <p:txBody>
          <a:bodyPr wrap="square" lIns="0" tIns="0" rIns="0" bIns="0" anchor="t">
            <a:spAutoFit/>
          </a:bodyPr>
          <a:lstStyle/>
          <a:p>
            <a:pPr algn="l"/>
            <a:r>
              <a:rPr sz="1200" b="0" i="0">
                <a:solidFill>
                  <a:srgbClr val="5B5F66"/>
                </a:solidFill>
                <a:latin typeface="Calibri"/>
              </a:rPr>
              <a:t>Lags, rolling stats &amp; seasonal features per site-type.</a:t>
            </a:r>
          </a:p>
        </p:txBody>
      </p:sp>
      <p:sp>
        <p:nvSpPr>
          <p:cNvPr id="19" name="TextBox 18"/>
          <p:cNvSpPr txBox="1"/>
          <p:nvPr/>
        </p:nvSpPr>
        <p:spPr>
          <a:xfrm>
            <a:off x="5852160" y="3200400"/>
            <a:ext cx="365760" cy="548640"/>
          </a:xfrm>
          <a:prstGeom prst="rect">
            <a:avLst/>
          </a:prstGeom>
          <a:noFill/>
        </p:spPr>
        <p:txBody>
          <a:bodyPr wrap="square" lIns="0" tIns="0" rIns="0" bIns="0" anchor="ctr">
            <a:spAutoFit/>
          </a:bodyPr>
          <a:lstStyle/>
          <a:p>
            <a:pPr algn="ctr"/>
            <a:r>
              <a:rPr sz="1600" b="1" i="0">
                <a:solidFill>
                  <a:srgbClr val="FFCD11"/>
                </a:solidFill>
                <a:latin typeface="Calibri"/>
              </a:rPr>
              <a:t>▶</a:t>
            </a:r>
          </a:p>
        </p:txBody>
      </p:sp>
      <p:sp>
        <p:nvSpPr>
          <p:cNvPr id="20" name="Rounded Rectangle 19"/>
          <p:cNvSpPr/>
          <p:nvPr/>
        </p:nvSpPr>
        <p:spPr>
          <a:xfrm>
            <a:off x="6163056" y="2286000"/>
            <a:ext cx="2377440" cy="25146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9088" y="2542032"/>
            <a:ext cx="1828800" cy="274320"/>
          </a:xfrm>
          <a:prstGeom prst="rect">
            <a:avLst/>
          </a:prstGeom>
          <a:noFill/>
        </p:spPr>
        <p:txBody>
          <a:bodyPr wrap="square" lIns="0" tIns="0" rIns="0" bIns="0" anchor="t">
            <a:spAutoFit/>
          </a:bodyPr>
          <a:lstStyle/>
          <a:p>
            <a:pPr algn="l"/>
            <a:r>
              <a:rPr sz="1050" b="1" i="0">
                <a:solidFill>
                  <a:srgbClr val="B8940C"/>
                </a:solidFill>
                <a:latin typeface="Calibri"/>
              </a:rPr>
              <a:t>MODELS</a:t>
            </a:r>
          </a:p>
        </p:txBody>
      </p:sp>
      <p:sp>
        <p:nvSpPr>
          <p:cNvPr id="22" name="TextBox 21"/>
          <p:cNvSpPr txBox="1"/>
          <p:nvPr/>
        </p:nvSpPr>
        <p:spPr>
          <a:xfrm>
            <a:off x="6419088" y="2761488"/>
            <a:ext cx="1828800" cy="640080"/>
          </a:xfrm>
          <a:prstGeom prst="rect">
            <a:avLst/>
          </a:prstGeom>
          <a:noFill/>
        </p:spPr>
        <p:txBody>
          <a:bodyPr wrap="square" lIns="0" tIns="0" rIns="0" bIns="0" anchor="t">
            <a:spAutoFit/>
          </a:bodyPr>
          <a:lstStyle/>
          <a:p>
            <a:pPr algn="l"/>
            <a:r>
              <a:rPr sz="3000" b="1" i="0">
                <a:solidFill>
                  <a:srgbClr val="E7E9ED"/>
                </a:solidFill>
                <a:latin typeface="Century Schoolbook"/>
              </a:rPr>
              <a:t>03</a:t>
            </a:r>
          </a:p>
        </p:txBody>
      </p:sp>
      <p:sp>
        <p:nvSpPr>
          <p:cNvPr id="23" name="TextBox 22"/>
          <p:cNvSpPr txBox="1"/>
          <p:nvPr/>
        </p:nvSpPr>
        <p:spPr>
          <a:xfrm>
            <a:off x="6419088" y="3429000"/>
            <a:ext cx="1920240" cy="457200"/>
          </a:xfrm>
          <a:prstGeom prst="rect">
            <a:avLst/>
          </a:prstGeom>
          <a:noFill/>
        </p:spPr>
        <p:txBody>
          <a:bodyPr wrap="square" lIns="0" tIns="0" rIns="0" bIns="0" anchor="t">
            <a:spAutoFit/>
          </a:bodyPr>
          <a:lstStyle/>
          <a:p>
            <a:pPr algn="l"/>
            <a:r>
              <a:rPr sz="1600" b="1" i="0">
                <a:solidFill>
                  <a:srgbClr val="23262B"/>
                </a:solidFill>
                <a:latin typeface="Century Schoolbook"/>
              </a:rPr>
              <a:t>ML Layer</a:t>
            </a:r>
          </a:p>
        </p:txBody>
      </p:sp>
      <p:sp>
        <p:nvSpPr>
          <p:cNvPr id="24" name="TextBox 23"/>
          <p:cNvSpPr txBox="1"/>
          <p:nvPr/>
        </p:nvSpPr>
        <p:spPr>
          <a:xfrm>
            <a:off x="6419088" y="3886200"/>
            <a:ext cx="1920240" cy="822960"/>
          </a:xfrm>
          <a:prstGeom prst="rect">
            <a:avLst/>
          </a:prstGeom>
          <a:noFill/>
        </p:spPr>
        <p:txBody>
          <a:bodyPr wrap="square" lIns="0" tIns="0" rIns="0" bIns="0" anchor="t">
            <a:spAutoFit/>
          </a:bodyPr>
          <a:lstStyle/>
          <a:p>
            <a:pPr algn="l"/>
            <a:r>
              <a:rPr sz="1200" b="0" i="0">
                <a:solidFill>
                  <a:srgbClr val="5B5F66"/>
                </a:solidFill>
                <a:latin typeface="Calibri"/>
              </a:rPr>
              <a:t>LightGBM, ARIMA &amp; IsolationForest, walk-forward validated.</a:t>
            </a:r>
          </a:p>
        </p:txBody>
      </p:sp>
      <p:sp>
        <p:nvSpPr>
          <p:cNvPr id="25" name="TextBox 24"/>
          <p:cNvSpPr txBox="1"/>
          <p:nvPr/>
        </p:nvSpPr>
        <p:spPr>
          <a:xfrm>
            <a:off x="8613648" y="3200400"/>
            <a:ext cx="365760" cy="548640"/>
          </a:xfrm>
          <a:prstGeom prst="rect">
            <a:avLst/>
          </a:prstGeom>
          <a:noFill/>
        </p:spPr>
        <p:txBody>
          <a:bodyPr wrap="square" lIns="0" tIns="0" rIns="0" bIns="0" anchor="ctr">
            <a:spAutoFit/>
          </a:bodyPr>
          <a:lstStyle/>
          <a:p>
            <a:pPr algn="ctr"/>
            <a:r>
              <a:rPr sz="1600" b="1" i="0">
                <a:solidFill>
                  <a:srgbClr val="FFCD11"/>
                </a:solidFill>
                <a:latin typeface="Calibri"/>
              </a:rPr>
              <a:t>▶</a:t>
            </a:r>
          </a:p>
        </p:txBody>
      </p:sp>
      <p:sp>
        <p:nvSpPr>
          <p:cNvPr id="26" name="Rounded Rectangle 25"/>
          <p:cNvSpPr/>
          <p:nvPr/>
        </p:nvSpPr>
        <p:spPr>
          <a:xfrm>
            <a:off x="8924544" y="2286000"/>
            <a:ext cx="2377440" cy="25146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80576" y="2542032"/>
            <a:ext cx="1828800" cy="274320"/>
          </a:xfrm>
          <a:prstGeom prst="rect">
            <a:avLst/>
          </a:prstGeom>
          <a:noFill/>
        </p:spPr>
        <p:txBody>
          <a:bodyPr wrap="square" lIns="0" tIns="0" rIns="0" bIns="0" anchor="t">
            <a:spAutoFit/>
          </a:bodyPr>
          <a:lstStyle/>
          <a:p>
            <a:pPr algn="l"/>
            <a:r>
              <a:rPr sz="1050" b="1" i="0">
                <a:solidFill>
                  <a:srgbClr val="B8940C"/>
                </a:solidFill>
                <a:latin typeface="Calibri"/>
              </a:rPr>
              <a:t>APP</a:t>
            </a:r>
          </a:p>
        </p:txBody>
      </p:sp>
      <p:sp>
        <p:nvSpPr>
          <p:cNvPr id="28" name="TextBox 27"/>
          <p:cNvSpPr txBox="1"/>
          <p:nvPr/>
        </p:nvSpPr>
        <p:spPr>
          <a:xfrm>
            <a:off x="9180576" y="2761488"/>
            <a:ext cx="1828800" cy="640080"/>
          </a:xfrm>
          <a:prstGeom prst="rect">
            <a:avLst/>
          </a:prstGeom>
          <a:noFill/>
        </p:spPr>
        <p:txBody>
          <a:bodyPr wrap="square" lIns="0" tIns="0" rIns="0" bIns="0" anchor="t">
            <a:spAutoFit/>
          </a:bodyPr>
          <a:lstStyle/>
          <a:p>
            <a:pPr algn="l"/>
            <a:r>
              <a:rPr sz="3000" b="1" i="0">
                <a:solidFill>
                  <a:srgbClr val="E7E9ED"/>
                </a:solidFill>
                <a:latin typeface="Century Schoolbook"/>
              </a:rPr>
              <a:t>04</a:t>
            </a:r>
          </a:p>
        </p:txBody>
      </p:sp>
      <p:sp>
        <p:nvSpPr>
          <p:cNvPr id="29" name="TextBox 28"/>
          <p:cNvSpPr txBox="1"/>
          <p:nvPr/>
        </p:nvSpPr>
        <p:spPr>
          <a:xfrm>
            <a:off x="9180576" y="3429000"/>
            <a:ext cx="1920240" cy="457200"/>
          </a:xfrm>
          <a:prstGeom prst="rect">
            <a:avLst/>
          </a:prstGeom>
          <a:noFill/>
        </p:spPr>
        <p:txBody>
          <a:bodyPr wrap="square" lIns="0" tIns="0" rIns="0" bIns="0" anchor="t">
            <a:spAutoFit/>
          </a:bodyPr>
          <a:lstStyle/>
          <a:p>
            <a:pPr algn="l"/>
            <a:r>
              <a:rPr sz="1600" b="1" i="0">
                <a:solidFill>
                  <a:srgbClr val="23262B"/>
                </a:solidFill>
                <a:latin typeface="Century Schoolbook"/>
              </a:rPr>
              <a:t>Streamlit UI</a:t>
            </a:r>
          </a:p>
        </p:txBody>
      </p:sp>
      <p:sp>
        <p:nvSpPr>
          <p:cNvPr id="30" name="TextBox 29"/>
          <p:cNvSpPr txBox="1"/>
          <p:nvPr/>
        </p:nvSpPr>
        <p:spPr>
          <a:xfrm>
            <a:off x="9180576" y="3886200"/>
            <a:ext cx="1920240" cy="822960"/>
          </a:xfrm>
          <a:prstGeom prst="rect">
            <a:avLst/>
          </a:prstGeom>
          <a:noFill/>
        </p:spPr>
        <p:txBody>
          <a:bodyPr wrap="square" lIns="0" tIns="0" rIns="0" bIns="0" anchor="t">
            <a:spAutoFit/>
          </a:bodyPr>
          <a:lstStyle/>
          <a:p>
            <a:pPr algn="l"/>
            <a:r>
              <a:rPr sz="1200" b="0" i="0">
                <a:solidFill>
                  <a:srgbClr val="5B5F66"/>
                </a:solidFill>
                <a:latin typeface="Calibri"/>
              </a:rPr>
              <a:t>Live insights, alerts &amp; one-click PDF reports.</a:t>
            </a:r>
          </a:p>
        </p:txBody>
      </p:sp>
      <p:sp>
        <p:nvSpPr>
          <p:cNvPr id="31" name="Rounded Rectangle 30"/>
          <p:cNvSpPr/>
          <p:nvPr/>
        </p:nvSpPr>
        <p:spPr>
          <a:xfrm>
            <a:off x="640080" y="5212080"/>
            <a:ext cx="146304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5212080"/>
            <a:ext cx="1463040" cy="502920"/>
          </a:xfrm>
          <a:prstGeom prst="rect">
            <a:avLst/>
          </a:prstGeom>
          <a:noFill/>
        </p:spPr>
        <p:txBody>
          <a:bodyPr wrap="square" lIns="0" tIns="0" rIns="0" bIns="0" anchor="ctr">
            <a:spAutoFit/>
          </a:bodyPr>
          <a:lstStyle/>
          <a:p>
            <a:pPr algn="ctr"/>
            <a:r>
              <a:rPr sz="1150" b="1" i="0">
                <a:solidFill>
                  <a:srgbClr val="23262B"/>
                </a:solidFill>
                <a:latin typeface="Calibri"/>
              </a:rPr>
              <a:t>Python</a:t>
            </a:r>
          </a:p>
        </p:txBody>
      </p:sp>
      <p:sp>
        <p:nvSpPr>
          <p:cNvPr id="33" name="Rounded Rectangle 32"/>
          <p:cNvSpPr/>
          <p:nvPr/>
        </p:nvSpPr>
        <p:spPr>
          <a:xfrm>
            <a:off x="2240280" y="5212080"/>
            <a:ext cx="146304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240280" y="5212080"/>
            <a:ext cx="1463040" cy="502920"/>
          </a:xfrm>
          <a:prstGeom prst="rect">
            <a:avLst/>
          </a:prstGeom>
          <a:noFill/>
        </p:spPr>
        <p:txBody>
          <a:bodyPr wrap="square" lIns="0" tIns="0" rIns="0" bIns="0" anchor="ctr">
            <a:spAutoFit/>
          </a:bodyPr>
          <a:lstStyle/>
          <a:p>
            <a:pPr algn="ctr"/>
            <a:r>
              <a:rPr sz="1150" b="1" i="0">
                <a:solidFill>
                  <a:srgbClr val="23262B"/>
                </a:solidFill>
                <a:latin typeface="Calibri"/>
              </a:rPr>
              <a:t>Streamlit</a:t>
            </a:r>
          </a:p>
        </p:txBody>
      </p:sp>
      <p:sp>
        <p:nvSpPr>
          <p:cNvPr id="35" name="Rounded Rectangle 34"/>
          <p:cNvSpPr/>
          <p:nvPr/>
        </p:nvSpPr>
        <p:spPr>
          <a:xfrm>
            <a:off x="3840480" y="5212080"/>
            <a:ext cx="146304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840480" y="5212080"/>
            <a:ext cx="1463040" cy="502920"/>
          </a:xfrm>
          <a:prstGeom prst="rect">
            <a:avLst/>
          </a:prstGeom>
          <a:noFill/>
        </p:spPr>
        <p:txBody>
          <a:bodyPr wrap="square" lIns="0" tIns="0" rIns="0" bIns="0" anchor="ctr">
            <a:spAutoFit/>
          </a:bodyPr>
          <a:lstStyle/>
          <a:p>
            <a:pPr algn="ctr"/>
            <a:r>
              <a:rPr sz="1150" b="1" i="0">
                <a:solidFill>
                  <a:srgbClr val="23262B"/>
                </a:solidFill>
                <a:latin typeface="Calibri"/>
              </a:rPr>
              <a:t>SQLite</a:t>
            </a:r>
          </a:p>
        </p:txBody>
      </p:sp>
      <p:sp>
        <p:nvSpPr>
          <p:cNvPr id="37" name="Rounded Rectangle 36"/>
          <p:cNvSpPr/>
          <p:nvPr/>
        </p:nvSpPr>
        <p:spPr>
          <a:xfrm>
            <a:off x="5440680" y="5212080"/>
            <a:ext cx="146304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40680" y="5212080"/>
            <a:ext cx="1463040" cy="502920"/>
          </a:xfrm>
          <a:prstGeom prst="rect">
            <a:avLst/>
          </a:prstGeom>
          <a:noFill/>
        </p:spPr>
        <p:txBody>
          <a:bodyPr wrap="square" lIns="0" tIns="0" rIns="0" bIns="0" anchor="ctr">
            <a:spAutoFit/>
          </a:bodyPr>
          <a:lstStyle/>
          <a:p>
            <a:pPr algn="ctr"/>
            <a:r>
              <a:rPr sz="1150" b="1" i="0">
                <a:solidFill>
                  <a:srgbClr val="23262B"/>
                </a:solidFill>
                <a:latin typeface="Calibri"/>
              </a:rPr>
              <a:t>LightGBM</a:t>
            </a:r>
          </a:p>
        </p:txBody>
      </p:sp>
      <p:sp>
        <p:nvSpPr>
          <p:cNvPr id="39" name="Rounded Rectangle 38"/>
          <p:cNvSpPr/>
          <p:nvPr/>
        </p:nvSpPr>
        <p:spPr>
          <a:xfrm>
            <a:off x="7040880" y="5212080"/>
            <a:ext cx="146304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040880" y="5212080"/>
            <a:ext cx="1463040" cy="502920"/>
          </a:xfrm>
          <a:prstGeom prst="rect">
            <a:avLst/>
          </a:prstGeom>
          <a:noFill/>
        </p:spPr>
        <p:txBody>
          <a:bodyPr wrap="square" lIns="0" tIns="0" rIns="0" bIns="0" anchor="ctr">
            <a:spAutoFit/>
          </a:bodyPr>
          <a:lstStyle/>
          <a:p>
            <a:pPr algn="ctr"/>
            <a:r>
              <a:rPr sz="1150" b="1" i="0">
                <a:solidFill>
                  <a:srgbClr val="23262B"/>
                </a:solidFill>
                <a:latin typeface="Calibri"/>
              </a:rPr>
              <a:t>ARIMA</a:t>
            </a:r>
          </a:p>
        </p:txBody>
      </p:sp>
      <p:sp>
        <p:nvSpPr>
          <p:cNvPr id="41" name="Rounded Rectangle 40"/>
          <p:cNvSpPr/>
          <p:nvPr/>
        </p:nvSpPr>
        <p:spPr>
          <a:xfrm>
            <a:off x="8641080" y="5212080"/>
            <a:ext cx="146304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41080" y="5212080"/>
            <a:ext cx="1463040" cy="502920"/>
          </a:xfrm>
          <a:prstGeom prst="rect">
            <a:avLst/>
          </a:prstGeom>
          <a:noFill/>
        </p:spPr>
        <p:txBody>
          <a:bodyPr wrap="square" lIns="0" tIns="0" rIns="0" bIns="0" anchor="ctr">
            <a:spAutoFit/>
          </a:bodyPr>
          <a:lstStyle/>
          <a:p>
            <a:pPr algn="ctr"/>
            <a:r>
              <a:rPr sz="1150" b="1" i="0">
                <a:solidFill>
                  <a:srgbClr val="23262B"/>
                </a:solidFill>
                <a:latin typeface="Calibri"/>
              </a:rPr>
              <a:t>scikit-learn</a:t>
            </a:r>
          </a:p>
        </p:txBody>
      </p:sp>
      <p:sp>
        <p:nvSpPr>
          <p:cNvPr id="43" name="Rounded Rectangle 42"/>
          <p:cNvSpPr/>
          <p:nvPr/>
        </p:nvSpPr>
        <p:spPr>
          <a:xfrm>
            <a:off x="10241280" y="5212080"/>
            <a:ext cx="146304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41280" y="5212080"/>
            <a:ext cx="1463040" cy="502920"/>
          </a:xfrm>
          <a:prstGeom prst="rect">
            <a:avLst/>
          </a:prstGeom>
          <a:noFill/>
        </p:spPr>
        <p:txBody>
          <a:bodyPr wrap="square" lIns="0" tIns="0" rIns="0" bIns="0" anchor="ctr">
            <a:spAutoFit/>
          </a:bodyPr>
          <a:lstStyle/>
          <a:p>
            <a:pPr algn="ctr"/>
            <a:r>
              <a:rPr sz="1150" b="1" i="0">
                <a:solidFill>
                  <a:srgbClr val="23262B"/>
                </a:solidFill>
                <a:latin typeface="Calibri"/>
              </a:rPr>
              <a:t>FPDF</a:t>
            </a:r>
          </a:p>
        </p:txBody>
      </p:sp>
      <p:sp>
        <p:nvSpPr>
          <p:cNvPr id="45" name="TextBox 44"/>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05</a:t>
            </a:r>
          </a:p>
        </p:txBody>
      </p:sp>
      <p:sp>
        <p:nvSpPr>
          <p:cNvPr id="46" name="TextBox 45"/>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PAGE · DASHBOARD</a:t>
            </a:r>
          </a:p>
        </p:txBody>
      </p:sp>
      <p:sp>
        <p:nvSpPr>
          <p:cNvPr id="7" name="TextBox 6"/>
          <p:cNvSpPr txBox="1"/>
          <p:nvPr/>
        </p:nvSpPr>
        <p:spPr>
          <a:xfrm>
            <a:off x="566928" y="960120"/>
            <a:ext cx="7315200" cy="914400"/>
          </a:xfrm>
          <a:prstGeom prst="rect">
            <a:avLst/>
          </a:prstGeom>
          <a:noFill/>
        </p:spPr>
        <p:txBody>
          <a:bodyPr wrap="square" lIns="0" tIns="0" rIns="0" bIns="0" anchor="t">
            <a:spAutoFit/>
          </a:bodyPr>
          <a:lstStyle/>
          <a:p>
            <a:pPr algn="l"/>
            <a:r>
              <a:rPr sz="3400" b="1" i="0">
                <a:solidFill>
                  <a:srgbClr val="23262B"/>
                </a:solidFill>
                <a:latin typeface="Century Schoolbook"/>
              </a:rPr>
              <a:t>Live fleet status at a glance</a:t>
            </a:r>
          </a:p>
        </p:txBody>
      </p:sp>
      <p:sp>
        <p:nvSpPr>
          <p:cNvPr id="8" name="TextBox 7"/>
          <p:cNvSpPr txBox="1"/>
          <p:nvPr/>
        </p:nvSpPr>
        <p:spPr>
          <a:xfrm>
            <a:off x="640080" y="2148840"/>
            <a:ext cx="4846320" cy="822960"/>
          </a:xfrm>
          <a:prstGeom prst="rect">
            <a:avLst/>
          </a:prstGeom>
          <a:noFill/>
        </p:spPr>
        <p:txBody>
          <a:bodyPr wrap="square" lIns="0" tIns="0" rIns="0" bIns="0" anchor="t">
            <a:spAutoFit/>
          </a:bodyPr>
          <a:lstStyle/>
          <a:p>
            <a:pPr algn="l"/>
            <a:r>
              <a:rPr sz="1500" b="0" i="0">
                <a:solidFill>
                  <a:srgbClr val="5B5F66"/>
                </a:solidFill>
                <a:latin typeface="Calibri"/>
              </a:rPr>
              <a:t>Filter by equipment type and site ID; every asset is color-coded by its current status.</a:t>
            </a:r>
          </a:p>
        </p:txBody>
      </p:sp>
      <p:sp>
        <p:nvSpPr>
          <p:cNvPr id="9" name="Oval 8"/>
          <p:cNvSpPr/>
          <p:nvPr/>
        </p:nvSpPr>
        <p:spPr>
          <a:xfrm>
            <a:off x="685800" y="3145536"/>
            <a:ext cx="146304" cy="14630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5256" y="3035808"/>
            <a:ext cx="2286000" cy="320040"/>
          </a:xfrm>
          <a:prstGeom prst="rect">
            <a:avLst/>
          </a:prstGeom>
          <a:noFill/>
        </p:spPr>
        <p:txBody>
          <a:bodyPr wrap="square" lIns="0" tIns="0" rIns="0" bIns="0" anchor="ctr">
            <a:spAutoFit/>
          </a:bodyPr>
          <a:lstStyle/>
          <a:p>
            <a:pPr algn="l"/>
            <a:r>
              <a:rPr sz="1200" b="0" i="0">
                <a:solidFill>
                  <a:srgbClr val="23262B"/>
                </a:solidFill>
                <a:latin typeface="Calibri"/>
              </a:rPr>
              <a:t>Available</a:t>
            </a:r>
          </a:p>
        </p:txBody>
      </p:sp>
      <p:sp>
        <p:nvSpPr>
          <p:cNvPr id="11" name="Oval 10"/>
          <p:cNvSpPr/>
          <p:nvPr/>
        </p:nvSpPr>
        <p:spPr>
          <a:xfrm>
            <a:off x="685800" y="3648456"/>
            <a:ext cx="146304" cy="14630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5256" y="3538728"/>
            <a:ext cx="2286000" cy="320040"/>
          </a:xfrm>
          <a:prstGeom prst="rect">
            <a:avLst/>
          </a:prstGeom>
          <a:noFill/>
        </p:spPr>
        <p:txBody>
          <a:bodyPr wrap="square" lIns="0" tIns="0" rIns="0" bIns="0" anchor="ctr">
            <a:spAutoFit/>
          </a:bodyPr>
          <a:lstStyle/>
          <a:p>
            <a:pPr algn="l"/>
            <a:r>
              <a:rPr sz="1200" b="0" i="0">
                <a:solidFill>
                  <a:srgbClr val="23262B"/>
                </a:solidFill>
                <a:latin typeface="Calibri"/>
              </a:rPr>
              <a:t>Active Rental</a:t>
            </a:r>
          </a:p>
        </p:txBody>
      </p:sp>
      <p:sp>
        <p:nvSpPr>
          <p:cNvPr id="13" name="Oval 12"/>
          <p:cNvSpPr/>
          <p:nvPr/>
        </p:nvSpPr>
        <p:spPr>
          <a:xfrm>
            <a:off x="685800" y="4151376"/>
            <a:ext cx="146304" cy="14630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5256" y="4041648"/>
            <a:ext cx="2286000" cy="320040"/>
          </a:xfrm>
          <a:prstGeom prst="rect">
            <a:avLst/>
          </a:prstGeom>
          <a:noFill/>
        </p:spPr>
        <p:txBody>
          <a:bodyPr wrap="square" lIns="0" tIns="0" rIns="0" bIns="0" anchor="ctr">
            <a:spAutoFit/>
          </a:bodyPr>
          <a:lstStyle/>
          <a:p>
            <a:pPr algn="l"/>
            <a:r>
              <a:rPr sz="1200" b="0" i="0">
                <a:solidFill>
                  <a:srgbClr val="23262B"/>
                </a:solidFill>
                <a:latin typeface="Calibri"/>
              </a:rPr>
              <a:t>Overdue</a:t>
            </a:r>
          </a:p>
        </p:txBody>
      </p:sp>
      <p:sp>
        <p:nvSpPr>
          <p:cNvPr id="15" name="Oval 14"/>
          <p:cNvSpPr/>
          <p:nvPr/>
        </p:nvSpPr>
        <p:spPr>
          <a:xfrm>
            <a:off x="685800" y="4654296"/>
            <a:ext cx="146304" cy="14630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5256" y="4544568"/>
            <a:ext cx="2286000" cy="320040"/>
          </a:xfrm>
          <a:prstGeom prst="rect">
            <a:avLst/>
          </a:prstGeom>
          <a:noFill/>
        </p:spPr>
        <p:txBody>
          <a:bodyPr wrap="square" lIns="0" tIns="0" rIns="0" bIns="0" anchor="ctr">
            <a:spAutoFit/>
          </a:bodyPr>
          <a:lstStyle/>
          <a:p>
            <a:pPr algn="l"/>
            <a:r>
              <a:rPr sz="1200" b="0" i="0">
                <a:solidFill>
                  <a:srgbClr val="23262B"/>
                </a:solidFill>
                <a:latin typeface="Calibri"/>
              </a:rPr>
              <a:t>Data Error</a:t>
            </a:r>
          </a:p>
        </p:txBody>
      </p:sp>
      <p:sp>
        <p:nvSpPr>
          <p:cNvPr id="17" name="Oval 16"/>
          <p:cNvSpPr/>
          <p:nvPr/>
        </p:nvSpPr>
        <p:spPr>
          <a:xfrm>
            <a:off x="685800" y="5157216"/>
            <a:ext cx="146304" cy="146304"/>
          </a:xfrm>
          <a:prstGeom prst="ellipse">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5256" y="5047488"/>
            <a:ext cx="2286000" cy="320040"/>
          </a:xfrm>
          <a:prstGeom prst="rect">
            <a:avLst/>
          </a:prstGeom>
          <a:noFill/>
        </p:spPr>
        <p:txBody>
          <a:bodyPr wrap="square" lIns="0" tIns="0" rIns="0" bIns="0" anchor="ctr">
            <a:spAutoFit/>
          </a:bodyPr>
          <a:lstStyle/>
          <a:p>
            <a:pPr algn="l"/>
            <a:r>
              <a:rPr sz="1200" b="0" i="0">
                <a:solidFill>
                  <a:srgbClr val="23262B"/>
                </a:solidFill>
                <a:latin typeface="Calibri"/>
              </a:rPr>
              <a:t>Suspicious</a:t>
            </a:r>
          </a:p>
        </p:txBody>
      </p:sp>
      <p:sp>
        <p:nvSpPr>
          <p:cNvPr id="19" name="Rounded Rectangle 18"/>
          <p:cNvSpPr/>
          <p:nvPr/>
        </p:nvSpPr>
        <p:spPr>
          <a:xfrm>
            <a:off x="6309360" y="2286000"/>
            <a:ext cx="2377440"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514600"/>
            <a:ext cx="1828800" cy="777240"/>
          </a:xfrm>
          <a:prstGeom prst="rect">
            <a:avLst/>
          </a:prstGeom>
          <a:noFill/>
        </p:spPr>
        <p:txBody>
          <a:bodyPr wrap="square" lIns="0" tIns="0" rIns="0" bIns="0" anchor="t">
            <a:spAutoFit/>
          </a:bodyPr>
          <a:lstStyle/>
          <a:p>
            <a:pPr algn="l"/>
            <a:r>
              <a:rPr sz="4000" b="1" i="0">
                <a:solidFill>
                  <a:srgbClr val="16A34A"/>
                </a:solidFill>
                <a:latin typeface="Century Schoolbook"/>
              </a:rPr>
              <a:t>42</a:t>
            </a:r>
          </a:p>
        </p:txBody>
      </p:sp>
      <p:sp>
        <p:nvSpPr>
          <p:cNvPr id="21" name="TextBox 20"/>
          <p:cNvSpPr txBox="1"/>
          <p:nvPr/>
        </p:nvSpPr>
        <p:spPr>
          <a:xfrm>
            <a:off x="6565392" y="3337560"/>
            <a:ext cx="1828800" cy="365760"/>
          </a:xfrm>
          <a:prstGeom prst="rect">
            <a:avLst/>
          </a:prstGeom>
          <a:noFill/>
        </p:spPr>
        <p:txBody>
          <a:bodyPr wrap="square" lIns="0" tIns="0" rIns="0" bIns="0" anchor="t">
            <a:spAutoFit/>
          </a:bodyPr>
          <a:lstStyle/>
          <a:p>
            <a:pPr algn="l"/>
            <a:r>
              <a:rPr sz="1300" b="0" i="0">
                <a:solidFill>
                  <a:srgbClr val="5B5F66"/>
                </a:solidFill>
                <a:latin typeface="Calibri"/>
              </a:rPr>
              <a:t>Available</a:t>
            </a:r>
          </a:p>
        </p:txBody>
      </p:sp>
      <p:sp>
        <p:nvSpPr>
          <p:cNvPr id="22" name="Rounded Rectangle 21"/>
          <p:cNvSpPr/>
          <p:nvPr/>
        </p:nvSpPr>
        <p:spPr>
          <a:xfrm>
            <a:off x="8961120" y="2286000"/>
            <a:ext cx="2377440"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89720" y="2514600"/>
            <a:ext cx="1828800" cy="777240"/>
          </a:xfrm>
          <a:prstGeom prst="rect">
            <a:avLst/>
          </a:prstGeom>
          <a:noFill/>
        </p:spPr>
        <p:txBody>
          <a:bodyPr wrap="square" lIns="0" tIns="0" rIns="0" bIns="0" anchor="t">
            <a:spAutoFit/>
          </a:bodyPr>
          <a:lstStyle/>
          <a:p>
            <a:pPr algn="l"/>
            <a:r>
              <a:rPr sz="4000" b="1" i="0">
                <a:solidFill>
                  <a:srgbClr val="2563EB"/>
                </a:solidFill>
                <a:latin typeface="Century Schoolbook"/>
              </a:rPr>
              <a:t>28</a:t>
            </a:r>
          </a:p>
        </p:txBody>
      </p:sp>
      <p:sp>
        <p:nvSpPr>
          <p:cNvPr id="24" name="TextBox 23"/>
          <p:cNvSpPr txBox="1"/>
          <p:nvPr/>
        </p:nvSpPr>
        <p:spPr>
          <a:xfrm>
            <a:off x="9217152" y="3337560"/>
            <a:ext cx="1828800" cy="365760"/>
          </a:xfrm>
          <a:prstGeom prst="rect">
            <a:avLst/>
          </a:prstGeom>
          <a:noFill/>
        </p:spPr>
        <p:txBody>
          <a:bodyPr wrap="square" lIns="0" tIns="0" rIns="0" bIns="0" anchor="t">
            <a:spAutoFit/>
          </a:bodyPr>
          <a:lstStyle/>
          <a:p>
            <a:pPr algn="l"/>
            <a:r>
              <a:rPr sz="1300" b="0" i="0">
                <a:solidFill>
                  <a:srgbClr val="5B5F66"/>
                </a:solidFill>
                <a:latin typeface="Calibri"/>
              </a:rPr>
              <a:t>Rented</a:t>
            </a:r>
          </a:p>
        </p:txBody>
      </p:sp>
      <p:sp>
        <p:nvSpPr>
          <p:cNvPr id="25" name="Rounded Rectangle 24"/>
          <p:cNvSpPr/>
          <p:nvPr/>
        </p:nvSpPr>
        <p:spPr>
          <a:xfrm>
            <a:off x="6309360" y="4114800"/>
            <a:ext cx="2377440"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37960" y="4343400"/>
            <a:ext cx="1828800" cy="777240"/>
          </a:xfrm>
          <a:prstGeom prst="rect">
            <a:avLst/>
          </a:prstGeom>
          <a:noFill/>
        </p:spPr>
        <p:txBody>
          <a:bodyPr wrap="square" lIns="0" tIns="0" rIns="0" bIns="0" anchor="t">
            <a:spAutoFit/>
          </a:bodyPr>
          <a:lstStyle/>
          <a:p>
            <a:pPr algn="l"/>
            <a:r>
              <a:rPr sz="4000" b="1" i="0">
                <a:solidFill>
                  <a:srgbClr val="DC2626"/>
                </a:solidFill>
                <a:latin typeface="Century Schoolbook"/>
              </a:rPr>
              <a:t>6</a:t>
            </a:r>
          </a:p>
        </p:txBody>
      </p:sp>
      <p:sp>
        <p:nvSpPr>
          <p:cNvPr id="27" name="TextBox 26"/>
          <p:cNvSpPr txBox="1"/>
          <p:nvPr/>
        </p:nvSpPr>
        <p:spPr>
          <a:xfrm>
            <a:off x="6565392" y="5166360"/>
            <a:ext cx="1828800" cy="365760"/>
          </a:xfrm>
          <a:prstGeom prst="rect">
            <a:avLst/>
          </a:prstGeom>
          <a:noFill/>
        </p:spPr>
        <p:txBody>
          <a:bodyPr wrap="square" lIns="0" tIns="0" rIns="0" bIns="0" anchor="t">
            <a:spAutoFit/>
          </a:bodyPr>
          <a:lstStyle/>
          <a:p>
            <a:pPr algn="l"/>
            <a:r>
              <a:rPr sz="1300" b="0" i="0">
                <a:solidFill>
                  <a:srgbClr val="5B5F66"/>
                </a:solidFill>
                <a:latin typeface="Calibri"/>
              </a:rPr>
              <a:t>Overdue</a:t>
            </a:r>
          </a:p>
        </p:txBody>
      </p:sp>
      <p:sp>
        <p:nvSpPr>
          <p:cNvPr id="28" name="Rounded Rectangle 27"/>
          <p:cNvSpPr/>
          <p:nvPr/>
        </p:nvSpPr>
        <p:spPr>
          <a:xfrm>
            <a:off x="8961120" y="4114800"/>
            <a:ext cx="2377440" cy="15544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89720" y="4343400"/>
            <a:ext cx="1828800" cy="777240"/>
          </a:xfrm>
          <a:prstGeom prst="rect">
            <a:avLst/>
          </a:prstGeom>
          <a:noFill/>
        </p:spPr>
        <p:txBody>
          <a:bodyPr wrap="square" lIns="0" tIns="0" rIns="0" bIns="0" anchor="t">
            <a:spAutoFit/>
          </a:bodyPr>
          <a:lstStyle/>
          <a:p>
            <a:pPr algn="l"/>
            <a:r>
              <a:rPr sz="4000" b="1" i="0">
                <a:solidFill>
                  <a:srgbClr val="9333EA"/>
                </a:solidFill>
                <a:latin typeface="Century Schoolbook"/>
              </a:rPr>
              <a:t>3</a:t>
            </a:r>
          </a:p>
        </p:txBody>
      </p:sp>
      <p:sp>
        <p:nvSpPr>
          <p:cNvPr id="30" name="TextBox 29"/>
          <p:cNvSpPr txBox="1"/>
          <p:nvPr/>
        </p:nvSpPr>
        <p:spPr>
          <a:xfrm>
            <a:off x="9217152" y="5166360"/>
            <a:ext cx="1828800" cy="365760"/>
          </a:xfrm>
          <a:prstGeom prst="rect">
            <a:avLst/>
          </a:prstGeom>
          <a:noFill/>
        </p:spPr>
        <p:txBody>
          <a:bodyPr wrap="square" lIns="0" tIns="0" rIns="0" bIns="0" anchor="t">
            <a:spAutoFit/>
          </a:bodyPr>
          <a:lstStyle/>
          <a:p>
            <a:pPr algn="l"/>
            <a:r>
              <a:rPr sz="1300" b="0" i="0">
                <a:solidFill>
                  <a:srgbClr val="5B5F66"/>
                </a:solidFill>
                <a:latin typeface="Calibri"/>
              </a:rPr>
              <a:t>Flagged</a:t>
            </a:r>
          </a:p>
        </p:txBody>
      </p:sp>
      <p:sp>
        <p:nvSpPr>
          <p:cNvPr id="31" name="TextBox 30"/>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06</a:t>
            </a:r>
          </a:p>
        </p:txBody>
      </p:sp>
      <p:sp>
        <p:nvSpPr>
          <p:cNvPr id="32" name="TextBox 31"/>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PAGE · CHECK IN / OUT</a:t>
            </a:r>
          </a:p>
        </p:txBody>
      </p:sp>
      <p:sp>
        <p:nvSpPr>
          <p:cNvPr id="7" name="TextBox 6"/>
          <p:cNvSpPr txBox="1"/>
          <p:nvPr/>
        </p:nvSpPr>
        <p:spPr>
          <a:xfrm>
            <a:off x="566928" y="960120"/>
            <a:ext cx="7315200" cy="914400"/>
          </a:xfrm>
          <a:prstGeom prst="rect">
            <a:avLst/>
          </a:prstGeom>
          <a:noFill/>
        </p:spPr>
        <p:txBody>
          <a:bodyPr wrap="square" lIns="0" tIns="0" rIns="0" bIns="0" anchor="t">
            <a:spAutoFit/>
          </a:bodyPr>
          <a:lstStyle/>
          <a:p>
            <a:pPr algn="l"/>
            <a:r>
              <a:rPr sz="3400" b="1" i="0">
                <a:solidFill>
                  <a:srgbClr val="23262B"/>
                </a:solidFill>
                <a:latin typeface="Century Schoolbook"/>
              </a:rPr>
              <a:t>One-tap rental flow</a:t>
            </a:r>
          </a:p>
        </p:txBody>
      </p:sp>
      <p:sp>
        <p:nvSpPr>
          <p:cNvPr id="8" name="Rounded Rectangle 7"/>
          <p:cNvSpPr/>
          <p:nvPr/>
        </p:nvSpPr>
        <p:spPr>
          <a:xfrm>
            <a:off x="640080" y="2240280"/>
            <a:ext cx="5349240" cy="36576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2514600"/>
            <a:ext cx="1554480" cy="457200"/>
          </a:xfrm>
          <a:prstGeom prst="roundRect">
            <a:avLst>
              <a:gd name="adj" fmla="val 15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514600"/>
            <a:ext cx="1554480" cy="457200"/>
          </a:xfrm>
          <a:prstGeom prst="rect">
            <a:avLst/>
          </a:prstGeom>
          <a:noFill/>
        </p:spPr>
        <p:txBody>
          <a:bodyPr wrap="square" lIns="0" tIns="0" rIns="0" bIns="0" anchor="ctr">
            <a:spAutoFit/>
          </a:bodyPr>
          <a:lstStyle/>
          <a:p>
            <a:pPr algn="ctr"/>
            <a:r>
              <a:rPr sz="1200" b="1" i="0">
                <a:solidFill>
                  <a:srgbClr val="16A34A"/>
                </a:solidFill>
                <a:latin typeface="Calibri"/>
              </a:rPr>
              <a:t>CHECK IN</a:t>
            </a:r>
          </a:p>
        </p:txBody>
      </p:sp>
      <p:sp>
        <p:nvSpPr>
          <p:cNvPr id="11" name="TextBox 10"/>
          <p:cNvSpPr txBox="1"/>
          <p:nvPr/>
        </p:nvSpPr>
        <p:spPr>
          <a:xfrm>
            <a:off x="960119" y="3200400"/>
            <a:ext cx="274320" cy="365760"/>
          </a:xfrm>
          <a:prstGeom prst="rect">
            <a:avLst/>
          </a:prstGeom>
          <a:noFill/>
        </p:spPr>
        <p:txBody>
          <a:bodyPr wrap="square" lIns="0" tIns="0" rIns="0" bIns="0" anchor="t">
            <a:spAutoFit/>
          </a:bodyPr>
          <a:lstStyle/>
          <a:p>
            <a:pPr algn="l"/>
            <a:r>
              <a:rPr sz="1400" b="1" i="0">
                <a:solidFill>
                  <a:srgbClr val="FFCD11"/>
                </a:solidFill>
                <a:latin typeface="Calibri"/>
              </a:rPr>
              <a:t>—</a:t>
            </a:r>
          </a:p>
        </p:txBody>
      </p:sp>
      <p:sp>
        <p:nvSpPr>
          <p:cNvPr id="12" name="TextBox 11"/>
          <p:cNvSpPr txBox="1"/>
          <p:nvPr/>
        </p:nvSpPr>
        <p:spPr>
          <a:xfrm>
            <a:off x="1280160" y="3200400"/>
            <a:ext cx="4480560" cy="365760"/>
          </a:xfrm>
          <a:prstGeom prst="rect">
            <a:avLst/>
          </a:prstGeom>
          <a:noFill/>
        </p:spPr>
        <p:txBody>
          <a:bodyPr wrap="square" lIns="0" tIns="0" rIns="0" bIns="0" anchor="ctr">
            <a:spAutoFit/>
          </a:bodyPr>
          <a:lstStyle/>
          <a:p>
            <a:pPr algn="l"/>
            <a:r>
              <a:rPr sz="1450" b="0" i="0">
                <a:solidFill>
                  <a:srgbClr val="23262B"/>
                </a:solidFill>
                <a:latin typeface="Calibri"/>
              </a:rPr>
              <a:t>Select equipment</a:t>
            </a:r>
          </a:p>
        </p:txBody>
      </p:sp>
      <p:sp>
        <p:nvSpPr>
          <p:cNvPr id="13" name="TextBox 12"/>
          <p:cNvSpPr txBox="1"/>
          <p:nvPr/>
        </p:nvSpPr>
        <p:spPr>
          <a:xfrm>
            <a:off x="960119" y="3749039"/>
            <a:ext cx="274320" cy="365760"/>
          </a:xfrm>
          <a:prstGeom prst="rect">
            <a:avLst/>
          </a:prstGeom>
          <a:noFill/>
        </p:spPr>
        <p:txBody>
          <a:bodyPr wrap="square" lIns="0" tIns="0" rIns="0" bIns="0" anchor="t">
            <a:spAutoFit/>
          </a:bodyPr>
          <a:lstStyle/>
          <a:p>
            <a:pPr algn="l"/>
            <a:r>
              <a:rPr sz="1400" b="1" i="0">
                <a:solidFill>
                  <a:srgbClr val="FFCD11"/>
                </a:solidFill>
                <a:latin typeface="Calibri"/>
              </a:rPr>
              <a:t>—</a:t>
            </a:r>
          </a:p>
        </p:txBody>
      </p:sp>
      <p:sp>
        <p:nvSpPr>
          <p:cNvPr id="14" name="TextBox 13"/>
          <p:cNvSpPr txBox="1"/>
          <p:nvPr/>
        </p:nvSpPr>
        <p:spPr>
          <a:xfrm>
            <a:off x="1280160" y="3749039"/>
            <a:ext cx="4480560" cy="365760"/>
          </a:xfrm>
          <a:prstGeom prst="rect">
            <a:avLst/>
          </a:prstGeom>
          <a:noFill/>
        </p:spPr>
        <p:txBody>
          <a:bodyPr wrap="square" lIns="0" tIns="0" rIns="0" bIns="0" anchor="ctr">
            <a:spAutoFit/>
          </a:bodyPr>
          <a:lstStyle/>
          <a:p>
            <a:pPr algn="l"/>
            <a:r>
              <a:rPr sz="1450" b="0" i="0">
                <a:solidFill>
                  <a:srgbClr val="23262B"/>
                </a:solidFill>
                <a:latin typeface="Calibri"/>
              </a:rPr>
              <a:t>Choose operator &amp; site</a:t>
            </a:r>
          </a:p>
        </p:txBody>
      </p:sp>
      <p:sp>
        <p:nvSpPr>
          <p:cNvPr id="15" name="TextBox 14"/>
          <p:cNvSpPr txBox="1"/>
          <p:nvPr/>
        </p:nvSpPr>
        <p:spPr>
          <a:xfrm>
            <a:off x="960119" y="4297680"/>
            <a:ext cx="274320" cy="365760"/>
          </a:xfrm>
          <a:prstGeom prst="rect">
            <a:avLst/>
          </a:prstGeom>
          <a:noFill/>
        </p:spPr>
        <p:txBody>
          <a:bodyPr wrap="square" lIns="0" tIns="0" rIns="0" bIns="0" anchor="t">
            <a:spAutoFit/>
          </a:bodyPr>
          <a:lstStyle/>
          <a:p>
            <a:pPr algn="l"/>
            <a:r>
              <a:rPr sz="1400" b="1" i="0">
                <a:solidFill>
                  <a:srgbClr val="FFCD11"/>
                </a:solidFill>
                <a:latin typeface="Calibri"/>
              </a:rPr>
              <a:t>—</a:t>
            </a:r>
          </a:p>
        </p:txBody>
      </p:sp>
      <p:sp>
        <p:nvSpPr>
          <p:cNvPr id="16" name="TextBox 15"/>
          <p:cNvSpPr txBox="1"/>
          <p:nvPr/>
        </p:nvSpPr>
        <p:spPr>
          <a:xfrm>
            <a:off x="1280160" y="4297680"/>
            <a:ext cx="4480560" cy="365760"/>
          </a:xfrm>
          <a:prstGeom prst="rect">
            <a:avLst/>
          </a:prstGeom>
          <a:noFill/>
        </p:spPr>
        <p:txBody>
          <a:bodyPr wrap="square" lIns="0" tIns="0" rIns="0" bIns="0" anchor="ctr">
            <a:spAutoFit/>
          </a:bodyPr>
          <a:lstStyle/>
          <a:p>
            <a:pPr algn="l"/>
            <a:r>
              <a:rPr sz="1450" b="0" i="0">
                <a:solidFill>
                  <a:srgbClr val="23262B"/>
                </a:solidFill>
                <a:latin typeface="Calibri"/>
              </a:rPr>
              <a:t>Auto-estimated rental days</a:t>
            </a:r>
          </a:p>
        </p:txBody>
      </p:sp>
      <p:sp>
        <p:nvSpPr>
          <p:cNvPr id="17" name="TextBox 16"/>
          <p:cNvSpPr txBox="1"/>
          <p:nvPr/>
        </p:nvSpPr>
        <p:spPr>
          <a:xfrm>
            <a:off x="960119" y="4846320"/>
            <a:ext cx="274320" cy="365760"/>
          </a:xfrm>
          <a:prstGeom prst="rect">
            <a:avLst/>
          </a:prstGeom>
          <a:noFill/>
        </p:spPr>
        <p:txBody>
          <a:bodyPr wrap="square" lIns="0" tIns="0" rIns="0" bIns="0" anchor="t">
            <a:spAutoFit/>
          </a:bodyPr>
          <a:lstStyle/>
          <a:p>
            <a:pPr algn="l"/>
            <a:r>
              <a:rPr sz="1400" b="1" i="0">
                <a:solidFill>
                  <a:srgbClr val="FFCD11"/>
                </a:solidFill>
                <a:latin typeface="Calibri"/>
              </a:rPr>
              <a:t>—</a:t>
            </a:r>
          </a:p>
        </p:txBody>
      </p:sp>
      <p:sp>
        <p:nvSpPr>
          <p:cNvPr id="18" name="TextBox 17"/>
          <p:cNvSpPr txBox="1"/>
          <p:nvPr/>
        </p:nvSpPr>
        <p:spPr>
          <a:xfrm>
            <a:off x="1280160" y="4846320"/>
            <a:ext cx="4480560" cy="365760"/>
          </a:xfrm>
          <a:prstGeom prst="rect">
            <a:avLst/>
          </a:prstGeom>
          <a:noFill/>
        </p:spPr>
        <p:txBody>
          <a:bodyPr wrap="square" lIns="0" tIns="0" rIns="0" bIns="0" anchor="ctr">
            <a:spAutoFit/>
          </a:bodyPr>
          <a:lstStyle/>
          <a:p>
            <a:pPr algn="l"/>
            <a:r>
              <a:rPr sz="1450" b="0" i="0">
                <a:solidFill>
                  <a:srgbClr val="23262B"/>
                </a:solidFill>
                <a:latin typeface="Calibri"/>
              </a:rPr>
              <a:t>Submit → status: Active Rental</a:t>
            </a:r>
          </a:p>
        </p:txBody>
      </p:sp>
      <p:sp>
        <p:nvSpPr>
          <p:cNvPr id="19" name="Rounded Rectangle 18"/>
          <p:cNvSpPr/>
          <p:nvPr/>
        </p:nvSpPr>
        <p:spPr>
          <a:xfrm>
            <a:off x="6217920" y="2240280"/>
            <a:ext cx="5349240" cy="36576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492240" y="2514600"/>
            <a:ext cx="1737360" cy="457200"/>
          </a:xfrm>
          <a:prstGeom prst="roundRect">
            <a:avLst>
              <a:gd name="adj" fmla="val 15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2514600"/>
            <a:ext cx="1737360" cy="457200"/>
          </a:xfrm>
          <a:prstGeom prst="rect">
            <a:avLst/>
          </a:prstGeom>
          <a:noFill/>
        </p:spPr>
        <p:txBody>
          <a:bodyPr wrap="square" lIns="0" tIns="0" rIns="0" bIns="0" anchor="ctr">
            <a:spAutoFit/>
          </a:bodyPr>
          <a:lstStyle/>
          <a:p>
            <a:pPr algn="ctr"/>
            <a:r>
              <a:rPr sz="1200" b="1" i="0">
                <a:solidFill>
                  <a:srgbClr val="DC2626"/>
                </a:solidFill>
                <a:latin typeface="Calibri"/>
              </a:rPr>
              <a:t>CHECK OUT</a:t>
            </a:r>
          </a:p>
        </p:txBody>
      </p:sp>
      <p:sp>
        <p:nvSpPr>
          <p:cNvPr id="22" name="TextBox 21"/>
          <p:cNvSpPr txBox="1"/>
          <p:nvPr/>
        </p:nvSpPr>
        <p:spPr>
          <a:xfrm>
            <a:off x="6537959" y="3200400"/>
            <a:ext cx="274320" cy="365760"/>
          </a:xfrm>
          <a:prstGeom prst="rect">
            <a:avLst/>
          </a:prstGeom>
          <a:noFill/>
        </p:spPr>
        <p:txBody>
          <a:bodyPr wrap="square" lIns="0" tIns="0" rIns="0" bIns="0" anchor="t">
            <a:spAutoFit/>
          </a:bodyPr>
          <a:lstStyle/>
          <a:p>
            <a:pPr algn="l"/>
            <a:r>
              <a:rPr sz="1400" b="1" i="0">
                <a:solidFill>
                  <a:srgbClr val="FFCD11"/>
                </a:solidFill>
                <a:latin typeface="Calibri"/>
              </a:rPr>
              <a:t>—</a:t>
            </a:r>
          </a:p>
        </p:txBody>
      </p:sp>
      <p:sp>
        <p:nvSpPr>
          <p:cNvPr id="23" name="TextBox 22"/>
          <p:cNvSpPr txBox="1"/>
          <p:nvPr/>
        </p:nvSpPr>
        <p:spPr>
          <a:xfrm>
            <a:off x="6858000" y="3200400"/>
            <a:ext cx="4480560" cy="365760"/>
          </a:xfrm>
          <a:prstGeom prst="rect">
            <a:avLst/>
          </a:prstGeom>
          <a:noFill/>
        </p:spPr>
        <p:txBody>
          <a:bodyPr wrap="square" lIns="0" tIns="0" rIns="0" bIns="0" anchor="ctr">
            <a:spAutoFit/>
          </a:bodyPr>
          <a:lstStyle/>
          <a:p>
            <a:pPr algn="l"/>
            <a:r>
              <a:rPr sz="1450" b="0" i="0">
                <a:solidFill>
                  <a:srgbClr val="23262B"/>
                </a:solidFill>
                <a:latin typeface="Calibri"/>
              </a:rPr>
              <a:t>Pick an open rental</a:t>
            </a:r>
          </a:p>
        </p:txBody>
      </p:sp>
      <p:sp>
        <p:nvSpPr>
          <p:cNvPr id="24" name="TextBox 23"/>
          <p:cNvSpPr txBox="1"/>
          <p:nvPr/>
        </p:nvSpPr>
        <p:spPr>
          <a:xfrm>
            <a:off x="6537959" y="3749039"/>
            <a:ext cx="274320" cy="365760"/>
          </a:xfrm>
          <a:prstGeom prst="rect">
            <a:avLst/>
          </a:prstGeom>
          <a:noFill/>
        </p:spPr>
        <p:txBody>
          <a:bodyPr wrap="square" lIns="0" tIns="0" rIns="0" bIns="0" anchor="t">
            <a:spAutoFit/>
          </a:bodyPr>
          <a:lstStyle/>
          <a:p>
            <a:pPr algn="l"/>
            <a:r>
              <a:rPr sz="1400" b="1" i="0">
                <a:solidFill>
                  <a:srgbClr val="FFCD11"/>
                </a:solidFill>
                <a:latin typeface="Calibri"/>
              </a:rPr>
              <a:t>—</a:t>
            </a:r>
          </a:p>
        </p:txBody>
      </p:sp>
      <p:sp>
        <p:nvSpPr>
          <p:cNvPr id="25" name="TextBox 24"/>
          <p:cNvSpPr txBox="1"/>
          <p:nvPr/>
        </p:nvSpPr>
        <p:spPr>
          <a:xfrm>
            <a:off x="6858000" y="3749039"/>
            <a:ext cx="4480560" cy="365760"/>
          </a:xfrm>
          <a:prstGeom prst="rect">
            <a:avLst/>
          </a:prstGeom>
          <a:noFill/>
        </p:spPr>
        <p:txBody>
          <a:bodyPr wrap="square" lIns="0" tIns="0" rIns="0" bIns="0" anchor="ctr">
            <a:spAutoFit/>
          </a:bodyPr>
          <a:lstStyle/>
          <a:p>
            <a:pPr algn="l"/>
            <a:r>
              <a:rPr sz="1450" b="0" i="0">
                <a:solidFill>
                  <a:srgbClr val="23262B"/>
                </a:solidFill>
                <a:latin typeface="Calibri"/>
              </a:rPr>
              <a:t>Log engine hours / day</a:t>
            </a:r>
          </a:p>
        </p:txBody>
      </p:sp>
      <p:sp>
        <p:nvSpPr>
          <p:cNvPr id="26" name="TextBox 25"/>
          <p:cNvSpPr txBox="1"/>
          <p:nvPr/>
        </p:nvSpPr>
        <p:spPr>
          <a:xfrm>
            <a:off x="6537959" y="4297680"/>
            <a:ext cx="274320" cy="365760"/>
          </a:xfrm>
          <a:prstGeom prst="rect">
            <a:avLst/>
          </a:prstGeom>
          <a:noFill/>
        </p:spPr>
        <p:txBody>
          <a:bodyPr wrap="square" lIns="0" tIns="0" rIns="0" bIns="0" anchor="t">
            <a:spAutoFit/>
          </a:bodyPr>
          <a:lstStyle/>
          <a:p>
            <a:pPr algn="l"/>
            <a:r>
              <a:rPr sz="1400" b="1" i="0">
                <a:solidFill>
                  <a:srgbClr val="FFCD11"/>
                </a:solidFill>
                <a:latin typeface="Calibri"/>
              </a:rPr>
              <a:t>—</a:t>
            </a:r>
          </a:p>
        </p:txBody>
      </p:sp>
      <p:sp>
        <p:nvSpPr>
          <p:cNvPr id="27" name="TextBox 26"/>
          <p:cNvSpPr txBox="1"/>
          <p:nvPr/>
        </p:nvSpPr>
        <p:spPr>
          <a:xfrm>
            <a:off x="6858000" y="4297680"/>
            <a:ext cx="4480560" cy="365760"/>
          </a:xfrm>
          <a:prstGeom prst="rect">
            <a:avLst/>
          </a:prstGeom>
          <a:noFill/>
        </p:spPr>
        <p:txBody>
          <a:bodyPr wrap="square" lIns="0" tIns="0" rIns="0" bIns="0" anchor="ctr">
            <a:spAutoFit/>
          </a:bodyPr>
          <a:lstStyle/>
          <a:p>
            <a:pPr algn="l"/>
            <a:r>
              <a:rPr sz="1450" b="0" i="0">
                <a:solidFill>
                  <a:srgbClr val="23262B"/>
                </a:solidFill>
                <a:latin typeface="Calibri"/>
              </a:rPr>
              <a:t>Log idle hours / day</a:t>
            </a:r>
          </a:p>
        </p:txBody>
      </p:sp>
      <p:sp>
        <p:nvSpPr>
          <p:cNvPr id="28" name="TextBox 27"/>
          <p:cNvSpPr txBox="1"/>
          <p:nvPr/>
        </p:nvSpPr>
        <p:spPr>
          <a:xfrm>
            <a:off x="6537959" y="4846320"/>
            <a:ext cx="274320" cy="365760"/>
          </a:xfrm>
          <a:prstGeom prst="rect">
            <a:avLst/>
          </a:prstGeom>
          <a:noFill/>
        </p:spPr>
        <p:txBody>
          <a:bodyPr wrap="square" lIns="0" tIns="0" rIns="0" bIns="0" anchor="t">
            <a:spAutoFit/>
          </a:bodyPr>
          <a:lstStyle/>
          <a:p>
            <a:pPr algn="l"/>
            <a:r>
              <a:rPr sz="1400" b="1" i="0">
                <a:solidFill>
                  <a:srgbClr val="FFCD11"/>
                </a:solidFill>
                <a:latin typeface="Calibri"/>
              </a:rPr>
              <a:t>—</a:t>
            </a:r>
          </a:p>
        </p:txBody>
      </p:sp>
      <p:sp>
        <p:nvSpPr>
          <p:cNvPr id="29" name="TextBox 28"/>
          <p:cNvSpPr txBox="1"/>
          <p:nvPr/>
        </p:nvSpPr>
        <p:spPr>
          <a:xfrm>
            <a:off x="6858000" y="4846320"/>
            <a:ext cx="4480560" cy="365760"/>
          </a:xfrm>
          <a:prstGeom prst="rect">
            <a:avLst/>
          </a:prstGeom>
          <a:noFill/>
        </p:spPr>
        <p:txBody>
          <a:bodyPr wrap="square" lIns="0" tIns="0" rIns="0" bIns="0" anchor="ctr">
            <a:spAutoFit/>
          </a:bodyPr>
          <a:lstStyle/>
          <a:p>
            <a:pPr algn="l"/>
            <a:r>
              <a:rPr sz="1450" b="0" i="0">
                <a:solidFill>
                  <a:srgbClr val="23262B"/>
                </a:solidFill>
                <a:latin typeface="Calibri"/>
              </a:rPr>
              <a:t>Submit → back to Available</a:t>
            </a:r>
          </a:p>
        </p:txBody>
      </p:sp>
      <p:sp>
        <p:nvSpPr>
          <p:cNvPr id="30" name="TextBox 29"/>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07</a:t>
            </a:r>
          </a:p>
        </p:txBody>
      </p:sp>
      <p:sp>
        <p:nvSpPr>
          <p:cNvPr id="31" name="TextBox 30"/>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PAGE · USAGE LOGGING</a:t>
            </a:r>
          </a:p>
        </p:txBody>
      </p:sp>
      <p:sp>
        <p:nvSpPr>
          <p:cNvPr id="7" name="TextBox 6"/>
          <p:cNvSpPr txBox="1"/>
          <p:nvPr/>
        </p:nvSpPr>
        <p:spPr>
          <a:xfrm>
            <a:off x="566928" y="960120"/>
            <a:ext cx="10058400" cy="914400"/>
          </a:xfrm>
          <a:prstGeom prst="rect">
            <a:avLst/>
          </a:prstGeom>
          <a:noFill/>
        </p:spPr>
        <p:txBody>
          <a:bodyPr wrap="square" lIns="0" tIns="0" rIns="0" bIns="0" anchor="t">
            <a:spAutoFit/>
          </a:bodyPr>
          <a:lstStyle/>
          <a:p>
            <a:pPr algn="l"/>
            <a:r>
              <a:rPr sz="3400" b="1" i="0">
                <a:solidFill>
                  <a:srgbClr val="23262B"/>
                </a:solidFill>
                <a:latin typeface="Century Schoolbook"/>
              </a:rPr>
              <a:t>Track how machines actually run</a:t>
            </a:r>
          </a:p>
        </p:txBody>
      </p:sp>
      <p:sp>
        <p:nvSpPr>
          <p:cNvPr id="8" name="Rounded Rectangle 7"/>
          <p:cNvSpPr/>
          <p:nvPr/>
        </p:nvSpPr>
        <p:spPr>
          <a:xfrm>
            <a:off x="640080" y="2377440"/>
            <a:ext cx="2578608" cy="33832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60119" y="2697480"/>
            <a:ext cx="777240" cy="77724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19" y="2697480"/>
            <a:ext cx="777240" cy="777240"/>
          </a:xfrm>
          <a:prstGeom prst="rect">
            <a:avLst/>
          </a:prstGeom>
          <a:noFill/>
        </p:spPr>
        <p:txBody>
          <a:bodyPr wrap="square" lIns="0" tIns="0" rIns="0" bIns="0" anchor="ctr">
            <a:spAutoFit/>
          </a:bodyPr>
          <a:lstStyle/>
          <a:p>
            <a:pPr algn="ctr"/>
            <a:r>
              <a:rPr sz="2400" b="0" i="0">
                <a:solidFill>
                  <a:srgbClr val="23262B"/>
                </a:solidFill>
                <a:latin typeface="Calibri"/>
              </a:rPr>
              <a:t>🏗</a:t>
            </a:r>
          </a:p>
        </p:txBody>
      </p:sp>
      <p:sp>
        <p:nvSpPr>
          <p:cNvPr id="11" name="TextBox 10"/>
          <p:cNvSpPr txBox="1"/>
          <p:nvPr/>
        </p:nvSpPr>
        <p:spPr>
          <a:xfrm>
            <a:off x="914400" y="3657600"/>
            <a:ext cx="2148840" cy="640080"/>
          </a:xfrm>
          <a:prstGeom prst="rect">
            <a:avLst/>
          </a:prstGeom>
          <a:noFill/>
        </p:spPr>
        <p:txBody>
          <a:bodyPr wrap="square" lIns="0" tIns="0" rIns="0" bIns="0" anchor="t">
            <a:spAutoFit/>
          </a:bodyPr>
          <a:lstStyle/>
          <a:p>
            <a:pPr algn="l"/>
            <a:r>
              <a:rPr sz="1600" b="1" i="0">
                <a:solidFill>
                  <a:srgbClr val="23262B"/>
                </a:solidFill>
                <a:latin typeface="Century Schoolbook"/>
              </a:rPr>
              <a:t>Usage Per Site</a:t>
            </a:r>
          </a:p>
        </p:txBody>
      </p:sp>
      <p:sp>
        <p:nvSpPr>
          <p:cNvPr id="12" name="TextBox 11"/>
          <p:cNvSpPr txBox="1"/>
          <p:nvPr/>
        </p:nvSpPr>
        <p:spPr>
          <a:xfrm>
            <a:off x="914400" y="4343400"/>
            <a:ext cx="2148840" cy="1097280"/>
          </a:xfrm>
          <a:prstGeom prst="rect">
            <a:avLst/>
          </a:prstGeom>
          <a:noFill/>
        </p:spPr>
        <p:txBody>
          <a:bodyPr wrap="square" lIns="0" tIns="0" rIns="0" bIns="0" anchor="t">
            <a:spAutoFit/>
          </a:bodyPr>
          <a:lstStyle/>
          <a:p>
            <a:pPr algn="l"/>
            <a:r>
              <a:rPr sz="1300" b="0" i="0">
                <a:solidFill>
                  <a:srgbClr val="5B5F66"/>
                </a:solidFill>
                <a:latin typeface="Calibri"/>
              </a:rPr>
              <a:t>Activity aggregated by location.</a:t>
            </a:r>
          </a:p>
        </p:txBody>
      </p:sp>
      <p:sp>
        <p:nvSpPr>
          <p:cNvPr id="13" name="Rounded Rectangle 12"/>
          <p:cNvSpPr/>
          <p:nvPr/>
        </p:nvSpPr>
        <p:spPr>
          <a:xfrm>
            <a:off x="3438144" y="2377440"/>
            <a:ext cx="2578608" cy="33832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758183" y="2697480"/>
            <a:ext cx="777240" cy="77724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58183" y="2697480"/>
            <a:ext cx="777240" cy="777240"/>
          </a:xfrm>
          <a:prstGeom prst="rect">
            <a:avLst/>
          </a:prstGeom>
          <a:noFill/>
        </p:spPr>
        <p:txBody>
          <a:bodyPr wrap="square" lIns="0" tIns="0" rIns="0" bIns="0" anchor="ctr">
            <a:spAutoFit/>
          </a:bodyPr>
          <a:lstStyle/>
          <a:p>
            <a:pPr algn="ctr"/>
            <a:r>
              <a:rPr sz="2400" b="0" i="0">
                <a:solidFill>
                  <a:srgbClr val="23262B"/>
                </a:solidFill>
                <a:latin typeface="Calibri"/>
              </a:rPr>
              <a:t>📋</a:t>
            </a:r>
          </a:p>
        </p:txBody>
      </p:sp>
      <p:sp>
        <p:nvSpPr>
          <p:cNvPr id="16" name="TextBox 15"/>
          <p:cNvSpPr txBox="1"/>
          <p:nvPr/>
        </p:nvSpPr>
        <p:spPr>
          <a:xfrm>
            <a:off x="3712463" y="3657600"/>
            <a:ext cx="2148840" cy="640080"/>
          </a:xfrm>
          <a:prstGeom prst="rect">
            <a:avLst/>
          </a:prstGeom>
          <a:noFill/>
        </p:spPr>
        <p:txBody>
          <a:bodyPr wrap="square" lIns="0" tIns="0" rIns="0" bIns="0" anchor="t">
            <a:spAutoFit/>
          </a:bodyPr>
          <a:lstStyle/>
          <a:p>
            <a:pPr algn="l"/>
            <a:r>
              <a:rPr sz="1600" b="1" i="0">
                <a:solidFill>
                  <a:srgbClr val="23262B"/>
                </a:solidFill>
                <a:latin typeface="Century Schoolbook"/>
              </a:rPr>
              <a:t>Detailed Usage Log</a:t>
            </a:r>
          </a:p>
        </p:txBody>
      </p:sp>
      <p:sp>
        <p:nvSpPr>
          <p:cNvPr id="17" name="TextBox 16"/>
          <p:cNvSpPr txBox="1"/>
          <p:nvPr/>
        </p:nvSpPr>
        <p:spPr>
          <a:xfrm>
            <a:off x="3712463" y="4343400"/>
            <a:ext cx="2148840" cy="1097280"/>
          </a:xfrm>
          <a:prstGeom prst="rect">
            <a:avLst/>
          </a:prstGeom>
          <a:noFill/>
        </p:spPr>
        <p:txBody>
          <a:bodyPr wrap="square" lIns="0" tIns="0" rIns="0" bIns="0" anchor="t">
            <a:spAutoFit/>
          </a:bodyPr>
          <a:lstStyle/>
          <a:p>
            <a:pPr algn="l"/>
            <a:r>
              <a:rPr sz="1300" b="0" i="0">
                <a:solidFill>
                  <a:srgbClr val="5B5F66"/>
                </a:solidFill>
                <a:latin typeface="Calibri"/>
              </a:rPr>
              <a:t>Every completed rental record.</a:t>
            </a:r>
          </a:p>
        </p:txBody>
      </p:sp>
      <p:sp>
        <p:nvSpPr>
          <p:cNvPr id="18" name="Rounded Rectangle 17"/>
          <p:cNvSpPr/>
          <p:nvPr/>
        </p:nvSpPr>
        <p:spPr>
          <a:xfrm>
            <a:off x="6236208" y="2377440"/>
            <a:ext cx="2578608" cy="33832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556248" y="2697480"/>
            <a:ext cx="777240" cy="77724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56248" y="2697480"/>
            <a:ext cx="777240" cy="777240"/>
          </a:xfrm>
          <a:prstGeom prst="rect">
            <a:avLst/>
          </a:prstGeom>
          <a:noFill/>
        </p:spPr>
        <p:txBody>
          <a:bodyPr wrap="square" lIns="0" tIns="0" rIns="0" bIns="0" anchor="ctr">
            <a:spAutoFit/>
          </a:bodyPr>
          <a:lstStyle/>
          <a:p>
            <a:pPr algn="ctr"/>
            <a:r>
              <a:rPr sz="2400" b="0" i="0">
                <a:solidFill>
                  <a:srgbClr val="23262B"/>
                </a:solidFill>
                <a:latin typeface="Calibri"/>
              </a:rPr>
              <a:t>⏸</a:t>
            </a:r>
          </a:p>
        </p:txBody>
      </p:sp>
      <p:sp>
        <p:nvSpPr>
          <p:cNvPr id="21" name="TextBox 20"/>
          <p:cNvSpPr txBox="1"/>
          <p:nvPr/>
        </p:nvSpPr>
        <p:spPr>
          <a:xfrm>
            <a:off x="6510528" y="3657600"/>
            <a:ext cx="2148840" cy="640080"/>
          </a:xfrm>
          <a:prstGeom prst="rect">
            <a:avLst/>
          </a:prstGeom>
          <a:noFill/>
        </p:spPr>
        <p:txBody>
          <a:bodyPr wrap="square" lIns="0" tIns="0" rIns="0" bIns="0" anchor="t">
            <a:spAutoFit/>
          </a:bodyPr>
          <a:lstStyle/>
          <a:p>
            <a:pPr algn="l"/>
            <a:r>
              <a:rPr sz="1600" b="1" i="0">
                <a:solidFill>
                  <a:srgbClr val="23262B"/>
                </a:solidFill>
                <a:latin typeface="Century Schoolbook"/>
              </a:rPr>
              <a:t>Downtime Analysis</a:t>
            </a:r>
          </a:p>
        </p:txBody>
      </p:sp>
      <p:sp>
        <p:nvSpPr>
          <p:cNvPr id="22" name="TextBox 21"/>
          <p:cNvSpPr txBox="1"/>
          <p:nvPr/>
        </p:nvSpPr>
        <p:spPr>
          <a:xfrm>
            <a:off x="6510528" y="4343400"/>
            <a:ext cx="2148840" cy="1097280"/>
          </a:xfrm>
          <a:prstGeom prst="rect">
            <a:avLst/>
          </a:prstGeom>
          <a:noFill/>
        </p:spPr>
        <p:txBody>
          <a:bodyPr wrap="square" lIns="0" tIns="0" rIns="0" bIns="0" anchor="t">
            <a:spAutoFit/>
          </a:bodyPr>
          <a:lstStyle/>
          <a:p>
            <a:pPr algn="l"/>
            <a:r>
              <a:rPr sz="1300" b="0" i="0">
                <a:solidFill>
                  <a:srgbClr val="5B5F66"/>
                </a:solidFill>
                <a:latin typeface="Calibri"/>
              </a:rPr>
              <a:t>Idle hours vs engine hours.</a:t>
            </a:r>
          </a:p>
        </p:txBody>
      </p:sp>
      <p:sp>
        <p:nvSpPr>
          <p:cNvPr id="23" name="Rounded Rectangle 22"/>
          <p:cNvSpPr/>
          <p:nvPr/>
        </p:nvSpPr>
        <p:spPr>
          <a:xfrm>
            <a:off x="9034272" y="2377440"/>
            <a:ext cx="2578608" cy="338328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54311" y="2697480"/>
            <a:ext cx="777240" cy="77724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54311" y="2697480"/>
            <a:ext cx="777240" cy="777240"/>
          </a:xfrm>
          <a:prstGeom prst="rect">
            <a:avLst/>
          </a:prstGeom>
          <a:noFill/>
        </p:spPr>
        <p:txBody>
          <a:bodyPr wrap="square" lIns="0" tIns="0" rIns="0" bIns="0" anchor="ctr">
            <a:spAutoFit/>
          </a:bodyPr>
          <a:lstStyle/>
          <a:p>
            <a:pPr algn="ctr"/>
            <a:r>
              <a:rPr sz="2400" b="0" i="0">
                <a:solidFill>
                  <a:srgbClr val="23262B"/>
                </a:solidFill>
                <a:latin typeface="Calibri"/>
              </a:rPr>
              <a:t>⛽</a:t>
            </a:r>
          </a:p>
        </p:txBody>
      </p:sp>
      <p:sp>
        <p:nvSpPr>
          <p:cNvPr id="26" name="TextBox 25"/>
          <p:cNvSpPr txBox="1"/>
          <p:nvPr/>
        </p:nvSpPr>
        <p:spPr>
          <a:xfrm>
            <a:off x="9308592" y="3657600"/>
            <a:ext cx="2148840" cy="640080"/>
          </a:xfrm>
          <a:prstGeom prst="rect">
            <a:avLst/>
          </a:prstGeom>
          <a:noFill/>
        </p:spPr>
        <p:txBody>
          <a:bodyPr wrap="square" lIns="0" tIns="0" rIns="0" bIns="0" anchor="t">
            <a:spAutoFit/>
          </a:bodyPr>
          <a:lstStyle/>
          <a:p>
            <a:pPr algn="l"/>
            <a:r>
              <a:rPr sz="1600" b="1" i="0">
                <a:solidFill>
                  <a:srgbClr val="23262B"/>
                </a:solidFill>
                <a:latin typeface="Century Schoolbook"/>
              </a:rPr>
              <a:t>Fuel Consumption</a:t>
            </a:r>
          </a:p>
        </p:txBody>
      </p:sp>
      <p:sp>
        <p:nvSpPr>
          <p:cNvPr id="27" name="TextBox 26"/>
          <p:cNvSpPr txBox="1"/>
          <p:nvPr/>
        </p:nvSpPr>
        <p:spPr>
          <a:xfrm>
            <a:off x="9308592" y="4343400"/>
            <a:ext cx="2148840" cy="1097280"/>
          </a:xfrm>
          <a:prstGeom prst="rect">
            <a:avLst/>
          </a:prstGeom>
          <a:noFill/>
        </p:spPr>
        <p:txBody>
          <a:bodyPr wrap="square" lIns="0" tIns="0" rIns="0" bIns="0" anchor="t">
            <a:spAutoFit/>
          </a:bodyPr>
          <a:lstStyle/>
          <a:p>
            <a:pPr algn="l"/>
            <a:r>
              <a:rPr sz="1300" b="0" i="0">
                <a:solidFill>
                  <a:srgbClr val="5B5F66"/>
                </a:solidFill>
                <a:latin typeface="Calibri"/>
              </a:rPr>
              <a:t>Litres per equipment.</a:t>
            </a:r>
          </a:p>
        </p:txBody>
      </p:sp>
      <p:sp>
        <p:nvSpPr>
          <p:cNvPr id="28" name="TextBox 27"/>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08</a:t>
            </a:r>
          </a:p>
        </p:txBody>
      </p:sp>
      <p:sp>
        <p:nvSpPr>
          <p:cNvPr id="29" name="TextBox 28"/>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PAGE · ALERTS &amp; REMINDERS</a:t>
            </a:r>
          </a:p>
        </p:txBody>
      </p:sp>
      <p:sp>
        <p:nvSpPr>
          <p:cNvPr id="7" name="TextBox 6"/>
          <p:cNvSpPr txBox="1"/>
          <p:nvPr/>
        </p:nvSpPr>
        <p:spPr>
          <a:xfrm>
            <a:off x="566928" y="960120"/>
            <a:ext cx="7315200" cy="914400"/>
          </a:xfrm>
          <a:prstGeom prst="rect">
            <a:avLst/>
          </a:prstGeom>
          <a:noFill/>
        </p:spPr>
        <p:txBody>
          <a:bodyPr wrap="square" lIns="0" tIns="0" rIns="0" bIns="0" anchor="t">
            <a:spAutoFit/>
          </a:bodyPr>
          <a:lstStyle/>
          <a:p>
            <a:pPr algn="l"/>
            <a:r>
              <a:rPr sz="3400" b="1" i="0">
                <a:solidFill>
                  <a:srgbClr val="23262B"/>
                </a:solidFill>
                <a:latin typeface="Century Schoolbook"/>
              </a:rPr>
              <a:t>Never miss a return</a:t>
            </a:r>
          </a:p>
        </p:txBody>
      </p:sp>
      <p:sp>
        <p:nvSpPr>
          <p:cNvPr id="8" name="TextBox 7"/>
          <p:cNvSpPr txBox="1"/>
          <p:nvPr/>
        </p:nvSpPr>
        <p:spPr>
          <a:xfrm>
            <a:off x="640080" y="2103120"/>
            <a:ext cx="4846320" cy="914400"/>
          </a:xfrm>
          <a:prstGeom prst="rect">
            <a:avLst/>
          </a:prstGeom>
          <a:noFill/>
        </p:spPr>
        <p:txBody>
          <a:bodyPr wrap="square" lIns="0" tIns="0" rIns="0" bIns="0" anchor="t">
            <a:spAutoFit/>
          </a:bodyPr>
          <a:lstStyle/>
          <a:p>
            <a:pPr algn="l"/>
            <a:r>
              <a:rPr sz="1500" b="0" i="0">
                <a:solidFill>
                  <a:srgbClr val="5B5F66"/>
                </a:solidFill>
                <a:latin typeface="Calibri"/>
              </a:rPr>
              <a:t>Overdue rentals are surfaced automatically as severity-ranked alert cards you can filter.</a:t>
            </a:r>
          </a:p>
        </p:txBody>
      </p:sp>
      <p:sp>
        <p:nvSpPr>
          <p:cNvPr id="9" name="Oval 8"/>
          <p:cNvSpPr/>
          <p:nvPr/>
        </p:nvSpPr>
        <p:spPr>
          <a:xfrm>
            <a:off x="685800" y="3108960"/>
            <a:ext cx="457200" cy="45720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3108960"/>
            <a:ext cx="457200" cy="457200"/>
          </a:xfrm>
          <a:prstGeom prst="rect">
            <a:avLst/>
          </a:prstGeom>
          <a:noFill/>
        </p:spPr>
        <p:txBody>
          <a:bodyPr wrap="square" lIns="0" tIns="0" rIns="0" bIns="0" anchor="ctr">
            <a:spAutoFit/>
          </a:bodyPr>
          <a:lstStyle/>
          <a:p>
            <a:pPr algn="ctr"/>
            <a:r>
              <a:rPr sz="1600" b="0" i="0">
                <a:solidFill>
                  <a:srgbClr val="23262B"/>
                </a:solidFill>
                <a:latin typeface="Calibri"/>
              </a:rPr>
              <a:t>🔴</a:t>
            </a:r>
          </a:p>
        </p:txBody>
      </p:sp>
      <p:sp>
        <p:nvSpPr>
          <p:cNvPr id="11" name="TextBox 10"/>
          <p:cNvSpPr txBox="1"/>
          <p:nvPr/>
        </p:nvSpPr>
        <p:spPr>
          <a:xfrm>
            <a:off x="1280160" y="3108960"/>
            <a:ext cx="4206240" cy="457200"/>
          </a:xfrm>
          <a:prstGeom prst="rect">
            <a:avLst/>
          </a:prstGeom>
          <a:noFill/>
        </p:spPr>
        <p:txBody>
          <a:bodyPr wrap="square" lIns="0" tIns="0" rIns="0" bIns="0" anchor="ctr">
            <a:spAutoFit/>
          </a:bodyPr>
          <a:lstStyle/>
          <a:p>
            <a:pPr algn="l"/>
            <a:r>
              <a:rPr sz="1500" b="1" i="0">
                <a:solidFill>
                  <a:srgbClr val="23262B"/>
                </a:solidFill>
                <a:latin typeface="Calibri"/>
              </a:rPr>
              <a:t>Overdue rental detection</a:t>
            </a:r>
          </a:p>
        </p:txBody>
      </p:sp>
      <p:sp>
        <p:nvSpPr>
          <p:cNvPr id="12" name="Oval 11"/>
          <p:cNvSpPr/>
          <p:nvPr/>
        </p:nvSpPr>
        <p:spPr>
          <a:xfrm>
            <a:off x="685800" y="3749039"/>
            <a:ext cx="457200" cy="45720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749039"/>
            <a:ext cx="457200" cy="457200"/>
          </a:xfrm>
          <a:prstGeom prst="rect">
            <a:avLst/>
          </a:prstGeom>
          <a:noFill/>
        </p:spPr>
        <p:txBody>
          <a:bodyPr wrap="square" lIns="0" tIns="0" rIns="0" bIns="0" anchor="ctr">
            <a:spAutoFit/>
          </a:bodyPr>
          <a:lstStyle/>
          <a:p>
            <a:pPr algn="ctr"/>
            <a:r>
              <a:rPr sz="1600" b="0" i="0">
                <a:solidFill>
                  <a:srgbClr val="23262B"/>
                </a:solidFill>
                <a:latin typeface="Calibri"/>
              </a:rPr>
              <a:t>🎚</a:t>
            </a:r>
          </a:p>
        </p:txBody>
      </p:sp>
      <p:sp>
        <p:nvSpPr>
          <p:cNvPr id="14" name="TextBox 13"/>
          <p:cNvSpPr txBox="1"/>
          <p:nvPr/>
        </p:nvSpPr>
        <p:spPr>
          <a:xfrm>
            <a:off x="1280160" y="3749039"/>
            <a:ext cx="4206240" cy="457200"/>
          </a:xfrm>
          <a:prstGeom prst="rect">
            <a:avLst/>
          </a:prstGeom>
          <a:noFill/>
        </p:spPr>
        <p:txBody>
          <a:bodyPr wrap="square" lIns="0" tIns="0" rIns="0" bIns="0" anchor="ctr">
            <a:spAutoFit/>
          </a:bodyPr>
          <a:lstStyle/>
          <a:p>
            <a:pPr algn="l"/>
            <a:r>
              <a:rPr sz="1500" b="1" i="0">
                <a:solidFill>
                  <a:srgbClr val="23262B"/>
                </a:solidFill>
                <a:latin typeface="Calibri"/>
              </a:rPr>
              <a:t>Filter by severity</a:t>
            </a:r>
          </a:p>
        </p:txBody>
      </p:sp>
      <p:sp>
        <p:nvSpPr>
          <p:cNvPr id="15" name="Oval 14"/>
          <p:cNvSpPr/>
          <p:nvPr/>
        </p:nvSpPr>
        <p:spPr>
          <a:xfrm>
            <a:off x="685800" y="4389120"/>
            <a:ext cx="457200" cy="45720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389120"/>
            <a:ext cx="457200" cy="457200"/>
          </a:xfrm>
          <a:prstGeom prst="rect">
            <a:avLst/>
          </a:prstGeom>
          <a:noFill/>
        </p:spPr>
        <p:txBody>
          <a:bodyPr wrap="square" lIns="0" tIns="0" rIns="0" bIns="0" anchor="ctr">
            <a:spAutoFit/>
          </a:bodyPr>
          <a:lstStyle/>
          <a:p>
            <a:pPr algn="ctr"/>
            <a:r>
              <a:rPr sz="1600" b="0" i="0">
                <a:solidFill>
                  <a:srgbClr val="23262B"/>
                </a:solidFill>
                <a:latin typeface="Calibri"/>
              </a:rPr>
              <a:t>🗂</a:t>
            </a:r>
          </a:p>
        </p:txBody>
      </p:sp>
      <p:sp>
        <p:nvSpPr>
          <p:cNvPr id="17" name="TextBox 16"/>
          <p:cNvSpPr txBox="1"/>
          <p:nvPr/>
        </p:nvSpPr>
        <p:spPr>
          <a:xfrm>
            <a:off x="1280160" y="4389120"/>
            <a:ext cx="4206240" cy="457200"/>
          </a:xfrm>
          <a:prstGeom prst="rect">
            <a:avLst/>
          </a:prstGeom>
          <a:noFill/>
        </p:spPr>
        <p:txBody>
          <a:bodyPr wrap="square" lIns="0" tIns="0" rIns="0" bIns="0" anchor="ctr">
            <a:spAutoFit/>
          </a:bodyPr>
          <a:lstStyle/>
          <a:p>
            <a:pPr algn="l"/>
            <a:r>
              <a:rPr sz="1500" b="1" i="0">
                <a:solidFill>
                  <a:srgbClr val="23262B"/>
                </a:solidFill>
                <a:latin typeface="Calibri"/>
              </a:rPr>
              <a:t>Alert cards with full detail</a:t>
            </a:r>
          </a:p>
        </p:txBody>
      </p:sp>
      <p:sp>
        <p:nvSpPr>
          <p:cNvPr id="23" name="TextBox 22"/>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09</a:t>
            </a:r>
          </a:p>
        </p:txBody>
      </p:sp>
      <p:sp>
        <p:nvSpPr>
          <p:cNvPr id="24" name="TextBox 23"/>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PAGE · DEMAND FORECASTING</a:t>
            </a:r>
          </a:p>
        </p:txBody>
      </p:sp>
      <p:sp>
        <p:nvSpPr>
          <p:cNvPr id="7" name="TextBox 6"/>
          <p:cNvSpPr txBox="1"/>
          <p:nvPr/>
        </p:nvSpPr>
        <p:spPr>
          <a:xfrm>
            <a:off x="566928" y="960120"/>
            <a:ext cx="7315200" cy="914400"/>
          </a:xfrm>
          <a:prstGeom prst="rect">
            <a:avLst/>
          </a:prstGeom>
          <a:noFill/>
        </p:spPr>
        <p:txBody>
          <a:bodyPr wrap="square" lIns="0" tIns="0" rIns="0" bIns="0" anchor="t">
            <a:spAutoFit/>
          </a:bodyPr>
          <a:lstStyle/>
          <a:p>
            <a:pPr algn="l"/>
            <a:r>
              <a:rPr sz="3400" b="1" i="0">
                <a:solidFill>
                  <a:srgbClr val="23262B"/>
                </a:solidFill>
                <a:latin typeface="Century Schoolbook"/>
              </a:rPr>
              <a:t>Predict demand 8 weeks out</a:t>
            </a:r>
          </a:p>
        </p:txBody>
      </p:sp>
      <p:sp>
        <p:nvSpPr>
          <p:cNvPr id="8" name="TextBox 7"/>
          <p:cNvSpPr txBox="1"/>
          <p:nvPr/>
        </p:nvSpPr>
        <p:spPr>
          <a:xfrm>
            <a:off x="640080" y="2057400"/>
            <a:ext cx="4754880" cy="1188720"/>
          </a:xfrm>
          <a:prstGeom prst="rect">
            <a:avLst/>
          </a:prstGeom>
          <a:noFill/>
        </p:spPr>
        <p:txBody>
          <a:bodyPr wrap="square" lIns="0" tIns="0" rIns="0" bIns="0" anchor="t">
            <a:spAutoFit/>
          </a:bodyPr>
          <a:lstStyle/>
          <a:p>
            <a:pPr algn="l"/>
            <a:r>
              <a:rPr sz="1450" b="0" i="0">
                <a:solidFill>
                  <a:srgbClr val="5B5F66"/>
                </a:solidFill>
                <a:latin typeface="Calibri"/>
              </a:rPr>
              <a:t>Weekly working-hours demand from two saved models — a global LightGBM and per-series ARIMA — benchmarked by walk-forward validation.</a:t>
            </a:r>
          </a:p>
        </p:txBody>
      </p:sp>
      <p:sp>
        <p:nvSpPr>
          <p:cNvPr id="9" name="TextBox 8"/>
          <p:cNvSpPr txBox="1"/>
          <p:nvPr/>
        </p:nvSpPr>
        <p:spPr>
          <a:xfrm>
            <a:off x="640080" y="3383280"/>
            <a:ext cx="1463040" cy="640080"/>
          </a:xfrm>
          <a:prstGeom prst="rect">
            <a:avLst/>
          </a:prstGeom>
          <a:noFill/>
        </p:spPr>
        <p:txBody>
          <a:bodyPr wrap="square" lIns="0" tIns="0" rIns="0" bIns="0" anchor="t">
            <a:spAutoFit/>
          </a:bodyPr>
          <a:lstStyle/>
          <a:p>
            <a:pPr algn="l"/>
            <a:r>
              <a:rPr sz="3000" b="1" i="0">
                <a:solidFill>
                  <a:srgbClr val="B8940C"/>
                </a:solidFill>
                <a:latin typeface="Century Schoolbook"/>
              </a:rPr>
              <a:t>2</a:t>
            </a:r>
          </a:p>
        </p:txBody>
      </p:sp>
      <p:sp>
        <p:nvSpPr>
          <p:cNvPr id="10" name="TextBox 9"/>
          <p:cNvSpPr txBox="1"/>
          <p:nvPr/>
        </p:nvSpPr>
        <p:spPr>
          <a:xfrm>
            <a:off x="2148840" y="3493008"/>
            <a:ext cx="3200400" cy="457200"/>
          </a:xfrm>
          <a:prstGeom prst="rect">
            <a:avLst/>
          </a:prstGeom>
          <a:noFill/>
        </p:spPr>
        <p:txBody>
          <a:bodyPr wrap="square" lIns="0" tIns="0" rIns="0" bIns="0" anchor="ctr">
            <a:spAutoFit/>
          </a:bodyPr>
          <a:lstStyle/>
          <a:p>
            <a:pPr algn="l"/>
            <a:r>
              <a:rPr sz="1400" b="0" i="0">
                <a:solidFill>
                  <a:srgbClr val="23262B"/>
                </a:solidFill>
                <a:latin typeface="Calibri"/>
              </a:rPr>
              <a:t>ML models</a:t>
            </a:r>
          </a:p>
        </p:txBody>
      </p:sp>
      <p:sp>
        <p:nvSpPr>
          <p:cNvPr id="11" name="TextBox 10"/>
          <p:cNvSpPr txBox="1"/>
          <p:nvPr/>
        </p:nvSpPr>
        <p:spPr>
          <a:xfrm>
            <a:off x="640080" y="4251960"/>
            <a:ext cx="1463040" cy="640080"/>
          </a:xfrm>
          <a:prstGeom prst="rect">
            <a:avLst/>
          </a:prstGeom>
          <a:noFill/>
        </p:spPr>
        <p:txBody>
          <a:bodyPr wrap="square" lIns="0" tIns="0" rIns="0" bIns="0" anchor="t">
            <a:spAutoFit/>
          </a:bodyPr>
          <a:lstStyle/>
          <a:p>
            <a:pPr algn="l"/>
            <a:r>
              <a:rPr sz="3000" b="1" i="0">
                <a:solidFill>
                  <a:srgbClr val="B8940C"/>
                </a:solidFill>
                <a:latin typeface="Century Schoolbook"/>
              </a:rPr>
              <a:t>8 wk</a:t>
            </a:r>
          </a:p>
        </p:txBody>
      </p:sp>
      <p:sp>
        <p:nvSpPr>
          <p:cNvPr id="12" name="TextBox 11"/>
          <p:cNvSpPr txBox="1"/>
          <p:nvPr/>
        </p:nvSpPr>
        <p:spPr>
          <a:xfrm>
            <a:off x="2148840" y="4361688"/>
            <a:ext cx="3200400" cy="457200"/>
          </a:xfrm>
          <a:prstGeom prst="rect">
            <a:avLst/>
          </a:prstGeom>
          <a:noFill/>
        </p:spPr>
        <p:txBody>
          <a:bodyPr wrap="square" lIns="0" tIns="0" rIns="0" bIns="0" anchor="ctr">
            <a:spAutoFit/>
          </a:bodyPr>
          <a:lstStyle/>
          <a:p>
            <a:pPr algn="l"/>
            <a:r>
              <a:rPr sz="1400" b="0" i="0">
                <a:solidFill>
                  <a:srgbClr val="23262B"/>
                </a:solidFill>
                <a:latin typeface="Calibri"/>
              </a:rPr>
              <a:t>Forecast horizon</a:t>
            </a:r>
          </a:p>
        </p:txBody>
      </p:sp>
      <p:sp>
        <p:nvSpPr>
          <p:cNvPr id="13" name="TextBox 12"/>
          <p:cNvSpPr txBox="1"/>
          <p:nvPr/>
        </p:nvSpPr>
        <p:spPr>
          <a:xfrm>
            <a:off x="640080" y="5120640"/>
            <a:ext cx="1463040" cy="640080"/>
          </a:xfrm>
          <a:prstGeom prst="rect">
            <a:avLst/>
          </a:prstGeom>
          <a:noFill/>
        </p:spPr>
        <p:txBody>
          <a:bodyPr wrap="square" lIns="0" tIns="0" rIns="0" bIns="0" anchor="t">
            <a:spAutoFit/>
          </a:bodyPr>
          <a:lstStyle/>
          <a:p>
            <a:pPr algn="l"/>
            <a:r>
              <a:rPr sz="3000" b="1" i="0">
                <a:solidFill>
                  <a:srgbClr val="B8940C"/>
                </a:solidFill>
                <a:latin typeface="Century Schoolbook"/>
              </a:rPr>
              <a:t>4×</a:t>
            </a:r>
          </a:p>
        </p:txBody>
      </p:sp>
      <p:sp>
        <p:nvSpPr>
          <p:cNvPr id="14" name="TextBox 13"/>
          <p:cNvSpPr txBox="1"/>
          <p:nvPr/>
        </p:nvSpPr>
        <p:spPr>
          <a:xfrm>
            <a:off x="2148840" y="5230368"/>
            <a:ext cx="3200400" cy="457200"/>
          </a:xfrm>
          <a:prstGeom prst="rect">
            <a:avLst/>
          </a:prstGeom>
          <a:noFill/>
        </p:spPr>
        <p:txBody>
          <a:bodyPr wrap="square" lIns="0" tIns="0" rIns="0" bIns="0" anchor="ctr">
            <a:spAutoFit/>
          </a:bodyPr>
          <a:lstStyle/>
          <a:p>
            <a:pPr algn="l"/>
            <a:r>
              <a:rPr sz="1400" b="0" i="0">
                <a:solidFill>
                  <a:srgbClr val="23262B"/>
                </a:solidFill>
                <a:latin typeface="Calibri"/>
              </a:rPr>
              <a:t>Walk-forward folds</a:t>
            </a:r>
          </a:p>
        </p:txBody>
      </p:sp>
      <p:graphicFrame>
        <p:nvGraphicFramePr>
          <p:cNvPr id="15" name="Chart 14"/>
          <p:cNvGraphicFramePr>
            <a:graphicFrameLocks noGrp="1"/>
          </p:cNvGraphicFramePr>
          <p:nvPr/>
        </p:nvGraphicFramePr>
        <p:xfrm>
          <a:off x="5943600" y="2148840"/>
          <a:ext cx="56692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10</a:t>
            </a:r>
          </a:p>
        </p:txBody>
      </p:sp>
      <p:sp>
        <p:nvSpPr>
          <p:cNvPr id="17" name="TextBox 16"/>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PAGE · ANOMALY DETECTION</a:t>
            </a:r>
          </a:p>
        </p:txBody>
      </p:sp>
      <p:sp>
        <p:nvSpPr>
          <p:cNvPr id="7" name="TextBox 6"/>
          <p:cNvSpPr txBox="1"/>
          <p:nvPr/>
        </p:nvSpPr>
        <p:spPr>
          <a:xfrm>
            <a:off x="566928" y="960120"/>
            <a:ext cx="7315200" cy="914400"/>
          </a:xfrm>
          <a:prstGeom prst="rect">
            <a:avLst/>
          </a:prstGeom>
          <a:noFill/>
        </p:spPr>
        <p:txBody>
          <a:bodyPr wrap="square" lIns="0" tIns="0" rIns="0" bIns="0" anchor="t">
            <a:spAutoFit/>
          </a:bodyPr>
          <a:lstStyle/>
          <a:p>
            <a:pPr algn="l"/>
            <a:r>
              <a:rPr sz="3400" b="1" i="0">
                <a:solidFill>
                  <a:srgbClr val="23262B"/>
                </a:solidFill>
                <a:latin typeface="Century Schoolbook"/>
              </a:rPr>
              <a:t>Catch the outliers automatically</a:t>
            </a:r>
          </a:p>
        </p:txBody>
      </p:sp>
      <p:sp>
        <p:nvSpPr>
          <p:cNvPr id="8" name="TextBox 7"/>
          <p:cNvSpPr txBox="1"/>
          <p:nvPr/>
        </p:nvSpPr>
        <p:spPr>
          <a:xfrm>
            <a:off x="640080" y="2103120"/>
            <a:ext cx="4846320" cy="1371600"/>
          </a:xfrm>
          <a:prstGeom prst="rect">
            <a:avLst/>
          </a:prstGeom>
          <a:noFill/>
        </p:spPr>
        <p:txBody>
          <a:bodyPr wrap="square" lIns="0" tIns="0" rIns="0" bIns="0" anchor="t">
            <a:spAutoFit/>
          </a:bodyPr>
          <a:lstStyle/>
          <a:p>
            <a:pPr algn="l"/>
            <a:r>
              <a:rPr sz="1500" b="0" i="0">
                <a:solidFill>
                  <a:srgbClr val="5B5F66"/>
                </a:solidFill>
                <a:latin typeface="Calibri"/>
              </a:rPr>
              <a:t>An unsupervised IsolationForest flags abnormal machines from usage patterns — no labels required. Flagged assets appear as “Suspicious” on the dashboard.</a:t>
            </a:r>
          </a:p>
        </p:txBody>
      </p:sp>
      <p:sp>
        <p:nvSpPr>
          <p:cNvPr id="9" name="Oval 8"/>
          <p:cNvSpPr/>
          <p:nvPr/>
        </p:nvSpPr>
        <p:spPr>
          <a:xfrm>
            <a:off x="685800" y="3703320"/>
            <a:ext cx="457200" cy="45720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3703320"/>
            <a:ext cx="457200" cy="457200"/>
          </a:xfrm>
          <a:prstGeom prst="rect">
            <a:avLst/>
          </a:prstGeom>
          <a:noFill/>
        </p:spPr>
        <p:txBody>
          <a:bodyPr wrap="square" lIns="0" tIns="0" rIns="0" bIns="0" anchor="ctr">
            <a:spAutoFit/>
          </a:bodyPr>
          <a:lstStyle/>
          <a:p>
            <a:pPr algn="ctr"/>
            <a:r>
              <a:rPr sz="1500" b="0" i="0">
                <a:solidFill>
                  <a:srgbClr val="23262B"/>
                </a:solidFill>
                <a:latin typeface="Calibri"/>
              </a:rPr>
              <a:t>⚙</a:t>
            </a:r>
          </a:p>
        </p:txBody>
      </p:sp>
      <p:sp>
        <p:nvSpPr>
          <p:cNvPr id="11" name="TextBox 10"/>
          <p:cNvSpPr txBox="1"/>
          <p:nvPr/>
        </p:nvSpPr>
        <p:spPr>
          <a:xfrm>
            <a:off x="1280160" y="3703320"/>
            <a:ext cx="4206240" cy="457200"/>
          </a:xfrm>
          <a:prstGeom prst="rect">
            <a:avLst/>
          </a:prstGeom>
          <a:noFill/>
        </p:spPr>
        <p:txBody>
          <a:bodyPr wrap="square" lIns="0" tIns="0" rIns="0" bIns="0" anchor="ctr">
            <a:spAutoFit/>
          </a:bodyPr>
          <a:lstStyle/>
          <a:p>
            <a:pPr algn="l"/>
            <a:r>
              <a:rPr sz="1450" b="1" i="0">
                <a:solidFill>
                  <a:srgbClr val="23262B"/>
                </a:solidFill>
                <a:latin typeface="Calibri"/>
              </a:rPr>
              <a:t>Engine vs idle hours</a:t>
            </a:r>
          </a:p>
        </p:txBody>
      </p:sp>
      <p:sp>
        <p:nvSpPr>
          <p:cNvPr id="12" name="Oval 11"/>
          <p:cNvSpPr/>
          <p:nvPr/>
        </p:nvSpPr>
        <p:spPr>
          <a:xfrm>
            <a:off x="685800" y="4361688"/>
            <a:ext cx="457200" cy="45720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4361688"/>
            <a:ext cx="457200" cy="457200"/>
          </a:xfrm>
          <a:prstGeom prst="rect">
            <a:avLst/>
          </a:prstGeom>
          <a:noFill/>
        </p:spPr>
        <p:txBody>
          <a:bodyPr wrap="square" lIns="0" tIns="0" rIns="0" bIns="0" anchor="ctr">
            <a:spAutoFit/>
          </a:bodyPr>
          <a:lstStyle/>
          <a:p>
            <a:pPr algn="ctr"/>
            <a:r>
              <a:rPr sz="1500" b="0" i="0">
                <a:solidFill>
                  <a:srgbClr val="23262B"/>
                </a:solidFill>
                <a:latin typeface="Calibri"/>
              </a:rPr>
              <a:t>⛽</a:t>
            </a:r>
          </a:p>
        </p:txBody>
      </p:sp>
      <p:sp>
        <p:nvSpPr>
          <p:cNvPr id="14" name="TextBox 13"/>
          <p:cNvSpPr txBox="1"/>
          <p:nvPr/>
        </p:nvSpPr>
        <p:spPr>
          <a:xfrm>
            <a:off x="1280160" y="4361688"/>
            <a:ext cx="4206240" cy="457200"/>
          </a:xfrm>
          <a:prstGeom prst="rect">
            <a:avLst/>
          </a:prstGeom>
          <a:noFill/>
        </p:spPr>
        <p:txBody>
          <a:bodyPr wrap="square" lIns="0" tIns="0" rIns="0" bIns="0" anchor="ctr">
            <a:spAutoFit/>
          </a:bodyPr>
          <a:lstStyle/>
          <a:p>
            <a:pPr algn="l"/>
            <a:r>
              <a:rPr sz="1450" b="1" i="0">
                <a:solidFill>
                  <a:srgbClr val="23262B"/>
                </a:solidFill>
                <a:latin typeface="Calibri"/>
              </a:rPr>
              <a:t>Fuel per hour</a:t>
            </a:r>
          </a:p>
        </p:txBody>
      </p:sp>
      <p:sp>
        <p:nvSpPr>
          <p:cNvPr id="15" name="Oval 14"/>
          <p:cNvSpPr/>
          <p:nvPr/>
        </p:nvSpPr>
        <p:spPr>
          <a:xfrm>
            <a:off x="685800" y="5020056"/>
            <a:ext cx="457200" cy="45720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5020056"/>
            <a:ext cx="457200" cy="457200"/>
          </a:xfrm>
          <a:prstGeom prst="rect">
            <a:avLst/>
          </a:prstGeom>
          <a:noFill/>
        </p:spPr>
        <p:txBody>
          <a:bodyPr wrap="square" lIns="0" tIns="0" rIns="0" bIns="0" anchor="ctr">
            <a:spAutoFit/>
          </a:bodyPr>
          <a:lstStyle/>
          <a:p>
            <a:pPr algn="ctr"/>
            <a:r>
              <a:rPr sz="1500" b="0" i="0">
                <a:solidFill>
                  <a:srgbClr val="23262B"/>
                </a:solidFill>
                <a:latin typeface="Calibri"/>
              </a:rPr>
              <a:t>📅</a:t>
            </a:r>
          </a:p>
        </p:txBody>
      </p:sp>
      <p:sp>
        <p:nvSpPr>
          <p:cNvPr id="17" name="TextBox 16"/>
          <p:cNvSpPr txBox="1"/>
          <p:nvPr/>
        </p:nvSpPr>
        <p:spPr>
          <a:xfrm>
            <a:off x="1280160" y="5020056"/>
            <a:ext cx="4206240" cy="457200"/>
          </a:xfrm>
          <a:prstGeom prst="rect">
            <a:avLst/>
          </a:prstGeom>
          <a:noFill/>
        </p:spPr>
        <p:txBody>
          <a:bodyPr wrap="square" lIns="0" tIns="0" rIns="0" bIns="0" anchor="ctr">
            <a:spAutoFit/>
          </a:bodyPr>
          <a:lstStyle/>
          <a:p>
            <a:pPr algn="l"/>
            <a:r>
              <a:rPr sz="1450" b="1" i="0">
                <a:solidFill>
                  <a:srgbClr val="23262B"/>
                </a:solidFill>
                <a:latin typeface="Calibri"/>
              </a:rPr>
              <a:t>Rental duration</a:t>
            </a:r>
          </a:p>
        </p:txBody>
      </p:sp>
      <p:sp>
        <p:nvSpPr>
          <p:cNvPr id="18" name="Rounded Rectangle 17"/>
          <p:cNvSpPr/>
          <p:nvPr/>
        </p:nvSpPr>
        <p:spPr>
          <a:xfrm>
            <a:off x="6217920" y="2331720"/>
            <a:ext cx="5349240" cy="749808"/>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331720"/>
            <a:ext cx="1280160" cy="749808"/>
          </a:xfrm>
          <a:prstGeom prst="rect">
            <a:avLst/>
          </a:prstGeom>
          <a:noFill/>
        </p:spPr>
        <p:txBody>
          <a:bodyPr wrap="square" lIns="0" tIns="0" rIns="0" bIns="0" anchor="ctr">
            <a:spAutoFit/>
          </a:bodyPr>
          <a:lstStyle/>
          <a:p>
            <a:pPr algn="l"/>
            <a:r>
              <a:rPr sz="1400" b="1" i="0">
                <a:solidFill>
                  <a:srgbClr val="23262B"/>
                </a:solidFill>
                <a:latin typeface="Calibri"/>
              </a:rPr>
              <a:t>EX-204</a:t>
            </a:r>
          </a:p>
        </p:txBody>
      </p:sp>
      <p:sp>
        <p:nvSpPr>
          <p:cNvPr id="20" name="Rounded Rectangle 19"/>
          <p:cNvSpPr/>
          <p:nvPr/>
        </p:nvSpPr>
        <p:spPr>
          <a:xfrm>
            <a:off x="7680960" y="2569463"/>
            <a:ext cx="2651760" cy="274320"/>
          </a:xfrm>
          <a:prstGeom prst="roundRect">
            <a:avLst>
              <a:gd name="adj" fmla="val 50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680960" y="2569463"/>
            <a:ext cx="2333548" cy="27432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424160" y="2331720"/>
            <a:ext cx="1051560" cy="749808"/>
          </a:xfrm>
          <a:prstGeom prst="rect">
            <a:avLst/>
          </a:prstGeom>
          <a:noFill/>
        </p:spPr>
        <p:txBody>
          <a:bodyPr wrap="square" lIns="0" tIns="0" rIns="0" bIns="0" anchor="ctr">
            <a:spAutoFit/>
          </a:bodyPr>
          <a:lstStyle/>
          <a:p>
            <a:pPr algn="l"/>
            <a:r>
              <a:rPr sz="1050" b="1" i="0">
                <a:solidFill>
                  <a:srgbClr val="DC2626"/>
                </a:solidFill>
                <a:latin typeface="Calibri"/>
              </a:rPr>
              <a:t>ANOMALY</a:t>
            </a:r>
          </a:p>
        </p:txBody>
      </p:sp>
      <p:sp>
        <p:nvSpPr>
          <p:cNvPr id="23" name="Rounded Rectangle 22"/>
          <p:cNvSpPr/>
          <p:nvPr/>
        </p:nvSpPr>
        <p:spPr>
          <a:xfrm>
            <a:off x="6217920" y="3227832"/>
            <a:ext cx="5349240" cy="749808"/>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46520" y="3227832"/>
            <a:ext cx="1280160" cy="749808"/>
          </a:xfrm>
          <a:prstGeom prst="rect">
            <a:avLst/>
          </a:prstGeom>
          <a:noFill/>
        </p:spPr>
        <p:txBody>
          <a:bodyPr wrap="square" lIns="0" tIns="0" rIns="0" bIns="0" anchor="ctr">
            <a:spAutoFit/>
          </a:bodyPr>
          <a:lstStyle/>
          <a:p>
            <a:pPr algn="l"/>
            <a:r>
              <a:rPr sz="1400" b="1" i="0">
                <a:solidFill>
                  <a:srgbClr val="23262B"/>
                </a:solidFill>
                <a:latin typeface="Calibri"/>
              </a:rPr>
              <a:t>LD-118</a:t>
            </a:r>
          </a:p>
        </p:txBody>
      </p:sp>
      <p:sp>
        <p:nvSpPr>
          <p:cNvPr id="25" name="Rounded Rectangle 24"/>
          <p:cNvSpPr/>
          <p:nvPr/>
        </p:nvSpPr>
        <p:spPr>
          <a:xfrm>
            <a:off x="7680960" y="3465576"/>
            <a:ext cx="2651760" cy="274320"/>
          </a:xfrm>
          <a:prstGeom prst="roundRect">
            <a:avLst>
              <a:gd name="adj" fmla="val 50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680960" y="3465576"/>
            <a:ext cx="795528" cy="274320"/>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424160" y="3227832"/>
            <a:ext cx="1051560" cy="749808"/>
          </a:xfrm>
          <a:prstGeom prst="rect">
            <a:avLst/>
          </a:prstGeom>
          <a:noFill/>
        </p:spPr>
        <p:txBody>
          <a:bodyPr wrap="square" lIns="0" tIns="0" rIns="0" bIns="0" anchor="ctr">
            <a:spAutoFit/>
          </a:bodyPr>
          <a:lstStyle/>
          <a:p>
            <a:pPr algn="l"/>
            <a:r>
              <a:rPr sz="1050" b="1" i="0">
                <a:solidFill>
                  <a:srgbClr val="16A34A"/>
                </a:solidFill>
                <a:latin typeface="Calibri"/>
              </a:rPr>
              <a:t>NORMAL</a:t>
            </a:r>
          </a:p>
        </p:txBody>
      </p:sp>
      <p:sp>
        <p:nvSpPr>
          <p:cNvPr id="28" name="Rounded Rectangle 27"/>
          <p:cNvSpPr/>
          <p:nvPr/>
        </p:nvSpPr>
        <p:spPr>
          <a:xfrm>
            <a:off x="6217920" y="4123944"/>
            <a:ext cx="5349240" cy="749808"/>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4123944"/>
            <a:ext cx="1280160" cy="749808"/>
          </a:xfrm>
          <a:prstGeom prst="rect">
            <a:avLst/>
          </a:prstGeom>
          <a:noFill/>
        </p:spPr>
        <p:txBody>
          <a:bodyPr wrap="square" lIns="0" tIns="0" rIns="0" bIns="0" anchor="ctr">
            <a:spAutoFit/>
          </a:bodyPr>
          <a:lstStyle/>
          <a:p>
            <a:pPr algn="l"/>
            <a:r>
              <a:rPr sz="1400" b="1" i="0">
                <a:solidFill>
                  <a:srgbClr val="23262B"/>
                </a:solidFill>
                <a:latin typeface="Calibri"/>
              </a:rPr>
              <a:t>DZ-077</a:t>
            </a:r>
          </a:p>
        </p:txBody>
      </p:sp>
      <p:sp>
        <p:nvSpPr>
          <p:cNvPr id="30" name="Rounded Rectangle 29"/>
          <p:cNvSpPr/>
          <p:nvPr/>
        </p:nvSpPr>
        <p:spPr>
          <a:xfrm>
            <a:off x="7680960" y="4361688"/>
            <a:ext cx="2651760" cy="274320"/>
          </a:xfrm>
          <a:prstGeom prst="roundRect">
            <a:avLst>
              <a:gd name="adj" fmla="val 50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7680960" y="4361688"/>
            <a:ext cx="1909267" cy="27432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24160" y="4123944"/>
            <a:ext cx="1051560" cy="749808"/>
          </a:xfrm>
          <a:prstGeom prst="rect">
            <a:avLst/>
          </a:prstGeom>
          <a:noFill/>
        </p:spPr>
        <p:txBody>
          <a:bodyPr wrap="square" lIns="0" tIns="0" rIns="0" bIns="0" anchor="ctr">
            <a:spAutoFit/>
          </a:bodyPr>
          <a:lstStyle/>
          <a:p>
            <a:pPr algn="l"/>
            <a:r>
              <a:rPr sz="1050" b="1" i="0">
                <a:solidFill>
                  <a:srgbClr val="D97706"/>
                </a:solidFill>
                <a:latin typeface="Calibri"/>
              </a:rPr>
              <a:t>REVIEW</a:t>
            </a:r>
          </a:p>
        </p:txBody>
      </p:sp>
      <p:sp>
        <p:nvSpPr>
          <p:cNvPr id="33" name="Rounded Rectangle 32"/>
          <p:cNvSpPr/>
          <p:nvPr/>
        </p:nvSpPr>
        <p:spPr>
          <a:xfrm>
            <a:off x="6217920" y="5020056"/>
            <a:ext cx="5349240" cy="749808"/>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46520" y="5020056"/>
            <a:ext cx="1280160" cy="749808"/>
          </a:xfrm>
          <a:prstGeom prst="rect">
            <a:avLst/>
          </a:prstGeom>
          <a:noFill/>
        </p:spPr>
        <p:txBody>
          <a:bodyPr wrap="square" lIns="0" tIns="0" rIns="0" bIns="0" anchor="ctr">
            <a:spAutoFit/>
          </a:bodyPr>
          <a:lstStyle/>
          <a:p>
            <a:pPr algn="l"/>
            <a:r>
              <a:rPr sz="1400" b="1" i="0">
                <a:solidFill>
                  <a:srgbClr val="23262B"/>
                </a:solidFill>
                <a:latin typeface="Calibri"/>
              </a:rPr>
              <a:t>GR-390</a:t>
            </a:r>
          </a:p>
        </p:txBody>
      </p:sp>
      <p:sp>
        <p:nvSpPr>
          <p:cNvPr id="35" name="Rounded Rectangle 34"/>
          <p:cNvSpPr/>
          <p:nvPr/>
        </p:nvSpPr>
        <p:spPr>
          <a:xfrm>
            <a:off x="7680960" y="5257800"/>
            <a:ext cx="2651760" cy="274320"/>
          </a:xfrm>
          <a:prstGeom prst="roundRect">
            <a:avLst>
              <a:gd name="adj" fmla="val 50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7680960" y="5257800"/>
            <a:ext cx="689457" cy="274320"/>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424160" y="5020056"/>
            <a:ext cx="1051560" cy="749808"/>
          </a:xfrm>
          <a:prstGeom prst="rect">
            <a:avLst/>
          </a:prstGeom>
          <a:noFill/>
        </p:spPr>
        <p:txBody>
          <a:bodyPr wrap="square" lIns="0" tIns="0" rIns="0" bIns="0" anchor="ctr">
            <a:spAutoFit/>
          </a:bodyPr>
          <a:lstStyle/>
          <a:p>
            <a:pPr algn="l"/>
            <a:r>
              <a:rPr sz="1050" b="1" i="0">
                <a:solidFill>
                  <a:srgbClr val="16A34A"/>
                </a:solidFill>
                <a:latin typeface="Calibri"/>
              </a:rPr>
              <a:t>NORMAL</a:t>
            </a:r>
          </a:p>
        </p:txBody>
      </p:sp>
      <p:sp>
        <p:nvSpPr>
          <p:cNvPr id="38" name="TextBox 37"/>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11</a:t>
            </a:r>
          </a:p>
        </p:txBody>
      </p:sp>
      <p:sp>
        <p:nvSpPr>
          <p:cNvPr id="39" name="TextBox 38"/>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PAGE · SMART SCHEDULING</a:t>
            </a:r>
          </a:p>
        </p:txBody>
      </p:sp>
      <p:sp>
        <p:nvSpPr>
          <p:cNvPr id="7" name="TextBox 6"/>
          <p:cNvSpPr txBox="1"/>
          <p:nvPr/>
        </p:nvSpPr>
        <p:spPr>
          <a:xfrm>
            <a:off x="566928" y="960120"/>
            <a:ext cx="7315200" cy="914400"/>
          </a:xfrm>
          <a:prstGeom prst="rect">
            <a:avLst/>
          </a:prstGeom>
          <a:noFill/>
        </p:spPr>
        <p:txBody>
          <a:bodyPr wrap="square" lIns="0" tIns="0" rIns="0" bIns="0" anchor="t">
            <a:spAutoFit/>
          </a:bodyPr>
          <a:lstStyle/>
          <a:p>
            <a:pPr algn="l"/>
            <a:r>
              <a:rPr sz="3400" b="1" i="0">
                <a:solidFill>
                  <a:srgbClr val="23262B"/>
                </a:solidFill>
                <a:latin typeface="Century Schoolbook"/>
              </a:rPr>
              <a:t>Right operator, right machine</a:t>
            </a:r>
          </a:p>
        </p:txBody>
      </p:sp>
      <p:sp>
        <p:nvSpPr>
          <p:cNvPr id="8" name="TextBox 7"/>
          <p:cNvSpPr txBox="1"/>
          <p:nvPr/>
        </p:nvSpPr>
        <p:spPr>
          <a:xfrm>
            <a:off x="640080" y="2103120"/>
            <a:ext cx="4846320" cy="1005840"/>
          </a:xfrm>
          <a:prstGeom prst="rect">
            <a:avLst/>
          </a:prstGeom>
          <a:noFill/>
        </p:spPr>
        <p:txBody>
          <a:bodyPr wrap="square" lIns="0" tIns="0" rIns="0" bIns="0" anchor="t">
            <a:spAutoFit/>
          </a:bodyPr>
          <a:lstStyle/>
          <a:p>
            <a:pPr algn="l"/>
            <a:r>
              <a:rPr sz="1500" b="0" i="0">
                <a:solidFill>
                  <a:srgbClr val="5B5F66"/>
                </a:solidFill>
                <a:latin typeface="Calibri"/>
              </a:rPr>
              <a:t>Operators are scored on historical performance, then the app recommends the best fit for each assignment.</a:t>
            </a:r>
          </a:p>
        </p:txBody>
      </p:sp>
      <p:sp>
        <p:nvSpPr>
          <p:cNvPr id="9" name="Rounded Rectangle 8"/>
          <p:cNvSpPr/>
          <p:nvPr/>
        </p:nvSpPr>
        <p:spPr>
          <a:xfrm>
            <a:off x="640080" y="3291840"/>
            <a:ext cx="5029200" cy="2468880"/>
          </a:xfrm>
          <a:prstGeom prst="roundRect">
            <a:avLst>
              <a:gd name="adj" fmla="val 6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474720"/>
            <a:ext cx="4572000" cy="365760"/>
          </a:xfrm>
          <a:prstGeom prst="rect">
            <a:avLst/>
          </a:prstGeom>
          <a:noFill/>
        </p:spPr>
        <p:txBody>
          <a:bodyPr wrap="square" lIns="0" tIns="0" rIns="0" bIns="0" anchor="t">
            <a:spAutoFit/>
          </a:bodyPr>
          <a:lstStyle/>
          <a:p>
            <a:pPr algn="l"/>
            <a:r>
              <a:rPr sz="1500" b="1" i="0">
                <a:solidFill>
                  <a:srgbClr val="23262B"/>
                </a:solidFill>
                <a:latin typeface="Century Schoolbook"/>
              </a:rPr>
              <a:t>Performance score</a:t>
            </a:r>
          </a:p>
        </p:txBody>
      </p:sp>
      <p:sp>
        <p:nvSpPr>
          <p:cNvPr id="11" name="Oval 10"/>
          <p:cNvSpPr/>
          <p:nvPr/>
        </p:nvSpPr>
        <p:spPr>
          <a:xfrm>
            <a:off x="896112" y="3977639"/>
            <a:ext cx="146304" cy="14630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3877056"/>
            <a:ext cx="3017520" cy="365760"/>
          </a:xfrm>
          <a:prstGeom prst="rect">
            <a:avLst/>
          </a:prstGeom>
          <a:noFill/>
        </p:spPr>
        <p:txBody>
          <a:bodyPr wrap="square" lIns="0" tIns="0" rIns="0" bIns="0" anchor="ctr">
            <a:spAutoFit/>
          </a:bodyPr>
          <a:lstStyle/>
          <a:p>
            <a:pPr algn="l"/>
            <a:r>
              <a:rPr sz="1300" b="0" i="0">
                <a:solidFill>
                  <a:srgbClr val="23262B"/>
                </a:solidFill>
                <a:latin typeface="Calibri"/>
              </a:rPr>
              <a:t>Rentals completed</a:t>
            </a:r>
          </a:p>
        </p:txBody>
      </p:sp>
      <p:sp>
        <p:nvSpPr>
          <p:cNvPr id="13" name="TextBox 12"/>
          <p:cNvSpPr txBox="1"/>
          <p:nvPr/>
        </p:nvSpPr>
        <p:spPr>
          <a:xfrm>
            <a:off x="4297680" y="3877056"/>
            <a:ext cx="1097280" cy="365760"/>
          </a:xfrm>
          <a:prstGeom prst="rect">
            <a:avLst/>
          </a:prstGeom>
          <a:noFill/>
        </p:spPr>
        <p:txBody>
          <a:bodyPr wrap="square" lIns="0" tIns="0" rIns="0" bIns="0" anchor="ctr">
            <a:spAutoFit/>
          </a:bodyPr>
          <a:lstStyle/>
          <a:p>
            <a:pPr algn="r"/>
            <a:r>
              <a:rPr sz="1300" b="1" i="0">
                <a:solidFill>
                  <a:srgbClr val="2563EB"/>
                </a:solidFill>
                <a:latin typeface="Calibri"/>
              </a:rPr>
              <a:t>30%</a:t>
            </a:r>
          </a:p>
        </p:txBody>
      </p:sp>
      <p:sp>
        <p:nvSpPr>
          <p:cNvPr id="14" name="Oval 13"/>
          <p:cNvSpPr/>
          <p:nvPr/>
        </p:nvSpPr>
        <p:spPr>
          <a:xfrm>
            <a:off x="896112" y="4416551"/>
            <a:ext cx="146304" cy="146304"/>
          </a:xfrm>
          <a:prstGeom prst="ellipse">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4315968"/>
            <a:ext cx="3017520" cy="365760"/>
          </a:xfrm>
          <a:prstGeom prst="rect">
            <a:avLst/>
          </a:prstGeom>
          <a:noFill/>
        </p:spPr>
        <p:txBody>
          <a:bodyPr wrap="square" lIns="0" tIns="0" rIns="0" bIns="0" anchor="ctr">
            <a:spAutoFit/>
          </a:bodyPr>
          <a:lstStyle/>
          <a:p>
            <a:pPr algn="l"/>
            <a:r>
              <a:rPr sz="1300" b="0" i="0">
                <a:solidFill>
                  <a:srgbClr val="23262B"/>
                </a:solidFill>
                <a:latin typeface="Calibri"/>
              </a:rPr>
              <a:t>Total days</a:t>
            </a:r>
          </a:p>
        </p:txBody>
      </p:sp>
      <p:sp>
        <p:nvSpPr>
          <p:cNvPr id="16" name="TextBox 15"/>
          <p:cNvSpPr txBox="1"/>
          <p:nvPr/>
        </p:nvSpPr>
        <p:spPr>
          <a:xfrm>
            <a:off x="4297680" y="4315968"/>
            <a:ext cx="1097280" cy="365760"/>
          </a:xfrm>
          <a:prstGeom prst="rect">
            <a:avLst/>
          </a:prstGeom>
          <a:noFill/>
        </p:spPr>
        <p:txBody>
          <a:bodyPr wrap="square" lIns="0" tIns="0" rIns="0" bIns="0" anchor="ctr">
            <a:spAutoFit/>
          </a:bodyPr>
          <a:lstStyle/>
          <a:p>
            <a:pPr algn="r"/>
            <a:r>
              <a:rPr sz="1300" b="1" i="0">
                <a:solidFill>
                  <a:srgbClr val="9333EA"/>
                </a:solidFill>
                <a:latin typeface="Calibri"/>
              </a:rPr>
              <a:t>20%</a:t>
            </a:r>
          </a:p>
        </p:txBody>
      </p:sp>
      <p:sp>
        <p:nvSpPr>
          <p:cNvPr id="17" name="Oval 16"/>
          <p:cNvSpPr/>
          <p:nvPr/>
        </p:nvSpPr>
        <p:spPr>
          <a:xfrm>
            <a:off x="896112" y="4855464"/>
            <a:ext cx="146304" cy="14630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43000" y="4754880"/>
            <a:ext cx="3017520" cy="365760"/>
          </a:xfrm>
          <a:prstGeom prst="rect">
            <a:avLst/>
          </a:prstGeom>
          <a:noFill/>
        </p:spPr>
        <p:txBody>
          <a:bodyPr wrap="square" lIns="0" tIns="0" rIns="0" bIns="0" anchor="ctr">
            <a:spAutoFit/>
          </a:bodyPr>
          <a:lstStyle/>
          <a:p>
            <a:pPr algn="l"/>
            <a:r>
              <a:rPr sz="1300" b="0" i="0">
                <a:solidFill>
                  <a:srgbClr val="23262B"/>
                </a:solidFill>
                <a:latin typeface="Calibri"/>
              </a:rPr>
              <a:t>Avg utilization</a:t>
            </a:r>
          </a:p>
        </p:txBody>
      </p:sp>
      <p:sp>
        <p:nvSpPr>
          <p:cNvPr id="19" name="TextBox 18"/>
          <p:cNvSpPr txBox="1"/>
          <p:nvPr/>
        </p:nvSpPr>
        <p:spPr>
          <a:xfrm>
            <a:off x="4297680" y="4754880"/>
            <a:ext cx="1097280" cy="365760"/>
          </a:xfrm>
          <a:prstGeom prst="rect">
            <a:avLst/>
          </a:prstGeom>
          <a:noFill/>
        </p:spPr>
        <p:txBody>
          <a:bodyPr wrap="square" lIns="0" tIns="0" rIns="0" bIns="0" anchor="ctr">
            <a:spAutoFit/>
          </a:bodyPr>
          <a:lstStyle/>
          <a:p>
            <a:pPr algn="r"/>
            <a:r>
              <a:rPr sz="1300" b="1" i="0">
                <a:solidFill>
                  <a:srgbClr val="16A34A"/>
                </a:solidFill>
                <a:latin typeface="Calibri"/>
              </a:rPr>
              <a:t>25%</a:t>
            </a:r>
          </a:p>
        </p:txBody>
      </p:sp>
      <p:sp>
        <p:nvSpPr>
          <p:cNvPr id="20" name="Oval 19"/>
          <p:cNvSpPr/>
          <p:nvPr/>
        </p:nvSpPr>
        <p:spPr>
          <a:xfrm>
            <a:off x="896112" y="5294376"/>
            <a:ext cx="146304" cy="14630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43000" y="5193792"/>
            <a:ext cx="3017520" cy="365760"/>
          </a:xfrm>
          <a:prstGeom prst="rect">
            <a:avLst/>
          </a:prstGeom>
          <a:noFill/>
        </p:spPr>
        <p:txBody>
          <a:bodyPr wrap="square" lIns="0" tIns="0" rIns="0" bIns="0" anchor="ctr">
            <a:spAutoFit/>
          </a:bodyPr>
          <a:lstStyle/>
          <a:p>
            <a:pPr algn="l"/>
            <a:r>
              <a:rPr sz="1300" b="0" i="0">
                <a:solidFill>
                  <a:srgbClr val="23262B"/>
                </a:solidFill>
                <a:latin typeface="Calibri"/>
              </a:rPr>
              <a:t>On-time returns</a:t>
            </a:r>
          </a:p>
        </p:txBody>
      </p:sp>
      <p:sp>
        <p:nvSpPr>
          <p:cNvPr id="22" name="TextBox 21"/>
          <p:cNvSpPr txBox="1"/>
          <p:nvPr/>
        </p:nvSpPr>
        <p:spPr>
          <a:xfrm>
            <a:off x="4297680" y="5193792"/>
            <a:ext cx="1097280" cy="365760"/>
          </a:xfrm>
          <a:prstGeom prst="rect">
            <a:avLst/>
          </a:prstGeom>
          <a:noFill/>
        </p:spPr>
        <p:txBody>
          <a:bodyPr wrap="square" lIns="0" tIns="0" rIns="0" bIns="0" anchor="ctr">
            <a:spAutoFit/>
          </a:bodyPr>
          <a:lstStyle/>
          <a:p>
            <a:pPr algn="r"/>
            <a:r>
              <a:rPr sz="1300" b="1" i="0">
                <a:solidFill>
                  <a:srgbClr val="D97706"/>
                </a:solidFill>
                <a:latin typeface="Calibri"/>
              </a:rPr>
              <a:t>25%</a:t>
            </a:r>
          </a:p>
        </p:txBody>
      </p:sp>
      <p:sp>
        <p:nvSpPr>
          <p:cNvPr id="23" name="Rounded Rectangle 22"/>
          <p:cNvSpPr/>
          <p:nvPr/>
        </p:nvSpPr>
        <p:spPr>
          <a:xfrm>
            <a:off x="6217920" y="2286000"/>
            <a:ext cx="5349240" cy="77724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46520" y="2286000"/>
            <a:ext cx="1828800" cy="777240"/>
          </a:xfrm>
          <a:prstGeom prst="rect">
            <a:avLst/>
          </a:prstGeom>
          <a:noFill/>
        </p:spPr>
        <p:txBody>
          <a:bodyPr wrap="square" lIns="0" tIns="0" rIns="0" bIns="0" anchor="ctr">
            <a:spAutoFit/>
          </a:bodyPr>
          <a:lstStyle/>
          <a:p>
            <a:pPr algn="l"/>
            <a:r>
              <a:rPr sz="1400" b="1" i="0">
                <a:solidFill>
                  <a:srgbClr val="23262B"/>
                </a:solidFill>
                <a:latin typeface="Calibri"/>
              </a:rPr>
              <a:t>🥇 OP-012</a:t>
            </a:r>
          </a:p>
        </p:txBody>
      </p:sp>
      <p:sp>
        <p:nvSpPr>
          <p:cNvPr id="25" name="Rounded Rectangle 24"/>
          <p:cNvSpPr/>
          <p:nvPr/>
        </p:nvSpPr>
        <p:spPr>
          <a:xfrm>
            <a:off x="8229600" y="2542032"/>
            <a:ext cx="2194560" cy="274320"/>
          </a:xfrm>
          <a:prstGeom prst="roundRect">
            <a:avLst>
              <a:gd name="adj" fmla="val 50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229600" y="2542032"/>
            <a:ext cx="2062886" cy="274320"/>
          </a:xfrm>
          <a:prstGeom prst="roundRect">
            <a:avLst>
              <a:gd name="adj" fmla="val 50000"/>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515600" y="2286000"/>
            <a:ext cx="822960" cy="777240"/>
          </a:xfrm>
          <a:prstGeom prst="rect">
            <a:avLst/>
          </a:prstGeom>
          <a:noFill/>
        </p:spPr>
        <p:txBody>
          <a:bodyPr wrap="square" lIns="0" tIns="0" rIns="0" bIns="0" anchor="ctr">
            <a:spAutoFit/>
          </a:bodyPr>
          <a:lstStyle/>
          <a:p>
            <a:pPr algn="l"/>
            <a:r>
              <a:rPr sz="1500" b="1" i="0">
                <a:solidFill>
                  <a:srgbClr val="B8940C"/>
                </a:solidFill>
                <a:latin typeface="Century Schoolbook"/>
              </a:rPr>
              <a:t>94</a:t>
            </a:r>
          </a:p>
        </p:txBody>
      </p:sp>
      <p:sp>
        <p:nvSpPr>
          <p:cNvPr id="28" name="Rounded Rectangle 27"/>
          <p:cNvSpPr/>
          <p:nvPr/>
        </p:nvSpPr>
        <p:spPr>
          <a:xfrm>
            <a:off x="6217920" y="3200400"/>
            <a:ext cx="5349240" cy="77724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3200400"/>
            <a:ext cx="1828800" cy="777240"/>
          </a:xfrm>
          <a:prstGeom prst="rect">
            <a:avLst/>
          </a:prstGeom>
          <a:noFill/>
        </p:spPr>
        <p:txBody>
          <a:bodyPr wrap="square" lIns="0" tIns="0" rIns="0" bIns="0" anchor="ctr">
            <a:spAutoFit/>
          </a:bodyPr>
          <a:lstStyle/>
          <a:p>
            <a:pPr algn="l"/>
            <a:r>
              <a:rPr sz="1400" b="1" i="0">
                <a:solidFill>
                  <a:srgbClr val="23262B"/>
                </a:solidFill>
                <a:latin typeface="Calibri"/>
              </a:rPr>
              <a:t>🥈 OP-007</a:t>
            </a:r>
          </a:p>
        </p:txBody>
      </p:sp>
      <p:sp>
        <p:nvSpPr>
          <p:cNvPr id="30" name="Rounded Rectangle 29"/>
          <p:cNvSpPr/>
          <p:nvPr/>
        </p:nvSpPr>
        <p:spPr>
          <a:xfrm>
            <a:off x="8229600" y="3456432"/>
            <a:ext cx="2194560" cy="274320"/>
          </a:xfrm>
          <a:prstGeom prst="roundRect">
            <a:avLst>
              <a:gd name="adj" fmla="val 50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229600" y="3456432"/>
            <a:ext cx="1909267" cy="274320"/>
          </a:xfrm>
          <a:prstGeom prst="roundRect">
            <a:avLst>
              <a:gd name="adj" fmla="val 50000"/>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515600" y="3200400"/>
            <a:ext cx="822960" cy="777240"/>
          </a:xfrm>
          <a:prstGeom prst="rect">
            <a:avLst/>
          </a:prstGeom>
          <a:noFill/>
        </p:spPr>
        <p:txBody>
          <a:bodyPr wrap="square" lIns="0" tIns="0" rIns="0" bIns="0" anchor="ctr">
            <a:spAutoFit/>
          </a:bodyPr>
          <a:lstStyle/>
          <a:p>
            <a:pPr algn="l"/>
            <a:r>
              <a:rPr sz="1500" b="1" i="0">
                <a:solidFill>
                  <a:srgbClr val="B8940C"/>
                </a:solidFill>
                <a:latin typeface="Century Schoolbook"/>
              </a:rPr>
              <a:t>87</a:t>
            </a:r>
          </a:p>
        </p:txBody>
      </p:sp>
      <p:sp>
        <p:nvSpPr>
          <p:cNvPr id="33" name="Rounded Rectangle 32"/>
          <p:cNvSpPr/>
          <p:nvPr/>
        </p:nvSpPr>
        <p:spPr>
          <a:xfrm>
            <a:off x="6217920" y="4114800"/>
            <a:ext cx="5349240" cy="77724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46520" y="4114800"/>
            <a:ext cx="1828800" cy="777240"/>
          </a:xfrm>
          <a:prstGeom prst="rect">
            <a:avLst/>
          </a:prstGeom>
          <a:noFill/>
        </p:spPr>
        <p:txBody>
          <a:bodyPr wrap="square" lIns="0" tIns="0" rIns="0" bIns="0" anchor="ctr">
            <a:spAutoFit/>
          </a:bodyPr>
          <a:lstStyle/>
          <a:p>
            <a:pPr algn="l"/>
            <a:r>
              <a:rPr sz="1400" b="1" i="0">
                <a:solidFill>
                  <a:srgbClr val="23262B"/>
                </a:solidFill>
                <a:latin typeface="Calibri"/>
              </a:rPr>
              <a:t>🥉 OP-025</a:t>
            </a:r>
          </a:p>
        </p:txBody>
      </p:sp>
      <p:sp>
        <p:nvSpPr>
          <p:cNvPr id="35" name="Rounded Rectangle 34"/>
          <p:cNvSpPr/>
          <p:nvPr/>
        </p:nvSpPr>
        <p:spPr>
          <a:xfrm>
            <a:off x="8229600" y="4370832"/>
            <a:ext cx="2194560" cy="274320"/>
          </a:xfrm>
          <a:prstGeom prst="roundRect">
            <a:avLst>
              <a:gd name="adj" fmla="val 50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229600" y="4370832"/>
            <a:ext cx="1777593" cy="274320"/>
          </a:xfrm>
          <a:prstGeom prst="roundRect">
            <a:avLst>
              <a:gd name="adj" fmla="val 50000"/>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515600" y="4114800"/>
            <a:ext cx="822960" cy="777240"/>
          </a:xfrm>
          <a:prstGeom prst="rect">
            <a:avLst/>
          </a:prstGeom>
          <a:noFill/>
        </p:spPr>
        <p:txBody>
          <a:bodyPr wrap="square" lIns="0" tIns="0" rIns="0" bIns="0" anchor="ctr">
            <a:spAutoFit/>
          </a:bodyPr>
          <a:lstStyle/>
          <a:p>
            <a:pPr algn="l"/>
            <a:r>
              <a:rPr sz="1500" b="1" i="0">
                <a:solidFill>
                  <a:srgbClr val="B8940C"/>
                </a:solidFill>
                <a:latin typeface="Century Schoolbook"/>
              </a:rPr>
              <a:t>81</a:t>
            </a:r>
          </a:p>
        </p:txBody>
      </p:sp>
      <p:sp>
        <p:nvSpPr>
          <p:cNvPr id="38" name="Rounded Rectangle 37"/>
          <p:cNvSpPr/>
          <p:nvPr/>
        </p:nvSpPr>
        <p:spPr>
          <a:xfrm>
            <a:off x="6217920" y="5029200"/>
            <a:ext cx="5349240" cy="77724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46520" y="5029200"/>
            <a:ext cx="1828800" cy="777240"/>
          </a:xfrm>
          <a:prstGeom prst="rect">
            <a:avLst/>
          </a:prstGeom>
          <a:noFill/>
        </p:spPr>
        <p:txBody>
          <a:bodyPr wrap="square" lIns="0" tIns="0" rIns="0" bIns="0" anchor="ctr">
            <a:spAutoFit/>
          </a:bodyPr>
          <a:lstStyle/>
          <a:p>
            <a:pPr algn="l"/>
            <a:r>
              <a:rPr sz="1400" b="1" i="0">
                <a:solidFill>
                  <a:srgbClr val="23262B"/>
                </a:solidFill>
                <a:latin typeface="Calibri"/>
              </a:rPr>
              <a:t>   OP-031</a:t>
            </a:r>
          </a:p>
        </p:txBody>
      </p:sp>
      <p:sp>
        <p:nvSpPr>
          <p:cNvPr id="40" name="Rounded Rectangle 39"/>
          <p:cNvSpPr/>
          <p:nvPr/>
        </p:nvSpPr>
        <p:spPr>
          <a:xfrm>
            <a:off x="8229600" y="5285232"/>
            <a:ext cx="2194560" cy="274320"/>
          </a:xfrm>
          <a:prstGeom prst="roundRect">
            <a:avLst>
              <a:gd name="adj" fmla="val 50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8229600" y="5285232"/>
            <a:ext cx="1667865" cy="274320"/>
          </a:xfrm>
          <a:prstGeom prst="roundRect">
            <a:avLst>
              <a:gd name="adj" fmla="val 50000"/>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515600" y="5029200"/>
            <a:ext cx="822960" cy="777240"/>
          </a:xfrm>
          <a:prstGeom prst="rect">
            <a:avLst/>
          </a:prstGeom>
          <a:noFill/>
        </p:spPr>
        <p:txBody>
          <a:bodyPr wrap="square" lIns="0" tIns="0" rIns="0" bIns="0" anchor="ctr">
            <a:spAutoFit/>
          </a:bodyPr>
          <a:lstStyle/>
          <a:p>
            <a:pPr algn="l"/>
            <a:r>
              <a:rPr sz="1500" b="1" i="0">
                <a:solidFill>
                  <a:srgbClr val="B8940C"/>
                </a:solidFill>
                <a:latin typeface="Century Schoolbook"/>
              </a:rPr>
              <a:t>76</a:t>
            </a:r>
          </a:p>
        </p:txBody>
      </p:sp>
      <p:sp>
        <p:nvSpPr>
          <p:cNvPr id="43" name="TextBox 42"/>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12</a:t>
            </a:r>
          </a:p>
        </p:txBody>
      </p:sp>
      <p:sp>
        <p:nvSpPr>
          <p:cNvPr id="44" name="TextBox 43"/>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PAGE · PREDICTIVE MAINTENANCE</a:t>
            </a:r>
          </a:p>
        </p:txBody>
      </p:sp>
      <p:sp>
        <p:nvSpPr>
          <p:cNvPr id="7" name="TextBox 6"/>
          <p:cNvSpPr txBox="1"/>
          <p:nvPr/>
        </p:nvSpPr>
        <p:spPr>
          <a:xfrm>
            <a:off x="566928" y="960120"/>
            <a:ext cx="10058400" cy="914400"/>
          </a:xfrm>
          <a:prstGeom prst="rect">
            <a:avLst/>
          </a:prstGeom>
          <a:noFill/>
        </p:spPr>
        <p:txBody>
          <a:bodyPr wrap="square" lIns="0" tIns="0" rIns="0" bIns="0" anchor="t">
            <a:spAutoFit/>
          </a:bodyPr>
          <a:lstStyle/>
          <a:p>
            <a:pPr algn="l"/>
            <a:r>
              <a:rPr sz="3400" b="1" i="0">
                <a:solidFill>
                  <a:srgbClr val="23262B"/>
                </a:solidFill>
                <a:latin typeface="Century Schoolbook"/>
              </a:rPr>
              <a:t>Service before breakdown</a:t>
            </a:r>
          </a:p>
        </p:txBody>
      </p:sp>
      <p:sp>
        <p:nvSpPr>
          <p:cNvPr id="8" name="Rounded Rectangle 7"/>
          <p:cNvSpPr/>
          <p:nvPr/>
        </p:nvSpPr>
        <p:spPr>
          <a:xfrm>
            <a:off x="640080" y="2194560"/>
            <a:ext cx="2084831" cy="18288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298448" y="2395728"/>
            <a:ext cx="768096" cy="768096"/>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98448" y="2395728"/>
            <a:ext cx="768096" cy="768096"/>
          </a:xfrm>
          <a:prstGeom prst="rect">
            <a:avLst/>
          </a:prstGeom>
          <a:noFill/>
        </p:spPr>
        <p:txBody>
          <a:bodyPr wrap="square" lIns="0" tIns="0" rIns="0" bIns="0" anchor="ctr">
            <a:spAutoFit/>
          </a:bodyPr>
          <a:lstStyle/>
          <a:p>
            <a:pPr algn="ctr"/>
            <a:r>
              <a:rPr sz="2200" b="0" i="0">
                <a:solidFill>
                  <a:srgbClr val="23262B"/>
                </a:solidFill>
                <a:latin typeface="Calibri"/>
              </a:rPr>
              <a:t>🔔</a:t>
            </a:r>
          </a:p>
        </p:txBody>
      </p:sp>
      <p:sp>
        <p:nvSpPr>
          <p:cNvPr id="11" name="TextBox 10"/>
          <p:cNvSpPr txBox="1"/>
          <p:nvPr/>
        </p:nvSpPr>
        <p:spPr>
          <a:xfrm>
            <a:off x="768096" y="3246120"/>
            <a:ext cx="1828800" cy="685800"/>
          </a:xfrm>
          <a:prstGeom prst="rect">
            <a:avLst/>
          </a:prstGeom>
          <a:noFill/>
        </p:spPr>
        <p:txBody>
          <a:bodyPr wrap="square" lIns="0" tIns="0" rIns="0" bIns="0" anchor="t">
            <a:spAutoFit/>
          </a:bodyPr>
          <a:lstStyle/>
          <a:p>
            <a:pPr algn="ctr"/>
            <a:r>
              <a:rPr sz="1300" b="1" i="0">
                <a:solidFill>
                  <a:srgbClr val="23262B"/>
                </a:solidFill>
                <a:latin typeface="Century Schoolbook"/>
              </a:rPr>
              <a:t>Maintenance Alerts</a:t>
            </a:r>
          </a:p>
        </p:txBody>
      </p:sp>
      <p:sp>
        <p:nvSpPr>
          <p:cNvPr id="12" name="Rounded Rectangle 11"/>
          <p:cNvSpPr/>
          <p:nvPr/>
        </p:nvSpPr>
        <p:spPr>
          <a:xfrm>
            <a:off x="2889504" y="2194560"/>
            <a:ext cx="2084831" cy="18288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547872" y="2395728"/>
            <a:ext cx="768096" cy="768096"/>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47872" y="2395728"/>
            <a:ext cx="768096" cy="768096"/>
          </a:xfrm>
          <a:prstGeom prst="rect">
            <a:avLst/>
          </a:prstGeom>
          <a:noFill/>
        </p:spPr>
        <p:txBody>
          <a:bodyPr wrap="square" lIns="0" tIns="0" rIns="0" bIns="0" anchor="ctr">
            <a:spAutoFit/>
          </a:bodyPr>
          <a:lstStyle/>
          <a:p>
            <a:pPr algn="ctr"/>
            <a:r>
              <a:rPr sz="2200" b="0" i="0">
                <a:solidFill>
                  <a:srgbClr val="23262B"/>
                </a:solidFill>
                <a:latin typeface="Calibri"/>
              </a:rPr>
              <a:t>🔥</a:t>
            </a:r>
          </a:p>
        </p:txBody>
      </p:sp>
      <p:sp>
        <p:nvSpPr>
          <p:cNvPr id="15" name="TextBox 14"/>
          <p:cNvSpPr txBox="1"/>
          <p:nvPr/>
        </p:nvSpPr>
        <p:spPr>
          <a:xfrm>
            <a:off x="3017520" y="3246120"/>
            <a:ext cx="1828800" cy="685800"/>
          </a:xfrm>
          <a:prstGeom prst="rect">
            <a:avLst/>
          </a:prstGeom>
          <a:noFill/>
        </p:spPr>
        <p:txBody>
          <a:bodyPr wrap="square" lIns="0" tIns="0" rIns="0" bIns="0" anchor="t">
            <a:spAutoFit/>
          </a:bodyPr>
          <a:lstStyle/>
          <a:p>
            <a:pPr algn="ctr"/>
            <a:r>
              <a:rPr sz="1300" b="1" i="0">
                <a:solidFill>
                  <a:srgbClr val="23262B"/>
                </a:solidFill>
                <a:latin typeface="Century Schoolbook"/>
              </a:rPr>
              <a:t>Idle Wear &amp; Emissions</a:t>
            </a:r>
          </a:p>
        </p:txBody>
      </p:sp>
      <p:sp>
        <p:nvSpPr>
          <p:cNvPr id="16" name="Rounded Rectangle 15"/>
          <p:cNvSpPr/>
          <p:nvPr/>
        </p:nvSpPr>
        <p:spPr>
          <a:xfrm>
            <a:off x="5138928" y="2194560"/>
            <a:ext cx="2084831" cy="18288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797296" y="2395728"/>
            <a:ext cx="768096" cy="768096"/>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97296" y="2395728"/>
            <a:ext cx="768096" cy="768096"/>
          </a:xfrm>
          <a:prstGeom prst="rect">
            <a:avLst/>
          </a:prstGeom>
          <a:noFill/>
        </p:spPr>
        <p:txBody>
          <a:bodyPr wrap="square" lIns="0" tIns="0" rIns="0" bIns="0" anchor="ctr">
            <a:spAutoFit/>
          </a:bodyPr>
          <a:lstStyle/>
          <a:p>
            <a:pPr algn="ctr"/>
            <a:r>
              <a:rPr sz="2200" b="0" i="0">
                <a:solidFill>
                  <a:srgbClr val="23262B"/>
                </a:solidFill>
                <a:latin typeface="Calibri"/>
              </a:rPr>
              <a:t>🗓</a:t>
            </a:r>
          </a:p>
        </p:txBody>
      </p:sp>
      <p:sp>
        <p:nvSpPr>
          <p:cNvPr id="19" name="TextBox 18"/>
          <p:cNvSpPr txBox="1"/>
          <p:nvPr/>
        </p:nvSpPr>
        <p:spPr>
          <a:xfrm>
            <a:off x="5266944" y="3246120"/>
            <a:ext cx="1828800" cy="685800"/>
          </a:xfrm>
          <a:prstGeom prst="rect">
            <a:avLst/>
          </a:prstGeom>
          <a:noFill/>
        </p:spPr>
        <p:txBody>
          <a:bodyPr wrap="square" lIns="0" tIns="0" rIns="0" bIns="0" anchor="t">
            <a:spAutoFit/>
          </a:bodyPr>
          <a:lstStyle/>
          <a:p>
            <a:pPr algn="ctr"/>
            <a:r>
              <a:rPr sz="1300" b="1" i="0">
                <a:solidFill>
                  <a:srgbClr val="23262B"/>
                </a:solidFill>
                <a:latin typeface="Century Schoolbook"/>
              </a:rPr>
              <a:t>Maintenance Timeline</a:t>
            </a:r>
          </a:p>
        </p:txBody>
      </p:sp>
      <p:sp>
        <p:nvSpPr>
          <p:cNvPr id="20" name="Rounded Rectangle 19"/>
          <p:cNvSpPr/>
          <p:nvPr/>
        </p:nvSpPr>
        <p:spPr>
          <a:xfrm>
            <a:off x="7388352" y="2194560"/>
            <a:ext cx="2084831" cy="18288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046720" y="2395728"/>
            <a:ext cx="768096" cy="768096"/>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0" y="2395728"/>
            <a:ext cx="768096" cy="768096"/>
          </a:xfrm>
          <a:prstGeom prst="rect">
            <a:avLst/>
          </a:prstGeom>
          <a:noFill/>
        </p:spPr>
        <p:txBody>
          <a:bodyPr wrap="square" lIns="0" tIns="0" rIns="0" bIns="0" anchor="ctr">
            <a:spAutoFit/>
          </a:bodyPr>
          <a:lstStyle/>
          <a:p>
            <a:pPr algn="ctr"/>
            <a:r>
              <a:rPr sz="2200" b="0" i="0">
                <a:solidFill>
                  <a:srgbClr val="23262B"/>
                </a:solidFill>
                <a:latin typeface="Calibri"/>
              </a:rPr>
              <a:t>💰</a:t>
            </a:r>
          </a:p>
        </p:txBody>
      </p:sp>
      <p:sp>
        <p:nvSpPr>
          <p:cNvPr id="23" name="TextBox 22"/>
          <p:cNvSpPr txBox="1"/>
          <p:nvPr/>
        </p:nvSpPr>
        <p:spPr>
          <a:xfrm>
            <a:off x="7516368" y="3246120"/>
            <a:ext cx="1828800" cy="685800"/>
          </a:xfrm>
          <a:prstGeom prst="rect">
            <a:avLst/>
          </a:prstGeom>
          <a:noFill/>
        </p:spPr>
        <p:txBody>
          <a:bodyPr wrap="square" lIns="0" tIns="0" rIns="0" bIns="0" anchor="t">
            <a:spAutoFit/>
          </a:bodyPr>
          <a:lstStyle/>
          <a:p>
            <a:pPr algn="ctr"/>
            <a:r>
              <a:rPr sz="1300" b="1" i="0">
                <a:solidFill>
                  <a:srgbClr val="23262B"/>
                </a:solidFill>
                <a:latin typeface="Century Schoolbook"/>
              </a:rPr>
              <a:t>Cost Projection</a:t>
            </a:r>
          </a:p>
        </p:txBody>
      </p:sp>
      <p:sp>
        <p:nvSpPr>
          <p:cNvPr id="24" name="Rounded Rectangle 23"/>
          <p:cNvSpPr/>
          <p:nvPr/>
        </p:nvSpPr>
        <p:spPr>
          <a:xfrm>
            <a:off x="9637776" y="2194560"/>
            <a:ext cx="2084831" cy="18288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296144" y="2395728"/>
            <a:ext cx="768096" cy="768096"/>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96144" y="2395728"/>
            <a:ext cx="768096" cy="768096"/>
          </a:xfrm>
          <a:prstGeom prst="rect">
            <a:avLst/>
          </a:prstGeom>
          <a:noFill/>
        </p:spPr>
        <p:txBody>
          <a:bodyPr wrap="square" lIns="0" tIns="0" rIns="0" bIns="0" anchor="ctr">
            <a:spAutoFit/>
          </a:bodyPr>
          <a:lstStyle/>
          <a:p>
            <a:pPr algn="ctr"/>
            <a:r>
              <a:rPr sz="2200" b="0" i="0">
                <a:solidFill>
                  <a:srgbClr val="23262B"/>
                </a:solidFill>
                <a:latin typeface="Calibri"/>
              </a:rPr>
              <a:t>📖</a:t>
            </a:r>
          </a:p>
        </p:txBody>
      </p:sp>
      <p:sp>
        <p:nvSpPr>
          <p:cNvPr id="27" name="TextBox 26"/>
          <p:cNvSpPr txBox="1"/>
          <p:nvPr/>
        </p:nvSpPr>
        <p:spPr>
          <a:xfrm>
            <a:off x="9765792" y="3246120"/>
            <a:ext cx="1828800" cy="685800"/>
          </a:xfrm>
          <a:prstGeom prst="rect">
            <a:avLst/>
          </a:prstGeom>
          <a:noFill/>
        </p:spPr>
        <p:txBody>
          <a:bodyPr wrap="square" lIns="0" tIns="0" rIns="0" bIns="0" anchor="t">
            <a:spAutoFit/>
          </a:bodyPr>
          <a:lstStyle/>
          <a:p>
            <a:pPr algn="ctr"/>
            <a:r>
              <a:rPr sz="1300" b="1" i="0">
                <a:solidFill>
                  <a:srgbClr val="23262B"/>
                </a:solidFill>
                <a:latin typeface="Century Schoolbook"/>
              </a:rPr>
              <a:t>Schedule Reference</a:t>
            </a:r>
          </a:p>
        </p:txBody>
      </p:sp>
      <p:sp>
        <p:nvSpPr>
          <p:cNvPr id="28" name="TextBox 27"/>
          <p:cNvSpPr txBox="1"/>
          <p:nvPr/>
        </p:nvSpPr>
        <p:spPr>
          <a:xfrm>
            <a:off x="640080" y="4343400"/>
            <a:ext cx="8229600" cy="365760"/>
          </a:xfrm>
          <a:prstGeom prst="rect">
            <a:avLst/>
          </a:prstGeom>
          <a:noFill/>
        </p:spPr>
        <p:txBody>
          <a:bodyPr wrap="square" lIns="0" tIns="0" rIns="0" bIns="0" anchor="t">
            <a:spAutoFit/>
          </a:bodyPr>
          <a:lstStyle/>
          <a:p>
            <a:pPr algn="l"/>
            <a:r>
              <a:rPr sz="1500" b="1" i="0">
                <a:solidFill>
                  <a:srgbClr val="23262B"/>
                </a:solidFill>
                <a:latin typeface="Century Schoolbook"/>
              </a:rPr>
              <a:t>Risk tiers — driven by effective engine hours</a:t>
            </a:r>
          </a:p>
        </p:txBody>
      </p:sp>
      <p:sp>
        <p:nvSpPr>
          <p:cNvPr id="29" name="Rounded Rectangle 28"/>
          <p:cNvSpPr/>
          <p:nvPr/>
        </p:nvSpPr>
        <p:spPr>
          <a:xfrm>
            <a:off x="640080" y="4846320"/>
            <a:ext cx="2084831" cy="640080"/>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4846320"/>
            <a:ext cx="2084831" cy="640080"/>
          </a:xfrm>
          <a:prstGeom prst="rect">
            <a:avLst/>
          </a:prstGeom>
          <a:noFill/>
        </p:spPr>
        <p:txBody>
          <a:bodyPr wrap="square" lIns="0" tIns="0" rIns="0" bIns="0" anchor="ctr">
            <a:spAutoFit/>
          </a:bodyPr>
          <a:lstStyle/>
          <a:p>
            <a:pPr algn="ctr"/>
            <a:r>
              <a:rPr sz="1400" b="1" i="0">
                <a:solidFill>
                  <a:srgbClr val="FFFFFF"/>
                </a:solidFill>
                <a:latin typeface="Calibri"/>
              </a:rPr>
              <a:t>Critical</a:t>
            </a:r>
          </a:p>
        </p:txBody>
      </p:sp>
      <p:sp>
        <p:nvSpPr>
          <p:cNvPr id="31" name="Rounded Rectangle 30"/>
          <p:cNvSpPr/>
          <p:nvPr/>
        </p:nvSpPr>
        <p:spPr>
          <a:xfrm>
            <a:off x="2889504" y="4846320"/>
            <a:ext cx="2084831" cy="640080"/>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889504" y="4846320"/>
            <a:ext cx="2084831" cy="640080"/>
          </a:xfrm>
          <a:prstGeom prst="rect">
            <a:avLst/>
          </a:prstGeom>
          <a:noFill/>
        </p:spPr>
        <p:txBody>
          <a:bodyPr wrap="square" lIns="0" tIns="0" rIns="0" bIns="0" anchor="ctr">
            <a:spAutoFit/>
          </a:bodyPr>
          <a:lstStyle/>
          <a:p>
            <a:pPr algn="ctr"/>
            <a:r>
              <a:rPr sz="1400" b="1" i="0">
                <a:solidFill>
                  <a:srgbClr val="FFFFFF"/>
                </a:solidFill>
                <a:latin typeface="Calibri"/>
              </a:rPr>
              <a:t>High</a:t>
            </a:r>
          </a:p>
        </p:txBody>
      </p:sp>
      <p:sp>
        <p:nvSpPr>
          <p:cNvPr id="33" name="Rounded Rectangle 32"/>
          <p:cNvSpPr/>
          <p:nvPr/>
        </p:nvSpPr>
        <p:spPr>
          <a:xfrm>
            <a:off x="5138928" y="4846320"/>
            <a:ext cx="2084831" cy="640080"/>
          </a:xfrm>
          <a:prstGeom prst="roundRect">
            <a:avLst>
              <a:gd name="adj" fmla="val 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138928" y="4846320"/>
            <a:ext cx="2084831" cy="640080"/>
          </a:xfrm>
          <a:prstGeom prst="rect">
            <a:avLst/>
          </a:prstGeom>
          <a:noFill/>
        </p:spPr>
        <p:txBody>
          <a:bodyPr wrap="square" lIns="0" tIns="0" rIns="0" bIns="0" anchor="ctr">
            <a:spAutoFit/>
          </a:bodyPr>
          <a:lstStyle/>
          <a:p>
            <a:pPr algn="ctr"/>
            <a:r>
              <a:rPr sz="1400" b="1" i="0">
                <a:solidFill>
                  <a:srgbClr val="FFFFFF"/>
                </a:solidFill>
                <a:latin typeface="Calibri"/>
              </a:rPr>
              <a:t>Warning</a:t>
            </a:r>
          </a:p>
        </p:txBody>
      </p:sp>
      <p:sp>
        <p:nvSpPr>
          <p:cNvPr id="35" name="Rounded Rectangle 34"/>
          <p:cNvSpPr/>
          <p:nvPr/>
        </p:nvSpPr>
        <p:spPr>
          <a:xfrm>
            <a:off x="7388352" y="4846320"/>
            <a:ext cx="2084831" cy="64008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88352" y="4846320"/>
            <a:ext cx="2084831" cy="640080"/>
          </a:xfrm>
          <a:prstGeom prst="rect">
            <a:avLst/>
          </a:prstGeom>
          <a:noFill/>
        </p:spPr>
        <p:txBody>
          <a:bodyPr wrap="square" lIns="0" tIns="0" rIns="0" bIns="0" anchor="ctr">
            <a:spAutoFit/>
          </a:bodyPr>
          <a:lstStyle/>
          <a:p>
            <a:pPr algn="ctr"/>
            <a:r>
              <a:rPr sz="1400" b="1" i="0">
                <a:solidFill>
                  <a:srgbClr val="FFFFFF"/>
                </a:solidFill>
                <a:latin typeface="Calibri"/>
              </a:rPr>
              <a:t>Monitor</a:t>
            </a:r>
          </a:p>
        </p:txBody>
      </p:sp>
      <p:sp>
        <p:nvSpPr>
          <p:cNvPr id="37" name="Rounded Rectangle 36"/>
          <p:cNvSpPr/>
          <p:nvPr/>
        </p:nvSpPr>
        <p:spPr>
          <a:xfrm>
            <a:off x="9637776" y="4846320"/>
            <a:ext cx="2084831" cy="640080"/>
          </a:xfrm>
          <a:prstGeom prst="roundRect">
            <a:avLst>
              <a:gd name="adj" fmla="val 8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37776" y="4846320"/>
            <a:ext cx="2084831" cy="640080"/>
          </a:xfrm>
          <a:prstGeom prst="rect">
            <a:avLst/>
          </a:prstGeom>
          <a:noFill/>
        </p:spPr>
        <p:txBody>
          <a:bodyPr wrap="square" lIns="0" tIns="0" rIns="0" bIns="0" anchor="ctr">
            <a:spAutoFit/>
          </a:bodyPr>
          <a:lstStyle/>
          <a:p>
            <a:pPr algn="ctr"/>
            <a:r>
              <a:rPr sz="1400" b="1" i="0">
                <a:solidFill>
                  <a:srgbClr val="FFFFFF"/>
                </a:solidFill>
                <a:latin typeface="Calibri"/>
              </a:rPr>
              <a:t>Good</a:t>
            </a:r>
          </a:p>
        </p:txBody>
      </p:sp>
      <p:sp>
        <p:nvSpPr>
          <p:cNvPr id="39" name="TextBox 38"/>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13</a:t>
            </a:r>
          </a:p>
        </p:txBody>
      </p:sp>
      <p:sp>
        <p:nvSpPr>
          <p:cNvPr id="40" name="TextBox 39"/>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PAGE · ASK FLEET AI</a:t>
            </a:r>
          </a:p>
        </p:txBody>
      </p:sp>
      <p:sp>
        <p:nvSpPr>
          <p:cNvPr id="7" name="TextBox 6"/>
          <p:cNvSpPr txBox="1"/>
          <p:nvPr/>
        </p:nvSpPr>
        <p:spPr>
          <a:xfrm>
            <a:off x="566928" y="960120"/>
            <a:ext cx="7315200" cy="523220"/>
          </a:xfrm>
          <a:prstGeom prst="rect">
            <a:avLst/>
          </a:prstGeom>
          <a:noFill/>
        </p:spPr>
        <p:txBody>
          <a:bodyPr wrap="square" lIns="0" tIns="0" rIns="0" bIns="0" anchor="t">
            <a:spAutoFit/>
          </a:bodyPr>
          <a:lstStyle/>
          <a:p>
            <a:pPr algn="l"/>
            <a:r>
              <a:rPr sz="3400" b="1" i="0" dirty="0">
                <a:solidFill>
                  <a:srgbClr val="23262B"/>
                </a:solidFill>
                <a:latin typeface="Century Schoolbook"/>
              </a:rPr>
              <a:t>Just ask in plain English</a:t>
            </a:r>
          </a:p>
        </p:txBody>
      </p:sp>
      <p:sp>
        <p:nvSpPr>
          <p:cNvPr id="8" name="TextBox 7"/>
          <p:cNvSpPr txBox="1"/>
          <p:nvPr/>
        </p:nvSpPr>
        <p:spPr>
          <a:xfrm>
            <a:off x="640080" y="2103120"/>
            <a:ext cx="4846320" cy="1188720"/>
          </a:xfrm>
          <a:prstGeom prst="rect">
            <a:avLst/>
          </a:prstGeom>
          <a:noFill/>
        </p:spPr>
        <p:txBody>
          <a:bodyPr wrap="square" lIns="0" tIns="0" rIns="0" bIns="0" anchor="t">
            <a:spAutoFit/>
          </a:bodyPr>
          <a:lstStyle/>
          <a:p>
            <a:pPr algn="l"/>
            <a:r>
              <a:rPr sz="1500" b="0" i="0">
                <a:solidFill>
                  <a:srgbClr val="5B5F66"/>
                </a:solidFill>
                <a:latin typeface="Calibri"/>
              </a:rPr>
              <a:t>A natural-language interface parses intent, time range, equipment type and site, then answers straight from the fleet data.</a:t>
            </a:r>
          </a:p>
        </p:txBody>
      </p:sp>
      <p:sp>
        <p:nvSpPr>
          <p:cNvPr id="9" name="Rounded Rectangle 8"/>
          <p:cNvSpPr/>
          <p:nvPr/>
        </p:nvSpPr>
        <p:spPr>
          <a:xfrm>
            <a:off x="640080" y="3566160"/>
            <a:ext cx="228600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566160"/>
            <a:ext cx="2286000" cy="502920"/>
          </a:xfrm>
          <a:prstGeom prst="rect">
            <a:avLst/>
          </a:prstGeom>
          <a:noFill/>
        </p:spPr>
        <p:txBody>
          <a:bodyPr wrap="square" lIns="0" tIns="0" rIns="0" bIns="0" anchor="ctr">
            <a:spAutoFit/>
          </a:bodyPr>
          <a:lstStyle/>
          <a:p>
            <a:pPr algn="ctr"/>
            <a:r>
              <a:rPr sz="1300" b="1" i="0">
                <a:solidFill>
                  <a:srgbClr val="23262B"/>
                </a:solidFill>
                <a:latin typeface="Calibri"/>
              </a:rPr>
              <a:t>Excavator</a:t>
            </a:r>
          </a:p>
        </p:txBody>
      </p:sp>
      <p:sp>
        <p:nvSpPr>
          <p:cNvPr id="11" name="Rounded Rectangle 10"/>
          <p:cNvSpPr/>
          <p:nvPr/>
        </p:nvSpPr>
        <p:spPr>
          <a:xfrm>
            <a:off x="3108960" y="3566160"/>
            <a:ext cx="228600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08960" y="3566160"/>
            <a:ext cx="2286000" cy="502920"/>
          </a:xfrm>
          <a:prstGeom prst="rect">
            <a:avLst/>
          </a:prstGeom>
          <a:noFill/>
        </p:spPr>
        <p:txBody>
          <a:bodyPr wrap="square" lIns="0" tIns="0" rIns="0" bIns="0" anchor="ctr">
            <a:spAutoFit/>
          </a:bodyPr>
          <a:lstStyle/>
          <a:p>
            <a:pPr algn="ctr"/>
            <a:r>
              <a:rPr sz="1300" b="1" i="0">
                <a:solidFill>
                  <a:srgbClr val="23262B"/>
                </a:solidFill>
                <a:latin typeface="Calibri"/>
              </a:rPr>
              <a:t>Crane</a:t>
            </a:r>
          </a:p>
        </p:txBody>
      </p:sp>
      <p:sp>
        <p:nvSpPr>
          <p:cNvPr id="13" name="Rounded Rectangle 12"/>
          <p:cNvSpPr/>
          <p:nvPr/>
        </p:nvSpPr>
        <p:spPr>
          <a:xfrm>
            <a:off x="640080" y="4206240"/>
            <a:ext cx="228600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206240"/>
            <a:ext cx="2286000" cy="502920"/>
          </a:xfrm>
          <a:prstGeom prst="rect">
            <a:avLst/>
          </a:prstGeom>
          <a:noFill/>
        </p:spPr>
        <p:txBody>
          <a:bodyPr wrap="square" lIns="0" tIns="0" rIns="0" bIns="0" anchor="ctr">
            <a:spAutoFit/>
          </a:bodyPr>
          <a:lstStyle/>
          <a:p>
            <a:pPr algn="ctr"/>
            <a:r>
              <a:rPr sz="1300" b="1" i="0">
                <a:solidFill>
                  <a:srgbClr val="23262B"/>
                </a:solidFill>
                <a:latin typeface="Calibri"/>
              </a:rPr>
              <a:t>Bulldozer</a:t>
            </a:r>
          </a:p>
        </p:txBody>
      </p:sp>
      <p:sp>
        <p:nvSpPr>
          <p:cNvPr id="15" name="Rounded Rectangle 14"/>
          <p:cNvSpPr/>
          <p:nvPr/>
        </p:nvSpPr>
        <p:spPr>
          <a:xfrm>
            <a:off x="3108960" y="4206240"/>
            <a:ext cx="2286000" cy="502920"/>
          </a:xfrm>
          <a:prstGeom prst="roundRect">
            <a:avLst>
              <a:gd name="adj" fmla="val 12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108960" y="4206240"/>
            <a:ext cx="2286000" cy="502920"/>
          </a:xfrm>
          <a:prstGeom prst="rect">
            <a:avLst/>
          </a:prstGeom>
          <a:noFill/>
        </p:spPr>
        <p:txBody>
          <a:bodyPr wrap="square" lIns="0" tIns="0" rIns="0" bIns="0" anchor="ctr">
            <a:spAutoFit/>
          </a:bodyPr>
          <a:lstStyle/>
          <a:p>
            <a:pPr algn="ctr"/>
            <a:r>
              <a:rPr sz="1300" b="1" i="0">
                <a:solidFill>
                  <a:srgbClr val="23262B"/>
                </a:solidFill>
                <a:latin typeface="Calibri"/>
              </a:rPr>
              <a:t>Grader</a:t>
            </a:r>
          </a:p>
        </p:txBody>
      </p:sp>
      <p:sp>
        <p:nvSpPr>
          <p:cNvPr id="17" name="TextBox 16"/>
          <p:cNvSpPr txBox="1"/>
          <p:nvPr/>
        </p:nvSpPr>
        <p:spPr>
          <a:xfrm>
            <a:off x="640080" y="5029200"/>
            <a:ext cx="5029200" cy="914400"/>
          </a:xfrm>
          <a:prstGeom prst="rect">
            <a:avLst/>
          </a:prstGeom>
          <a:noFill/>
        </p:spPr>
        <p:txBody>
          <a:bodyPr wrap="square" lIns="0" tIns="0" rIns="0" bIns="0" anchor="t">
            <a:spAutoFit/>
          </a:bodyPr>
          <a:lstStyle/>
          <a:p>
            <a:pPr algn="l"/>
            <a:r>
              <a:rPr sz="1250" b="0" i="1">
                <a:solidFill>
                  <a:srgbClr val="5B5F66"/>
                </a:solidFill>
                <a:latin typeface="Calibri"/>
              </a:rPr>
              <a:t>Intents: under / over-utilized · overdue · available · revenue · maintenance · operator · site</a:t>
            </a:r>
          </a:p>
        </p:txBody>
      </p:sp>
      <p:sp>
        <p:nvSpPr>
          <p:cNvPr id="18" name="Rounded Rectangle 17"/>
          <p:cNvSpPr/>
          <p:nvPr/>
        </p:nvSpPr>
        <p:spPr>
          <a:xfrm>
            <a:off x="6217920" y="2103120"/>
            <a:ext cx="5349240" cy="3931920"/>
          </a:xfrm>
          <a:prstGeom prst="roundRect">
            <a:avLst>
              <a:gd name="adj" fmla="val 6000"/>
            </a:avLst>
          </a:prstGeom>
          <a:solidFill>
            <a:srgbClr val="F5F6F8"/>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92240" y="2377440"/>
            <a:ext cx="4754880" cy="822960"/>
          </a:xfrm>
          <a:prstGeom prst="roundRect">
            <a:avLst>
              <a:gd name="adj" fmla="val 10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5120" y="2377440"/>
            <a:ext cx="4434840" cy="822960"/>
          </a:xfrm>
          <a:prstGeom prst="rect">
            <a:avLst/>
          </a:prstGeom>
          <a:noFill/>
        </p:spPr>
        <p:txBody>
          <a:bodyPr wrap="square" lIns="0" tIns="0" rIns="0" bIns="0" anchor="ctr">
            <a:spAutoFit/>
          </a:bodyPr>
          <a:lstStyle/>
          <a:p>
            <a:pPr algn="l"/>
            <a:r>
              <a:rPr sz="1400" b="0" i="1">
                <a:solidFill>
                  <a:srgbClr val="23262B"/>
                </a:solidFill>
                <a:latin typeface="Calibri"/>
              </a:rPr>
              <a:t>“How many excavators were idle at S004 last week?”</a:t>
            </a:r>
          </a:p>
        </p:txBody>
      </p:sp>
      <p:sp>
        <p:nvSpPr>
          <p:cNvPr id="21" name="Rounded Rectangle 20"/>
          <p:cNvSpPr/>
          <p:nvPr/>
        </p:nvSpPr>
        <p:spPr>
          <a:xfrm>
            <a:off x="6492240" y="3429000"/>
            <a:ext cx="4754880" cy="1188720"/>
          </a:xfrm>
          <a:prstGeom prst="roundRect">
            <a:avLst>
              <a:gd name="adj" fmla="val 10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0" y="3429000"/>
            <a:ext cx="4434840" cy="1188720"/>
          </a:xfrm>
          <a:prstGeom prst="rect">
            <a:avLst/>
          </a:prstGeom>
          <a:noFill/>
        </p:spPr>
        <p:txBody>
          <a:bodyPr wrap="square" lIns="0" tIns="0" rIns="0" bIns="0" anchor="ctr">
            <a:spAutoFit/>
          </a:bodyPr>
          <a:lstStyle/>
          <a:p>
            <a:pPr algn="l"/>
            <a:r>
              <a:rPr sz="1600" b="1" i="0">
                <a:solidFill>
                  <a:srgbClr val="B8940C"/>
                </a:solidFill>
                <a:latin typeface="Calibri"/>
              </a:rPr>
              <a:t>7 excavators</a:t>
            </a:r>
            <a:r>
              <a:rPr sz="1300" b="0" i="0">
                <a:solidFill>
                  <a:srgbClr val="23262B"/>
                </a:solidFill>
                <a:latin typeface="Calibri"/>
              </a:rPr>
              <a:t>  ·  132 idle hrs  ·  18% of engine time flagged high</a:t>
            </a:r>
          </a:p>
        </p:txBody>
      </p:sp>
      <p:sp>
        <p:nvSpPr>
          <p:cNvPr id="23" name="TextBox 22"/>
          <p:cNvSpPr txBox="1"/>
          <p:nvPr/>
        </p:nvSpPr>
        <p:spPr>
          <a:xfrm>
            <a:off x="6492240" y="4800600"/>
            <a:ext cx="4754880" cy="822960"/>
          </a:xfrm>
          <a:prstGeom prst="rect">
            <a:avLst/>
          </a:prstGeom>
          <a:noFill/>
        </p:spPr>
        <p:txBody>
          <a:bodyPr wrap="square" lIns="0" tIns="0" rIns="0" bIns="0" anchor="t">
            <a:spAutoFit/>
          </a:bodyPr>
          <a:lstStyle/>
          <a:p>
            <a:pPr algn="l"/>
            <a:r>
              <a:rPr sz="1150" b="0" i="1">
                <a:solidFill>
                  <a:srgbClr val="8A8E96"/>
                </a:solidFill>
                <a:latin typeface="Calibri"/>
              </a:rPr>
              <a:t>Parsed → intent: under-utilized · type: excavator · site: S004 · range: last week</a:t>
            </a:r>
          </a:p>
        </p:txBody>
      </p:sp>
      <p:sp>
        <p:nvSpPr>
          <p:cNvPr id="24" name="TextBox 23"/>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14</a:t>
            </a:r>
          </a:p>
        </p:txBody>
      </p:sp>
      <p:sp>
        <p:nvSpPr>
          <p:cNvPr id="25" name="TextBox 24"/>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704088"/>
            <a:ext cx="310896" cy="45720"/>
          </a:xfrm>
          <a:prstGeom prst="rect">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5" y="548640"/>
            <a:ext cx="7315200" cy="320040"/>
          </a:xfrm>
          <a:prstGeom prst="rect">
            <a:avLst/>
          </a:prstGeom>
          <a:noFill/>
        </p:spPr>
        <p:txBody>
          <a:bodyPr wrap="square" lIns="0" tIns="0" rIns="0" bIns="0" anchor="ctr">
            <a:spAutoFit/>
          </a:bodyPr>
          <a:lstStyle/>
          <a:p>
            <a:pPr algn="l"/>
            <a:r>
              <a:rPr sz="1200" b="1" i="0">
                <a:solidFill>
                  <a:srgbClr val="B8940C"/>
                </a:solidFill>
                <a:latin typeface="Calibri"/>
              </a:rPr>
              <a:t>PAGE · REPORT EXPORT</a:t>
            </a:r>
          </a:p>
        </p:txBody>
      </p:sp>
      <p:sp>
        <p:nvSpPr>
          <p:cNvPr id="7" name="TextBox 6"/>
          <p:cNvSpPr txBox="1"/>
          <p:nvPr/>
        </p:nvSpPr>
        <p:spPr>
          <a:xfrm>
            <a:off x="566928" y="960120"/>
            <a:ext cx="7315200" cy="914400"/>
          </a:xfrm>
          <a:prstGeom prst="rect">
            <a:avLst/>
          </a:prstGeom>
          <a:noFill/>
        </p:spPr>
        <p:txBody>
          <a:bodyPr wrap="square" lIns="0" tIns="0" rIns="0" bIns="0" anchor="t">
            <a:spAutoFit/>
          </a:bodyPr>
          <a:lstStyle/>
          <a:p>
            <a:pPr algn="l"/>
            <a:r>
              <a:rPr sz="3400" b="1" i="0">
                <a:solidFill>
                  <a:srgbClr val="23262B"/>
                </a:solidFill>
                <a:latin typeface="Century Schoolbook"/>
              </a:rPr>
              <a:t>One-click executive PDF</a:t>
            </a:r>
          </a:p>
        </p:txBody>
      </p:sp>
      <p:sp>
        <p:nvSpPr>
          <p:cNvPr id="8" name="TextBox 7"/>
          <p:cNvSpPr txBox="1"/>
          <p:nvPr/>
        </p:nvSpPr>
        <p:spPr>
          <a:xfrm>
            <a:off x="640080" y="2103120"/>
            <a:ext cx="4846320" cy="1188720"/>
          </a:xfrm>
          <a:prstGeom prst="rect">
            <a:avLst/>
          </a:prstGeom>
          <a:noFill/>
        </p:spPr>
        <p:txBody>
          <a:bodyPr wrap="square" lIns="0" tIns="0" rIns="0" bIns="0" anchor="t">
            <a:spAutoFit/>
          </a:bodyPr>
          <a:lstStyle/>
          <a:p>
            <a:pPr algn="l"/>
            <a:r>
              <a:rPr sz="1500" b="0" i="0">
                <a:solidFill>
                  <a:srgbClr val="5B5F66"/>
                </a:solidFill>
                <a:latin typeface="Calibri"/>
              </a:rPr>
              <a:t>Generates the branded “Fleet Health &amp; Anomaly Executive Report” — ready to circulate to Caterpillar operations.</a:t>
            </a:r>
          </a:p>
        </p:txBody>
      </p:sp>
      <p:sp>
        <p:nvSpPr>
          <p:cNvPr id="9" name="Oval 8"/>
          <p:cNvSpPr/>
          <p:nvPr/>
        </p:nvSpPr>
        <p:spPr>
          <a:xfrm>
            <a:off x="685800" y="3566160"/>
            <a:ext cx="457200" cy="45720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3566160"/>
            <a:ext cx="457200" cy="457200"/>
          </a:xfrm>
          <a:prstGeom prst="rect">
            <a:avLst/>
          </a:prstGeom>
          <a:noFill/>
        </p:spPr>
        <p:txBody>
          <a:bodyPr wrap="square" lIns="0" tIns="0" rIns="0" bIns="0" anchor="ctr">
            <a:spAutoFit/>
          </a:bodyPr>
          <a:lstStyle/>
          <a:p>
            <a:pPr algn="ctr"/>
            <a:r>
              <a:rPr sz="1500" b="0" i="0">
                <a:solidFill>
                  <a:srgbClr val="23262B"/>
                </a:solidFill>
                <a:latin typeface="Calibri"/>
              </a:rPr>
              <a:t>📄</a:t>
            </a:r>
          </a:p>
        </p:txBody>
      </p:sp>
      <p:sp>
        <p:nvSpPr>
          <p:cNvPr id="11" name="TextBox 10"/>
          <p:cNvSpPr txBox="1"/>
          <p:nvPr/>
        </p:nvSpPr>
        <p:spPr>
          <a:xfrm>
            <a:off x="1280160" y="3683191"/>
            <a:ext cx="4206240" cy="223138"/>
          </a:xfrm>
          <a:prstGeom prst="rect">
            <a:avLst/>
          </a:prstGeom>
          <a:noFill/>
        </p:spPr>
        <p:txBody>
          <a:bodyPr wrap="square" lIns="0" tIns="0" rIns="0" bIns="0" anchor="ctr">
            <a:spAutoFit/>
          </a:bodyPr>
          <a:lstStyle/>
          <a:p>
            <a:pPr algn="l"/>
            <a:r>
              <a:rPr lang="en-IN" sz="1450" b="1" dirty="0">
                <a:solidFill>
                  <a:srgbClr val="23262B"/>
                </a:solidFill>
                <a:latin typeface="Calibri"/>
              </a:rPr>
              <a:t>H</a:t>
            </a:r>
            <a:r>
              <a:rPr sz="1450" b="1" i="0" dirty="0" err="1">
                <a:solidFill>
                  <a:srgbClr val="23262B"/>
                </a:solidFill>
                <a:latin typeface="Calibri"/>
              </a:rPr>
              <a:t>eader</a:t>
            </a:r>
            <a:r>
              <a:rPr sz="1450" b="1" i="0" dirty="0">
                <a:solidFill>
                  <a:srgbClr val="23262B"/>
                </a:solidFill>
                <a:latin typeface="Calibri"/>
              </a:rPr>
              <a:t> &amp; footer</a:t>
            </a:r>
          </a:p>
        </p:txBody>
      </p:sp>
      <p:sp>
        <p:nvSpPr>
          <p:cNvPr id="12" name="Oval 11"/>
          <p:cNvSpPr/>
          <p:nvPr/>
        </p:nvSpPr>
        <p:spPr>
          <a:xfrm>
            <a:off x="685800" y="4224528"/>
            <a:ext cx="457200" cy="45720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4224528"/>
            <a:ext cx="457200" cy="457200"/>
          </a:xfrm>
          <a:prstGeom prst="rect">
            <a:avLst/>
          </a:prstGeom>
          <a:noFill/>
        </p:spPr>
        <p:txBody>
          <a:bodyPr wrap="square" lIns="0" tIns="0" rIns="0" bIns="0" anchor="ctr">
            <a:spAutoFit/>
          </a:bodyPr>
          <a:lstStyle/>
          <a:p>
            <a:pPr algn="ctr"/>
            <a:r>
              <a:rPr sz="1500" b="0" i="0">
                <a:solidFill>
                  <a:srgbClr val="23262B"/>
                </a:solidFill>
                <a:latin typeface="Calibri"/>
              </a:rPr>
              <a:t>🩺</a:t>
            </a:r>
          </a:p>
        </p:txBody>
      </p:sp>
      <p:sp>
        <p:nvSpPr>
          <p:cNvPr id="14" name="TextBox 13"/>
          <p:cNvSpPr txBox="1"/>
          <p:nvPr/>
        </p:nvSpPr>
        <p:spPr>
          <a:xfrm>
            <a:off x="1280160" y="4224528"/>
            <a:ext cx="4206240" cy="457200"/>
          </a:xfrm>
          <a:prstGeom prst="rect">
            <a:avLst/>
          </a:prstGeom>
          <a:noFill/>
        </p:spPr>
        <p:txBody>
          <a:bodyPr wrap="square" lIns="0" tIns="0" rIns="0" bIns="0" anchor="ctr">
            <a:spAutoFit/>
          </a:bodyPr>
          <a:lstStyle/>
          <a:p>
            <a:pPr algn="l"/>
            <a:r>
              <a:rPr sz="1450" b="1" i="0">
                <a:solidFill>
                  <a:srgbClr val="23262B"/>
                </a:solidFill>
                <a:latin typeface="Calibri"/>
              </a:rPr>
              <a:t>Fleet health summary</a:t>
            </a:r>
          </a:p>
        </p:txBody>
      </p:sp>
      <p:sp>
        <p:nvSpPr>
          <p:cNvPr id="15" name="Oval 14"/>
          <p:cNvSpPr/>
          <p:nvPr/>
        </p:nvSpPr>
        <p:spPr>
          <a:xfrm>
            <a:off x="685800" y="4882896"/>
            <a:ext cx="457200" cy="457200"/>
          </a:xfrm>
          <a:prstGeom prst="ellipse">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882896"/>
            <a:ext cx="457200" cy="457200"/>
          </a:xfrm>
          <a:prstGeom prst="rect">
            <a:avLst/>
          </a:prstGeom>
          <a:noFill/>
        </p:spPr>
        <p:txBody>
          <a:bodyPr wrap="square" lIns="0" tIns="0" rIns="0" bIns="0" anchor="ctr">
            <a:spAutoFit/>
          </a:bodyPr>
          <a:lstStyle/>
          <a:p>
            <a:pPr algn="ctr"/>
            <a:r>
              <a:rPr sz="1500" b="0" i="0">
                <a:solidFill>
                  <a:srgbClr val="23262B"/>
                </a:solidFill>
                <a:latin typeface="Calibri"/>
              </a:rPr>
              <a:t>🚩</a:t>
            </a:r>
          </a:p>
        </p:txBody>
      </p:sp>
      <p:sp>
        <p:nvSpPr>
          <p:cNvPr id="17" name="TextBox 16"/>
          <p:cNvSpPr txBox="1"/>
          <p:nvPr/>
        </p:nvSpPr>
        <p:spPr>
          <a:xfrm>
            <a:off x="1280160" y="4882896"/>
            <a:ext cx="4206240" cy="457200"/>
          </a:xfrm>
          <a:prstGeom prst="rect">
            <a:avLst/>
          </a:prstGeom>
          <a:noFill/>
        </p:spPr>
        <p:txBody>
          <a:bodyPr wrap="square" lIns="0" tIns="0" rIns="0" bIns="0" anchor="ctr">
            <a:spAutoFit/>
          </a:bodyPr>
          <a:lstStyle/>
          <a:p>
            <a:pPr algn="l"/>
            <a:r>
              <a:rPr sz="1450" b="1" i="0">
                <a:solidFill>
                  <a:srgbClr val="23262B"/>
                </a:solidFill>
                <a:latin typeface="Calibri"/>
              </a:rPr>
              <a:t>Anomaly &amp; maintenance section</a:t>
            </a:r>
          </a:p>
        </p:txBody>
      </p:sp>
      <p:sp>
        <p:nvSpPr>
          <p:cNvPr id="18" name="Rounded Rectangle 17"/>
          <p:cNvSpPr/>
          <p:nvPr/>
        </p:nvSpPr>
        <p:spPr>
          <a:xfrm>
            <a:off x="7040880" y="2011680"/>
            <a:ext cx="3749039" cy="4114800"/>
          </a:xfrm>
          <a:prstGeom prst="roundRect">
            <a:avLst>
              <a:gd name="adj" fmla="val 6000"/>
            </a:avLst>
          </a:prstGeom>
          <a:solidFill>
            <a:srgbClr val="FFFFFF"/>
          </a:solidFill>
          <a:ln w="12700">
            <a:solidFill>
              <a:srgbClr val="E3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040880" y="2011680"/>
            <a:ext cx="3749039" cy="822960"/>
          </a:xfrm>
          <a:prstGeom prst="rect">
            <a:avLst/>
          </a:prstGeom>
          <a:solidFill>
            <a:srgbClr val="2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sosceles Triangle 19"/>
          <p:cNvSpPr/>
          <p:nvPr/>
        </p:nvSpPr>
        <p:spPr>
          <a:xfrm>
            <a:off x="7269480" y="2286000"/>
            <a:ext cx="256032" cy="219456"/>
          </a:xfrm>
          <a:prstGeom prst="triangl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0" y="2240280"/>
            <a:ext cx="3017520" cy="274320"/>
          </a:xfrm>
          <a:prstGeom prst="rect">
            <a:avLst/>
          </a:prstGeom>
          <a:noFill/>
        </p:spPr>
        <p:txBody>
          <a:bodyPr wrap="square" lIns="0" tIns="0" rIns="0" bIns="0" anchor="t">
            <a:spAutoFit/>
          </a:bodyPr>
          <a:lstStyle/>
          <a:p>
            <a:pPr algn="l"/>
            <a:r>
              <a:rPr sz="1100" b="1" i="0">
                <a:solidFill>
                  <a:srgbClr val="FFFFFF"/>
                </a:solidFill>
                <a:latin typeface="Calibri"/>
              </a:rPr>
              <a:t>CATERPILLAR</a:t>
            </a:r>
          </a:p>
        </p:txBody>
      </p:sp>
      <p:sp>
        <p:nvSpPr>
          <p:cNvPr id="22" name="TextBox 21"/>
          <p:cNvSpPr txBox="1"/>
          <p:nvPr/>
        </p:nvSpPr>
        <p:spPr>
          <a:xfrm>
            <a:off x="7178040" y="2487168"/>
            <a:ext cx="3474720" cy="292608"/>
          </a:xfrm>
          <a:prstGeom prst="rect">
            <a:avLst/>
          </a:prstGeom>
          <a:noFill/>
        </p:spPr>
        <p:txBody>
          <a:bodyPr wrap="square" lIns="0" tIns="0" rIns="0" bIns="0" anchor="t">
            <a:spAutoFit/>
          </a:bodyPr>
          <a:lstStyle/>
          <a:p>
            <a:pPr algn="l"/>
            <a:r>
              <a:rPr sz="850" b="0" i="0">
                <a:solidFill>
                  <a:srgbClr val="FFCD11"/>
                </a:solidFill>
                <a:latin typeface="Calibri"/>
              </a:rPr>
              <a:t>Fleet Health &amp; Anomaly Executive Report</a:t>
            </a:r>
          </a:p>
        </p:txBody>
      </p:sp>
      <p:sp>
        <p:nvSpPr>
          <p:cNvPr id="23" name="Rectangle 22"/>
          <p:cNvSpPr/>
          <p:nvPr/>
        </p:nvSpPr>
        <p:spPr>
          <a:xfrm>
            <a:off x="7315200" y="3154680"/>
            <a:ext cx="3200400" cy="91440"/>
          </a:xfrm>
          <a:prstGeom prst="rect">
            <a:avLst/>
          </a:prstGeom>
          <a:solidFill>
            <a:srgbClr val="E3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15200" y="3465576"/>
            <a:ext cx="2743200" cy="91440"/>
          </a:xfrm>
          <a:prstGeom prst="rect">
            <a:avLst/>
          </a:prstGeom>
          <a:solidFill>
            <a:srgbClr val="E3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0" y="3776472"/>
            <a:ext cx="2286000" cy="91440"/>
          </a:xfrm>
          <a:prstGeom prst="rect">
            <a:avLst/>
          </a:prstGeom>
          <a:solidFill>
            <a:srgbClr val="E3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315200" y="4087368"/>
            <a:ext cx="3200400" cy="91440"/>
          </a:xfrm>
          <a:prstGeom prst="rect">
            <a:avLst/>
          </a:prstGeom>
          <a:solidFill>
            <a:srgbClr val="E3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315200" y="4398264"/>
            <a:ext cx="2743200" cy="91440"/>
          </a:xfrm>
          <a:prstGeom prst="rect">
            <a:avLst/>
          </a:prstGeom>
          <a:solidFill>
            <a:srgbClr val="E3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315200" y="4709160"/>
            <a:ext cx="2286000" cy="91440"/>
          </a:xfrm>
          <a:prstGeom prst="rect">
            <a:avLst/>
          </a:prstGeom>
          <a:solidFill>
            <a:srgbClr val="E3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315200" y="5020056"/>
            <a:ext cx="3200400" cy="91440"/>
          </a:xfrm>
          <a:prstGeom prst="rect">
            <a:avLst/>
          </a:prstGeom>
          <a:solidFill>
            <a:srgbClr val="E3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0" y="5330952"/>
            <a:ext cx="2743200" cy="91440"/>
          </a:xfrm>
          <a:prstGeom prst="rect">
            <a:avLst/>
          </a:prstGeom>
          <a:solidFill>
            <a:srgbClr val="E3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040880" y="5806440"/>
            <a:ext cx="3749039" cy="320040"/>
          </a:xfrm>
          <a:prstGeom prst="rect">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040880" y="5806440"/>
            <a:ext cx="3749039" cy="320040"/>
          </a:xfrm>
          <a:prstGeom prst="rect">
            <a:avLst/>
          </a:prstGeom>
          <a:noFill/>
        </p:spPr>
        <p:txBody>
          <a:bodyPr wrap="square" lIns="0" tIns="0" rIns="0" bIns="0" anchor="ctr">
            <a:spAutoFit/>
          </a:bodyPr>
          <a:lstStyle/>
          <a:p>
            <a:pPr algn="ctr"/>
            <a:r>
              <a:rPr sz="800" b="0" i="1">
                <a:solidFill>
                  <a:srgbClr val="8A8E96"/>
                </a:solidFill>
                <a:latin typeface="Calibri"/>
              </a:rPr>
              <a:t>Confidential — Caterpillar Operations</a:t>
            </a:r>
          </a:p>
        </p:txBody>
      </p:sp>
      <p:sp>
        <p:nvSpPr>
          <p:cNvPr id="33" name="TextBox 32"/>
          <p:cNvSpPr txBox="1"/>
          <p:nvPr/>
        </p:nvSpPr>
        <p:spPr>
          <a:xfrm>
            <a:off x="11338560" y="6355080"/>
            <a:ext cx="640080" cy="274320"/>
          </a:xfrm>
          <a:prstGeom prst="rect">
            <a:avLst/>
          </a:prstGeom>
          <a:noFill/>
        </p:spPr>
        <p:txBody>
          <a:bodyPr wrap="square" lIns="0" tIns="0" rIns="0" bIns="0" anchor="t">
            <a:spAutoFit/>
          </a:bodyPr>
          <a:lstStyle/>
          <a:p>
            <a:pPr algn="r"/>
            <a:r>
              <a:rPr sz="1000" b="0" i="0">
                <a:solidFill>
                  <a:srgbClr val="8A8E96"/>
                </a:solidFill>
                <a:latin typeface="Calibri"/>
              </a:rPr>
              <a:t>15</a:t>
            </a:r>
          </a:p>
        </p:txBody>
      </p:sp>
      <p:sp>
        <p:nvSpPr>
          <p:cNvPr id="34" name="TextBox 33"/>
          <p:cNvSpPr txBox="1"/>
          <p:nvPr/>
        </p:nvSpPr>
        <p:spPr>
          <a:xfrm>
            <a:off x="548640" y="6355080"/>
            <a:ext cx="5486400" cy="274320"/>
          </a:xfrm>
          <a:prstGeom prst="rect">
            <a:avLst/>
          </a:prstGeom>
          <a:noFill/>
        </p:spPr>
        <p:txBody>
          <a:bodyPr wrap="square" lIns="0" tIns="0" rIns="0" bIns="0" anchor="t">
            <a:spAutoFit/>
          </a:bodyPr>
          <a:lstStyle/>
          <a:p>
            <a:pPr algn="l"/>
            <a:r>
              <a:rPr sz="900" b="0" i="0">
                <a:solidFill>
                  <a:srgbClr val="8A8E96"/>
                </a:solidFill>
                <a:latin typeface="Calibri"/>
              </a:rPr>
              <a:t>CATERPILLAR · SMART RENTAL SYSTEM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2011680" y="4114800"/>
            <a:ext cx="5029200" cy="5029200"/>
          </a:xfrm>
          <a:prstGeom prst="ellipse">
            <a:avLst/>
          </a:prstGeom>
          <a:solidFill>
            <a:srgbClr val="2C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Isosceles Triangle 3"/>
          <p:cNvSpPr/>
          <p:nvPr/>
        </p:nvSpPr>
        <p:spPr>
          <a:xfrm>
            <a:off x="566928" y="566928"/>
            <a:ext cx="310896" cy="256032"/>
          </a:xfrm>
          <a:prstGeom prst="triangle">
            <a:avLst/>
          </a:prstGeom>
          <a:solidFill>
            <a:srgbClr val="FFCD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512064"/>
            <a:ext cx="5486400" cy="365760"/>
          </a:xfrm>
          <a:prstGeom prst="rect">
            <a:avLst/>
          </a:prstGeom>
          <a:noFill/>
        </p:spPr>
        <p:txBody>
          <a:bodyPr wrap="square" lIns="0" tIns="0" rIns="0" bIns="0" anchor="t">
            <a:spAutoFit/>
          </a:bodyPr>
          <a:lstStyle/>
          <a:p>
            <a:pPr algn="l"/>
            <a:r>
              <a:rPr sz="1300" b="1" i="0">
                <a:solidFill>
                  <a:srgbClr val="FFFFFF"/>
                </a:solidFill>
                <a:latin typeface="Calibri"/>
              </a:rPr>
              <a:t>CATERPILLAR</a:t>
            </a:r>
          </a:p>
        </p:txBody>
      </p:sp>
      <p:sp>
        <p:nvSpPr>
          <p:cNvPr id="6" name="TextBox 5"/>
          <p:cNvSpPr txBox="1"/>
          <p:nvPr/>
        </p:nvSpPr>
        <p:spPr>
          <a:xfrm>
            <a:off x="640080" y="1371600"/>
            <a:ext cx="7315200" cy="365760"/>
          </a:xfrm>
          <a:prstGeom prst="rect">
            <a:avLst/>
          </a:prstGeom>
          <a:noFill/>
        </p:spPr>
        <p:txBody>
          <a:bodyPr wrap="square" lIns="0" tIns="0" rIns="0" bIns="0" anchor="t">
            <a:spAutoFit/>
          </a:bodyPr>
          <a:lstStyle/>
          <a:p>
            <a:pPr algn="l"/>
            <a:r>
              <a:rPr sz="1400" b="1" i="0">
                <a:solidFill>
                  <a:srgbClr val="FFCD11"/>
                </a:solidFill>
                <a:latin typeface="Calibri"/>
              </a:rPr>
              <a:t>THE IMPACT</a:t>
            </a:r>
          </a:p>
        </p:txBody>
      </p:sp>
      <p:sp>
        <p:nvSpPr>
          <p:cNvPr id="7" name="TextBox 6"/>
          <p:cNvSpPr txBox="1"/>
          <p:nvPr/>
        </p:nvSpPr>
        <p:spPr>
          <a:xfrm>
            <a:off x="566928" y="1737360"/>
            <a:ext cx="10058400" cy="914400"/>
          </a:xfrm>
          <a:prstGeom prst="rect">
            <a:avLst/>
          </a:prstGeom>
          <a:noFill/>
        </p:spPr>
        <p:txBody>
          <a:bodyPr wrap="square" lIns="0" tIns="0" rIns="0" bIns="0" anchor="t">
            <a:spAutoFit/>
          </a:bodyPr>
          <a:lstStyle/>
          <a:p>
            <a:pPr algn="l"/>
            <a:r>
              <a:rPr sz="4000" b="1" i="0">
                <a:solidFill>
                  <a:srgbClr val="FFFFFF"/>
                </a:solidFill>
                <a:latin typeface="Century Schoolbook"/>
              </a:rPr>
              <a:t>From reactive to predictive</a:t>
            </a:r>
          </a:p>
        </p:txBody>
      </p:sp>
      <p:sp>
        <p:nvSpPr>
          <p:cNvPr id="8" name="Rounded Rectangle 7"/>
          <p:cNvSpPr/>
          <p:nvPr/>
        </p:nvSpPr>
        <p:spPr>
          <a:xfrm>
            <a:off x="640080" y="3017520"/>
            <a:ext cx="2514600" cy="1691640"/>
          </a:xfrm>
          <a:prstGeom prst="roundRect">
            <a:avLst>
              <a:gd name="adj" fmla="val 10000"/>
            </a:avLst>
          </a:prstGeom>
          <a:solidFill>
            <a:srgbClr val="2C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3200400"/>
            <a:ext cx="2194560" cy="868680"/>
          </a:xfrm>
          <a:prstGeom prst="rect">
            <a:avLst/>
          </a:prstGeom>
          <a:noFill/>
        </p:spPr>
        <p:txBody>
          <a:bodyPr wrap="square" lIns="0" tIns="0" rIns="0" bIns="0" anchor="t">
            <a:spAutoFit/>
          </a:bodyPr>
          <a:lstStyle/>
          <a:p>
            <a:pPr algn="l"/>
            <a:r>
              <a:rPr sz="4000" b="1" i="0">
                <a:solidFill>
                  <a:srgbClr val="FFCD11"/>
                </a:solidFill>
                <a:latin typeface="Century Schoolbook"/>
              </a:rPr>
              <a:t>10</a:t>
            </a:r>
          </a:p>
        </p:txBody>
      </p:sp>
      <p:sp>
        <p:nvSpPr>
          <p:cNvPr id="10" name="TextBox 9"/>
          <p:cNvSpPr txBox="1"/>
          <p:nvPr/>
        </p:nvSpPr>
        <p:spPr>
          <a:xfrm>
            <a:off x="841247" y="4114800"/>
            <a:ext cx="2194560" cy="457200"/>
          </a:xfrm>
          <a:prstGeom prst="rect">
            <a:avLst/>
          </a:prstGeom>
          <a:noFill/>
        </p:spPr>
        <p:txBody>
          <a:bodyPr wrap="square" lIns="0" tIns="0" rIns="0" bIns="0" anchor="t">
            <a:spAutoFit/>
          </a:bodyPr>
          <a:lstStyle/>
          <a:p>
            <a:pPr algn="l"/>
            <a:r>
              <a:rPr sz="1300" b="0" i="0">
                <a:solidFill>
                  <a:srgbClr val="C7CBD1"/>
                </a:solidFill>
                <a:latin typeface="Calibri"/>
              </a:rPr>
              <a:t>Pages / modules</a:t>
            </a:r>
          </a:p>
        </p:txBody>
      </p:sp>
      <p:sp>
        <p:nvSpPr>
          <p:cNvPr id="11" name="Rounded Rectangle 10"/>
          <p:cNvSpPr/>
          <p:nvPr/>
        </p:nvSpPr>
        <p:spPr>
          <a:xfrm>
            <a:off x="3429000" y="3017520"/>
            <a:ext cx="2514600" cy="1691640"/>
          </a:xfrm>
          <a:prstGeom prst="roundRect">
            <a:avLst>
              <a:gd name="adj" fmla="val 10000"/>
            </a:avLst>
          </a:prstGeom>
          <a:solidFill>
            <a:srgbClr val="2C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11880" y="3200400"/>
            <a:ext cx="2194560" cy="868680"/>
          </a:xfrm>
          <a:prstGeom prst="rect">
            <a:avLst/>
          </a:prstGeom>
          <a:noFill/>
        </p:spPr>
        <p:txBody>
          <a:bodyPr wrap="square" lIns="0" tIns="0" rIns="0" bIns="0" anchor="t">
            <a:spAutoFit/>
          </a:bodyPr>
          <a:lstStyle/>
          <a:p>
            <a:pPr algn="l"/>
            <a:r>
              <a:rPr sz="4000" b="1" i="0">
                <a:solidFill>
                  <a:srgbClr val="FFCD11"/>
                </a:solidFill>
                <a:latin typeface="Century Schoolbook"/>
              </a:rPr>
              <a:t>3</a:t>
            </a:r>
          </a:p>
        </p:txBody>
      </p:sp>
      <p:sp>
        <p:nvSpPr>
          <p:cNvPr id="13" name="TextBox 12"/>
          <p:cNvSpPr txBox="1"/>
          <p:nvPr/>
        </p:nvSpPr>
        <p:spPr>
          <a:xfrm>
            <a:off x="3630168" y="4114800"/>
            <a:ext cx="2194560" cy="457200"/>
          </a:xfrm>
          <a:prstGeom prst="rect">
            <a:avLst/>
          </a:prstGeom>
          <a:noFill/>
        </p:spPr>
        <p:txBody>
          <a:bodyPr wrap="square" lIns="0" tIns="0" rIns="0" bIns="0" anchor="t">
            <a:spAutoFit/>
          </a:bodyPr>
          <a:lstStyle/>
          <a:p>
            <a:pPr algn="l"/>
            <a:r>
              <a:rPr sz="1300" b="0" i="0">
                <a:solidFill>
                  <a:srgbClr val="C7CBD1"/>
                </a:solidFill>
                <a:latin typeface="Calibri"/>
              </a:rPr>
              <a:t>ML techniques</a:t>
            </a:r>
          </a:p>
        </p:txBody>
      </p:sp>
      <p:sp>
        <p:nvSpPr>
          <p:cNvPr id="14" name="Rounded Rectangle 13"/>
          <p:cNvSpPr/>
          <p:nvPr/>
        </p:nvSpPr>
        <p:spPr>
          <a:xfrm>
            <a:off x="6217920" y="3017520"/>
            <a:ext cx="2514600" cy="1691640"/>
          </a:xfrm>
          <a:prstGeom prst="roundRect">
            <a:avLst>
              <a:gd name="adj" fmla="val 10000"/>
            </a:avLst>
          </a:prstGeom>
          <a:solidFill>
            <a:srgbClr val="2C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3200400"/>
            <a:ext cx="2194560" cy="868680"/>
          </a:xfrm>
          <a:prstGeom prst="rect">
            <a:avLst/>
          </a:prstGeom>
          <a:noFill/>
        </p:spPr>
        <p:txBody>
          <a:bodyPr wrap="square" lIns="0" tIns="0" rIns="0" bIns="0" anchor="t">
            <a:spAutoFit/>
          </a:bodyPr>
          <a:lstStyle/>
          <a:p>
            <a:pPr algn="l"/>
            <a:r>
              <a:rPr sz="4000" b="1" i="0">
                <a:solidFill>
                  <a:srgbClr val="FFCD11"/>
                </a:solidFill>
                <a:latin typeface="Century Schoolbook"/>
              </a:rPr>
              <a:t>8 wk</a:t>
            </a:r>
          </a:p>
        </p:txBody>
      </p:sp>
      <p:sp>
        <p:nvSpPr>
          <p:cNvPr id="16" name="TextBox 15"/>
          <p:cNvSpPr txBox="1"/>
          <p:nvPr/>
        </p:nvSpPr>
        <p:spPr>
          <a:xfrm>
            <a:off x="6419088" y="4114800"/>
            <a:ext cx="2194560" cy="457200"/>
          </a:xfrm>
          <a:prstGeom prst="rect">
            <a:avLst/>
          </a:prstGeom>
          <a:noFill/>
        </p:spPr>
        <p:txBody>
          <a:bodyPr wrap="square" lIns="0" tIns="0" rIns="0" bIns="0" anchor="t">
            <a:spAutoFit/>
          </a:bodyPr>
          <a:lstStyle/>
          <a:p>
            <a:pPr algn="l"/>
            <a:r>
              <a:rPr sz="1300" b="0" i="0">
                <a:solidFill>
                  <a:srgbClr val="C7CBD1"/>
                </a:solidFill>
                <a:latin typeface="Calibri"/>
              </a:rPr>
              <a:t>Demand foresight</a:t>
            </a:r>
          </a:p>
        </p:txBody>
      </p:sp>
      <p:sp>
        <p:nvSpPr>
          <p:cNvPr id="17" name="Rounded Rectangle 16"/>
          <p:cNvSpPr/>
          <p:nvPr/>
        </p:nvSpPr>
        <p:spPr>
          <a:xfrm>
            <a:off x="9006839" y="3017520"/>
            <a:ext cx="2514600" cy="1691640"/>
          </a:xfrm>
          <a:prstGeom prst="roundRect">
            <a:avLst>
              <a:gd name="adj" fmla="val 10000"/>
            </a:avLst>
          </a:prstGeom>
          <a:solidFill>
            <a:srgbClr val="2C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89719" y="3200400"/>
            <a:ext cx="2194560" cy="868680"/>
          </a:xfrm>
          <a:prstGeom prst="rect">
            <a:avLst/>
          </a:prstGeom>
          <a:noFill/>
        </p:spPr>
        <p:txBody>
          <a:bodyPr wrap="square" lIns="0" tIns="0" rIns="0" bIns="0" anchor="t">
            <a:spAutoFit/>
          </a:bodyPr>
          <a:lstStyle/>
          <a:p>
            <a:pPr algn="l"/>
            <a:r>
              <a:rPr sz="4000" b="1" i="0">
                <a:solidFill>
                  <a:srgbClr val="FFCD11"/>
                </a:solidFill>
                <a:latin typeface="Century Schoolbook"/>
              </a:rPr>
              <a:t>1</a:t>
            </a:r>
          </a:p>
        </p:txBody>
      </p:sp>
      <p:sp>
        <p:nvSpPr>
          <p:cNvPr id="19" name="TextBox 18"/>
          <p:cNvSpPr txBox="1"/>
          <p:nvPr/>
        </p:nvSpPr>
        <p:spPr>
          <a:xfrm>
            <a:off x="9208007" y="4114800"/>
            <a:ext cx="2194560" cy="457200"/>
          </a:xfrm>
          <a:prstGeom prst="rect">
            <a:avLst/>
          </a:prstGeom>
          <a:noFill/>
        </p:spPr>
        <p:txBody>
          <a:bodyPr wrap="square" lIns="0" tIns="0" rIns="0" bIns="0" anchor="t">
            <a:spAutoFit/>
          </a:bodyPr>
          <a:lstStyle/>
          <a:p>
            <a:pPr algn="l"/>
            <a:r>
              <a:rPr sz="1300" b="0" i="0">
                <a:solidFill>
                  <a:srgbClr val="C7CBD1"/>
                </a:solidFill>
                <a:latin typeface="Calibri"/>
              </a:rPr>
              <a:t>Unified dashboard</a:t>
            </a:r>
          </a:p>
        </p:txBody>
      </p:sp>
      <p:sp>
        <p:nvSpPr>
          <p:cNvPr id="20" name="TextBox 19"/>
          <p:cNvSpPr txBox="1"/>
          <p:nvPr/>
        </p:nvSpPr>
        <p:spPr>
          <a:xfrm>
            <a:off x="640080" y="5029200"/>
            <a:ext cx="10058400" cy="246221"/>
          </a:xfrm>
          <a:prstGeom prst="rect">
            <a:avLst/>
          </a:prstGeom>
          <a:noFill/>
        </p:spPr>
        <p:txBody>
          <a:bodyPr wrap="square" lIns="0" tIns="0" rIns="0" bIns="0" anchor="t">
            <a:spAutoFit/>
          </a:bodyPr>
          <a:lstStyle/>
          <a:p>
            <a:pPr algn="l"/>
            <a:r>
              <a:rPr sz="1600" b="0" i="1" dirty="0">
                <a:solidFill>
                  <a:srgbClr val="C7CBD1"/>
                </a:solidFill>
                <a:latin typeface="Calibri"/>
              </a:rPr>
              <a:t>Less downtime · smarter allocation · data-driven decisions </a:t>
            </a:r>
            <a:r>
              <a:rPr lang="en-IN" sz="1600" b="0" i="1" dirty="0">
                <a:solidFill>
                  <a:srgbClr val="C7CBD1"/>
                </a:solidFill>
                <a:latin typeface="Calibri"/>
              </a:rPr>
              <a:t>-</a:t>
            </a:r>
            <a:r>
              <a:rPr sz="1600" b="0" i="1" dirty="0">
                <a:solidFill>
                  <a:srgbClr val="C7CBD1"/>
                </a:solidFill>
                <a:latin typeface="Calibri"/>
              </a:rPr>
              <a:t> built end-to-end in Python.</a:t>
            </a:r>
          </a:p>
        </p:txBody>
      </p:sp>
      <p:sp>
        <p:nvSpPr>
          <p:cNvPr id="21" name="TextBox 20"/>
          <p:cNvSpPr txBox="1"/>
          <p:nvPr/>
        </p:nvSpPr>
        <p:spPr>
          <a:xfrm>
            <a:off x="640080" y="5669280"/>
            <a:ext cx="5486400" cy="640080"/>
          </a:xfrm>
          <a:prstGeom prst="rect">
            <a:avLst/>
          </a:prstGeom>
          <a:noFill/>
        </p:spPr>
        <p:txBody>
          <a:bodyPr wrap="square" lIns="0" tIns="0" rIns="0" bIns="0" anchor="t">
            <a:spAutoFit/>
          </a:bodyPr>
          <a:lstStyle/>
          <a:p>
            <a:pPr algn="l"/>
            <a:r>
              <a:rPr sz="2800" b="1" i="0">
                <a:solidFill>
                  <a:srgbClr val="FFCD11"/>
                </a:solidFill>
                <a:latin typeface="Century Schoolbook"/>
              </a:rPr>
              <a:t>Thank you</a:t>
            </a:r>
          </a:p>
        </p:txBody>
      </p:sp>
      <p:sp>
        <p:nvSpPr>
          <p:cNvPr id="22" name="TextBox 21"/>
          <p:cNvSpPr txBox="1"/>
          <p:nvPr/>
        </p:nvSpPr>
        <p:spPr>
          <a:xfrm>
            <a:off x="640080" y="6263640"/>
            <a:ext cx="5486400" cy="365760"/>
          </a:xfrm>
          <a:prstGeom prst="rect">
            <a:avLst/>
          </a:prstGeom>
          <a:noFill/>
        </p:spPr>
        <p:txBody>
          <a:bodyPr wrap="square" lIns="0" tIns="0" rIns="0" bIns="0" anchor="t">
            <a:spAutoFit/>
          </a:bodyPr>
          <a:lstStyle/>
          <a:p>
            <a:pPr algn="l"/>
            <a:r>
              <a:rPr sz="1300" b="0" i="0">
                <a:solidFill>
                  <a:srgbClr val="8A8E96"/>
                </a:solidFill>
                <a:latin typeface="Calibri"/>
              </a:rPr>
              <a:t>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2892</Words>
  <Application>Microsoft Office PowerPoint</Application>
  <PresentationFormat>Widescreen</PresentationFormat>
  <Paragraphs>361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Century Schoolbook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Gowtham Senthilkumar</cp:lastModifiedBy>
  <cp:revision>1</cp:revision>
  <dcterms:created xsi:type="dcterms:W3CDTF">2013-01-27T09:14:16Z</dcterms:created>
  <dcterms:modified xsi:type="dcterms:W3CDTF">2026-07-31T04:25:22Z</dcterms:modified>
  <cp:category/>
</cp:coreProperties>
</file>